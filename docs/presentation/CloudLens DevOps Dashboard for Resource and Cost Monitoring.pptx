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JetBrains Mono" panose="02000009000000000000" pitchFamily="49"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CloudLens, a centralised dashboard that brings cost and utilisation data from AWS, Azure and GCP into one place, analyses it, and alerts the team on Slack or Teams when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DevOps teams on several clouds face three issues: the data is fragmented, problems are discovered late, and waste stays hidden because cost isn’t linked to utilisation. The project brief asks for one dashboard that solves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goals from the brief. Each one maps to a working feature I’ll show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container holds the scheduler, connectors, ingestion, analytics, alert engine and the REST API. PostgreSQL stores history. The React app is served by nginx. Prometheus scrapes the backend’s metrics, Alertmanager routes alerts back to a webhook, and the notifier posts to Slack and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rather than MongoDB, because cost data is tabular: provider by account by day by service. Unique constraints make every sync idempotent, and composite indexes keep trend queries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one grain for every provider, which is provider, account, day, service, environment, region and resource. Note that GCP’s Cloud Billing API does not return daily cost lines, so we read the BigQuery billing export, which is Google’s supported source. A DATA_SOURCE switch in .env flips between the mock generator and live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approved at the design stage. Filters for provider, environment, resource type and date range sit at the top and are shared with the other screens. Theme and currency toggles are in the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screen shares one date-range picker. Presets are computed from the server’s today, so nothing is hard-coded. Future days are disabled, and the API rejects future, reversed or over-long ranges with a readable 422 as well. A partial month is compared on daily run rate rather than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never edit Prometheus files. The engine evaluates each rule every minute and exports one gauge per rule; a single Prometheus rule turns breached gauges into alerts. Alertmanager handles grouping, repeats and resolved notifications, and calls our webhook, which posts to Slack and Teams. If the backend itself is down, that alert goes straight to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picks a metric, an operator and threshold, an optional provider, environment or type scope, a severity, and a channel: Slack, Teams, both, or the default from Settings. A new rule is evaluated immediately so you see its state at once. Viewers can see rules but not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optimisation is ten percent of the marks, so two angles. For the clouds we monitor: the recommendations engine compares each resource’s 30-day cost with its 7-day utilisation. On the demo data the biggest item is an idle GPU training VM. For our own platform: Cost Explorer charges a cent per request, so we never poll it every minute; the daily sync re-reads three days and every run records its API calls. The whole stack runs on one small instance for about 21 dollars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unit tests we ran the real Prometheus 2.55 and Alertmanager 0.27 binaries against the backend. Injecting a spike fired four rules and delivered eight messages; clearing it produced resolved messages. The pinned requirements were also tested in a clean virtual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docker-compose file runs locally and on EC2. The create script makes the security group, an IAM role with a read-only Cost Explorer, EC2, RDS and CloudWatch policy, and the instance. The deploy script syncs the code, uploads the staging env file, builds and waits for the health check. Prometheus and Alertmanager stay on localhost and are reached through an SSH tunnel.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viva: docker compose up, open the dashboard, the mock inbox at /mock-inbox/ and Prometheus alerts in separate tabs. For step 5 use Cloud Accounts, AWS, times 2.5, one day ago. Clear the spike afterwards to show resolved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all four goals are met, the system is tested end to end, and it is cheap to run. The roadmap starts with migrations and HTTPS before any production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PostgreSQL over MongoDB; why not Grafana; how GCP costs are fetched without a cost API; how duplicate alerts are avoided; what happens when a provider’s credentials are missing (that provider is skipped, the others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172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latin typeface="IBM Plex Sans" charset="0"/>
              <a:ea typeface="IBM Plex Sans" charset="0"/>
              <a:cs typeface="IBM Plex Sans"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0F172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latin typeface="IBM Plex Sans" charset="0"/>
              <a:ea typeface="IBM Plex Sans" charset="0"/>
              <a:cs typeface="IBM Plex Sans" charset="0"/>
            </a:endParaRPr>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0F17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189359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5B9BFF"/>
                </a:solidFill>
                <a:latin typeface="JetBrains Mono" pitchFamily="49" charset="0"/>
                <a:ea typeface="JetBrains Mono" pitchFamily="49" charset="-122"/>
                <a:cs typeface="JetBrains Mono" pitchFamily="49" charset="-120"/>
              </a:rPr>
              <a:t>CAPSTONE PROJECT · VIVA</a:t>
            </a:r>
            <a:endParaRPr lang="en-US" sz="1400" dirty="0">
              <a:latin typeface="JetBrains Mono" charset="0"/>
              <a:ea typeface="JetBrains Mono" charset="0"/>
              <a:cs typeface="JetBrains Mono" charset="0"/>
            </a:endParaRPr>
          </a:p>
        </p:txBody>
      </p:sp>
      <p:sp>
        <p:nvSpPr>
          <p:cNvPr id="3" name="Text 1"/>
          <p:cNvSpPr/>
          <p:nvPr>
            <p:ph type="title"/>
          </p:nvPr>
        </p:nvSpPr>
        <p:spPr>
          <a:xfrm>
            <a:off x="812800" y="237108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spc="-150" kern="0" dirty="0">
                <a:solidFill>
                  <a:srgbClr val="E8ECF4"/>
                </a:solidFill>
                <a:latin typeface="IBM Plex Sans" pitchFamily="34" charset="0"/>
                <a:ea typeface="IBM Plex Sans" pitchFamily="34" charset="-122"/>
                <a:cs typeface="IBM Plex Sans" pitchFamily="34" charset="-120"/>
              </a:rPr>
              <a:t>CloudLens</a:t>
            </a:r>
            <a:endParaRPr lang="en-US" sz="7500" dirty="0">
              <a:latin typeface="IBM Plex Sans" charset="0"/>
              <a:ea typeface="IBM Plex Sans" charset="0"/>
              <a:cs typeface="IBM Plex Sans" charset="0"/>
            </a:endParaRPr>
          </a:p>
        </p:txBody>
      </p:sp>
      <p:sp>
        <p:nvSpPr>
          <p:cNvPr id="4" name="Text 2"/>
          <p:cNvSpPr/>
          <p:nvPr/>
        </p:nvSpPr>
        <p:spPr>
          <a:xfrm>
            <a:off x="812800" y="3552180"/>
            <a:ext cx="8502650" cy="85090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C9D3E3"/>
                </a:solidFill>
                <a:latin typeface="IBM Plex Sans" pitchFamily="34" charset="0"/>
                <a:ea typeface="IBM Plex Sans" pitchFamily="34" charset="-122"/>
                <a:cs typeface="IBM Plex Sans" pitchFamily="34" charset="-120"/>
              </a:rPr>
              <a:t>DevOps dashboard for resource and cost monitoring across AWS, Azure and GCP</a:t>
            </a:r>
            <a:endParaRPr lang="en-US" sz="2600" dirty="0">
              <a:latin typeface="IBM Plex Sans" charset="0"/>
              <a:ea typeface="IBM Plex Sans" charset="0"/>
              <a:cs typeface="IBM Plex Sans" charset="0"/>
            </a:endParaRPr>
          </a:p>
        </p:txBody>
      </p:sp>
      <p:sp>
        <p:nvSpPr>
          <p:cNvPr id="5" name="Text 3"/>
          <p:cNvSpPr/>
          <p:nvPr/>
        </p:nvSpPr>
        <p:spPr>
          <a:xfrm>
            <a:off x="812800" y="4606280"/>
            <a:ext cx="627608" cy="358130"/>
          </a:xfrm>
          <a:prstGeom prst="roundRect">
            <a:avLst>
              <a:gd name="adj" fmla="val 50000"/>
            </a:avLst>
          </a:prstGeom>
          <a:solidFill>
            <a:srgbClr val="2A2416"/>
          </a:solidFill>
          <a:ln/>
        </p:spPr>
        <p:txBody>
          <a:bodyPr wrap="none" lIns="0" tIns="0" rIns="0" bIns="0" rtlCol="0" anchor="ctr">
            <a:normAutofit/>
          </a:bodyPr>
          <a:lstStyle/>
          <a:p>
            <a:pPr algn="ctr" indent="0" marL="0">
              <a:lnSpc>
                <a:spcPts val="1820"/>
              </a:lnSpc>
              <a:buNone/>
            </a:pPr>
            <a:r>
              <a:rPr lang="en-US" sz="1300" dirty="0">
                <a:solidFill>
                  <a:srgbClr val="F5A524"/>
                </a:solidFill>
                <a:latin typeface="IBM Plex Sans" pitchFamily="34" charset="0"/>
                <a:ea typeface="IBM Plex Sans" pitchFamily="34" charset="-122"/>
                <a:cs typeface="IBM Plex Sans" pitchFamily="34" charset="-120"/>
              </a:rPr>
              <a:t>AWS</a:t>
            </a:r>
            <a:endParaRPr lang="en-US" sz="1300" dirty="0">
              <a:latin typeface="IBM Plex Sans" charset="0"/>
              <a:ea typeface="IBM Plex Sans" charset="0"/>
              <a:cs typeface="IBM Plex Sans" charset="0"/>
            </a:endParaRPr>
          </a:p>
        </p:txBody>
      </p:sp>
      <p:sp>
        <p:nvSpPr>
          <p:cNvPr id="6" name="Text 4"/>
          <p:cNvSpPr/>
          <p:nvPr/>
        </p:nvSpPr>
        <p:spPr>
          <a:xfrm>
            <a:off x="1542008" y="4606280"/>
            <a:ext cx="707678" cy="358130"/>
          </a:xfrm>
          <a:prstGeom prst="roundRect">
            <a:avLst>
              <a:gd name="adj" fmla="val 50000"/>
            </a:avLst>
          </a:prstGeom>
          <a:solidFill>
            <a:srgbClr val="16233A"/>
          </a:solidFill>
          <a:ln/>
        </p:spPr>
        <p:txBody>
          <a:bodyPr wrap="none" lIns="0" tIns="0" rIns="0" bIns="0" rtlCol="0" anchor="ctr">
            <a:normAutofit/>
          </a:bodyPr>
          <a:lstStyle/>
          <a:p>
            <a:pPr algn="ctr" indent="0" marL="0">
              <a:lnSpc>
                <a:spcPts val="1820"/>
              </a:lnSpc>
              <a:buNone/>
            </a:pPr>
            <a:r>
              <a:rPr lang="en-US" sz="1300" dirty="0">
                <a:solidFill>
                  <a:srgbClr val="7DB2FF"/>
                </a:solidFill>
                <a:latin typeface="IBM Plex Sans" pitchFamily="34" charset="0"/>
                <a:ea typeface="IBM Plex Sans" pitchFamily="34" charset="-122"/>
                <a:cs typeface="IBM Plex Sans" pitchFamily="34" charset="-120"/>
              </a:rPr>
              <a:t>Azure</a:t>
            </a:r>
            <a:endParaRPr lang="en-US" sz="1300" dirty="0">
              <a:latin typeface="IBM Plex Sans" charset="0"/>
              <a:ea typeface="IBM Plex Sans" charset="0"/>
              <a:cs typeface="IBM Plex Sans" charset="0"/>
            </a:endParaRPr>
          </a:p>
        </p:txBody>
      </p:sp>
      <p:sp>
        <p:nvSpPr>
          <p:cNvPr id="7" name="Text 5"/>
          <p:cNvSpPr/>
          <p:nvPr/>
        </p:nvSpPr>
        <p:spPr>
          <a:xfrm>
            <a:off x="2351286" y="4606280"/>
            <a:ext cx="596751" cy="358130"/>
          </a:xfrm>
          <a:prstGeom prst="roundRect">
            <a:avLst>
              <a:gd name="adj" fmla="val 50000"/>
            </a:avLst>
          </a:prstGeom>
          <a:solidFill>
            <a:srgbClr val="12291F"/>
          </a:solidFill>
          <a:ln/>
        </p:spPr>
        <p:txBody>
          <a:bodyPr wrap="none" lIns="0" tIns="0" rIns="0" bIns="0" rtlCol="0" anchor="ctr">
            <a:normAutofit/>
          </a:bodyPr>
          <a:lstStyle/>
          <a:p>
            <a:pPr algn="ctr" indent="0" marL="0">
              <a:lnSpc>
                <a:spcPts val="1820"/>
              </a:lnSpc>
              <a:buNone/>
            </a:pPr>
            <a:r>
              <a:rPr lang="en-US" sz="1300" dirty="0">
                <a:solidFill>
                  <a:srgbClr val="34D399"/>
                </a:solidFill>
                <a:latin typeface="IBM Plex Sans" pitchFamily="34" charset="0"/>
                <a:ea typeface="IBM Plex Sans" pitchFamily="34" charset="-122"/>
                <a:cs typeface="IBM Plex Sans" pitchFamily="34" charset="-120"/>
              </a:rPr>
              <a:t>GCP</a:t>
            </a:r>
            <a:endParaRPr lang="en-US" sz="1300" dirty="0">
              <a:latin typeface="IBM Plex Sans" charset="0"/>
              <a:ea typeface="IBM Plex Sans" charset="0"/>
              <a:cs typeface="IBM Plex Sans" charset="0"/>
            </a:endParaRPr>
          </a:p>
        </p:txBody>
      </p:sp>
      <p:sp>
        <p:nvSpPr>
          <p:cNvPr id="8" name="Text 6"/>
          <p:cNvSpPr/>
          <p:nvPr/>
        </p:nvSpPr>
        <p:spPr>
          <a:xfrm>
            <a:off x="3049637" y="4606280"/>
            <a:ext cx="4093220" cy="358130"/>
          </a:xfrm>
          <a:prstGeom prst="roundRect">
            <a:avLst>
              <a:gd name="adj" fmla="val 50000"/>
            </a:avLst>
          </a:prstGeom>
          <a:solidFill>
            <a:srgbClr val="1A2335"/>
          </a:solidFill>
          <a:ln/>
        </p:spPr>
        <p:txBody>
          <a:bodyPr wrap="none" lIns="0" tIns="0" rIns="0" bIns="0" rtlCol="0" anchor="ctr">
            <a:normAutofit/>
          </a:bodyPr>
          <a:lstStyle/>
          <a:p>
            <a:pPr algn="ctr" indent="0" marL="0">
              <a:lnSpc>
                <a:spcPts val="1820"/>
              </a:lnSpc>
              <a:buNone/>
            </a:pPr>
            <a:r>
              <a:rPr lang="en-US" sz="1300" dirty="0">
                <a:solidFill>
                  <a:srgbClr val="C9D3E3"/>
                </a:solidFill>
                <a:latin typeface="IBM Plex Sans" pitchFamily="34" charset="0"/>
                <a:ea typeface="IBM Plex Sans" pitchFamily="34" charset="-122"/>
                <a:cs typeface="IBM Plex Sans" pitchFamily="34" charset="-120"/>
              </a:rPr>
              <a:t>FastAPI · PostgreSQL · React · Prometheus · Docker</a:t>
            </a:r>
            <a:endParaRPr lang="en-US" sz="1300" dirty="0">
              <a:latin typeface="IBM Plex Sans" charset="0"/>
              <a:ea typeface="IBM Plex Sans" charset="0"/>
              <a:cs typeface="IBM Plex Sans" charset="0"/>
            </a:endParaRPr>
          </a:p>
        </p:txBody>
      </p:sp>
      <p:sp>
        <p:nvSpPr>
          <p:cNvPr id="9" name="Text 7"/>
          <p:cNvSpPr/>
          <p:nvPr/>
        </p:nvSpPr>
        <p:spPr>
          <a:xfrm>
            <a:off x="812800" y="62204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4C8"/>
                </a:solidFill>
                <a:latin typeface="IBM Plex Sans" pitchFamily="34" charset="0"/>
                <a:ea typeface="IBM Plex Sans" pitchFamily="34" charset="-122"/>
                <a:cs typeface="IBM Plex Sans" pitchFamily="34" charset="-120"/>
              </a:rPr>
              <a:t>[Student name] · [Roll no.] · [Institute] · October 2026</a:t>
            </a:r>
            <a:endParaRPr lang="en-US" sz="13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PROBLEM STATEMENT</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Three clouds, three consoles, no single picture</a:t>
            </a:r>
            <a:endParaRPr lang="en-US" sz="3600" dirty="0">
              <a:latin typeface="IBM Plex Sans" charset="0"/>
              <a:ea typeface="IBM Plex Sans" charset="0"/>
              <a:cs typeface="IBM Plex Sans" charset="0"/>
            </a:endParaRPr>
          </a:p>
        </p:txBody>
      </p:sp>
      <p:sp>
        <p:nvSpPr>
          <p:cNvPr id="4" name="Shape 2"/>
          <p:cNvSpPr/>
          <p:nvPr/>
        </p:nvSpPr>
        <p:spPr>
          <a:xfrm>
            <a:off x="815975" y="1938586"/>
            <a:ext cx="3380284" cy="2038350"/>
          </a:xfrm>
          <a:prstGeom prst="roundRect">
            <a:avLst>
              <a:gd name="adj" fmla="val 6075"/>
            </a:avLst>
          </a:prstGeom>
          <a:solidFill>
            <a:srgbClr val="FFFFFF"/>
          </a:solidFill>
          <a:ln w="6350">
            <a:solidFill>
              <a:srgbClr val="DCE2EB"/>
            </a:solidFill>
            <a:prstDash val="solid"/>
          </a:ln>
        </p:spPr>
      </p:sp>
      <p:sp>
        <p:nvSpPr>
          <p:cNvPr id="5" name="Text 3"/>
          <p:cNvSpPr/>
          <p:nvPr/>
        </p:nvSpPr>
        <p:spPr>
          <a:xfrm>
            <a:off x="1098550" y="2221161"/>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A"/>
                </a:solidFill>
                <a:latin typeface="IBM Plex Sans" pitchFamily="34" charset="0"/>
                <a:ea typeface="IBM Plex Sans" pitchFamily="34" charset="-122"/>
                <a:cs typeface="IBM Plex Sans" pitchFamily="34" charset="-120"/>
              </a:rPr>
              <a:t>Fragmented data</a:t>
            </a:r>
            <a:endParaRPr lang="en-US" sz="2000" dirty="0">
              <a:latin typeface="IBM Plex Sans" charset="0"/>
              <a:ea typeface="IBM Plex Sans" charset="0"/>
              <a:cs typeface="IBM Plex Sans" charset="0"/>
            </a:endParaRPr>
          </a:p>
        </p:txBody>
      </p:sp>
      <p:sp>
        <p:nvSpPr>
          <p:cNvPr id="6" name="Text 4"/>
          <p:cNvSpPr/>
          <p:nvPr/>
        </p:nvSpPr>
        <p:spPr>
          <a:xfrm>
            <a:off x="1098550" y="2627561"/>
            <a:ext cx="289958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468"/>
                </a:solidFill>
                <a:latin typeface="IBM Plex Sans" pitchFamily="34" charset="0"/>
                <a:ea typeface="IBM Plex Sans" pitchFamily="34" charset="-122"/>
                <a:cs typeface="IBM Plex Sans" pitchFamily="34" charset="-120"/>
              </a:rPr>
              <a:t>Each provider names services, tags and regions differently, so costs can’t be compared directly.</a:t>
            </a:r>
            <a:endParaRPr lang="en-US" sz="1500" dirty="0">
              <a:latin typeface="IBM Plex Sans" charset="0"/>
              <a:ea typeface="IBM Plex Sans" charset="0"/>
              <a:cs typeface="IBM Plex Sans" charset="0"/>
            </a:endParaRPr>
          </a:p>
        </p:txBody>
      </p:sp>
      <p:sp>
        <p:nvSpPr>
          <p:cNvPr id="7" name="Shape 5"/>
          <p:cNvSpPr/>
          <p:nvPr/>
        </p:nvSpPr>
        <p:spPr>
          <a:xfrm>
            <a:off x="4405809" y="1938586"/>
            <a:ext cx="3380333" cy="2038350"/>
          </a:xfrm>
          <a:prstGeom prst="roundRect">
            <a:avLst>
              <a:gd name="adj" fmla="val 6075"/>
            </a:avLst>
          </a:prstGeom>
          <a:solidFill>
            <a:srgbClr val="FFFFFF"/>
          </a:solidFill>
          <a:ln w="6350">
            <a:solidFill>
              <a:srgbClr val="DCE2EB"/>
            </a:solidFill>
            <a:prstDash val="solid"/>
          </a:ln>
        </p:spPr>
      </p:sp>
      <p:sp>
        <p:nvSpPr>
          <p:cNvPr id="8" name="Text 6"/>
          <p:cNvSpPr/>
          <p:nvPr/>
        </p:nvSpPr>
        <p:spPr>
          <a:xfrm>
            <a:off x="4688384" y="2221161"/>
            <a:ext cx="28996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A"/>
                </a:solidFill>
                <a:latin typeface="IBM Plex Sans" pitchFamily="34" charset="0"/>
                <a:ea typeface="IBM Plex Sans" pitchFamily="34" charset="-122"/>
                <a:cs typeface="IBM Plex Sans" pitchFamily="34" charset="-120"/>
              </a:rPr>
              <a:t>Late surprises</a:t>
            </a:r>
            <a:endParaRPr lang="en-US" sz="2000" dirty="0">
              <a:latin typeface="IBM Plex Sans" charset="0"/>
              <a:ea typeface="IBM Plex Sans" charset="0"/>
              <a:cs typeface="IBM Plex Sans" charset="0"/>
            </a:endParaRPr>
          </a:p>
        </p:txBody>
      </p:sp>
      <p:sp>
        <p:nvSpPr>
          <p:cNvPr id="9" name="Text 7"/>
          <p:cNvSpPr/>
          <p:nvPr/>
        </p:nvSpPr>
        <p:spPr>
          <a:xfrm>
            <a:off x="4688384" y="2627561"/>
            <a:ext cx="289963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468"/>
                </a:solidFill>
                <a:latin typeface="IBM Plex Sans" pitchFamily="34" charset="0"/>
                <a:ea typeface="IBM Plex Sans" pitchFamily="34" charset="-122"/>
                <a:cs typeface="IBM Plex Sans" pitchFamily="34" charset="-120"/>
              </a:rPr>
              <a:t>Runaway jobs and budget overruns are noticed on the invoice, weeks after the money is spent.</a:t>
            </a:r>
            <a:endParaRPr lang="en-US" sz="1500" dirty="0">
              <a:latin typeface="IBM Plex Sans" charset="0"/>
              <a:ea typeface="IBM Plex Sans" charset="0"/>
              <a:cs typeface="IBM Plex Sans" charset="0"/>
            </a:endParaRPr>
          </a:p>
        </p:txBody>
      </p:sp>
      <p:sp>
        <p:nvSpPr>
          <p:cNvPr id="10" name="Shape 8"/>
          <p:cNvSpPr/>
          <p:nvPr/>
        </p:nvSpPr>
        <p:spPr>
          <a:xfrm>
            <a:off x="7995692" y="1938586"/>
            <a:ext cx="3380284" cy="2038350"/>
          </a:xfrm>
          <a:prstGeom prst="roundRect">
            <a:avLst>
              <a:gd name="adj" fmla="val 6075"/>
            </a:avLst>
          </a:prstGeom>
          <a:solidFill>
            <a:srgbClr val="FFFFFF"/>
          </a:solidFill>
          <a:ln w="6350">
            <a:solidFill>
              <a:srgbClr val="DCE2EB"/>
            </a:solidFill>
            <a:prstDash val="solid"/>
          </a:ln>
        </p:spPr>
      </p:sp>
      <p:sp>
        <p:nvSpPr>
          <p:cNvPr id="11" name="Text 9"/>
          <p:cNvSpPr/>
          <p:nvPr/>
        </p:nvSpPr>
        <p:spPr>
          <a:xfrm>
            <a:off x="8278267" y="2221161"/>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A"/>
                </a:solidFill>
                <a:latin typeface="IBM Plex Sans" pitchFamily="34" charset="0"/>
                <a:ea typeface="IBM Plex Sans" pitchFamily="34" charset="-122"/>
                <a:cs typeface="IBM Plex Sans" pitchFamily="34" charset="-120"/>
              </a:rPr>
              <a:t>Hidden waste</a:t>
            </a:r>
            <a:endParaRPr lang="en-US" sz="2000" dirty="0">
              <a:latin typeface="IBM Plex Sans" charset="0"/>
              <a:ea typeface="IBM Plex Sans" charset="0"/>
              <a:cs typeface="IBM Plex Sans" charset="0"/>
            </a:endParaRPr>
          </a:p>
        </p:txBody>
      </p:sp>
      <p:sp>
        <p:nvSpPr>
          <p:cNvPr id="12" name="Text 10"/>
          <p:cNvSpPr/>
          <p:nvPr/>
        </p:nvSpPr>
        <p:spPr>
          <a:xfrm>
            <a:off x="8278267" y="2627561"/>
            <a:ext cx="289958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468"/>
                </a:solidFill>
                <a:latin typeface="IBM Plex Sans" pitchFamily="34" charset="0"/>
                <a:ea typeface="IBM Plex Sans" pitchFamily="34" charset="-122"/>
                <a:cs typeface="IBM Plex Sans" pitchFamily="34" charset="-120"/>
              </a:rPr>
              <a:t>Idle and over-provisioned resources keep billing because nobody links cost to utilisation.</a:t>
            </a:r>
            <a:endParaRPr lang="en-US" sz="1500" dirty="0">
              <a:latin typeface="IBM Plex Sans" charset="0"/>
              <a:ea typeface="IBM Plex Sans" charset="0"/>
              <a:cs typeface="IBM Plex Sans" charset="0"/>
            </a:endParaRPr>
          </a:p>
        </p:txBody>
      </p:sp>
      <p:sp>
        <p:nvSpPr>
          <p:cNvPr id="13" name="Text 11"/>
          <p:cNvSpPr/>
          <p:nvPr/>
        </p:nvSpPr>
        <p:spPr>
          <a:xfrm>
            <a:off x="812800" y="4284911"/>
            <a:ext cx="981075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F172A"/>
                </a:solidFill>
                <a:latin typeface="IBM Plex Sans" pitchFamily="34" charset="0"/>
                <a:ea typeface="IBM Plex Sans" pitchFamily="34" charset="-122"/>
                <a:cs typeface="IBM Plex Sans" pitchFamily="34" charset="-120"/>
              </a:rPr>
              <a:t>Goal: one centralised dashboard that aggregates all three clouds, tracks utilisation and cost trends, sets thresholds and alerts on anomalies.</a:t>
            </a:r>
            <a:endParaRPr lang="en-US" sz="1700" dirty="0">
              <a:latin typeface="IBM Plex Sans" charset="0"/>
              <a:ea typeface="IBM Plex Sans" charset="0"/>
              <a:cs typeface="IBM Plex Sans" charset="0"/>
            </a:endParaRPr>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2</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PROJECT GOALS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Four goals, all delivered</a:t>
            </a:r>
            <a:endParaRPr lang="en-US" sz="3600" dirty="0">
              <a:latin typeface="IBM Plex Sans" charset="0"/>
              <a:ea typeface="IBM Plex Sans" charset="0"/>
              <a:cs typeface="IBM Plex Sans" charset="0"/>
            </a:endParaRPr>
          </a:p>
        </p:txBody>
      </p:sp>
      <p:sp>
        <p:nvSpPr>
          <p:cNvPr id="4" name="Shape 2"/>
          <p:cNvSpPr/>
          <p:nvPr/>
        </p:nvSpPr>
        <p:spPr>
          <a:xfrm>
            <a:off x="815975" y="1938586"/>
            <a:ext cx="5187950" cy="1702941"/>
          </a:xfrm>
          <a:prstGeom prst="roundRect">
            <a:avLst>
              <a:gd name="adj" fmla="val 7271"/>
            </a:avLst>
          </a:prstGeom>
          <a:solidFill>
            <a:srgbClr val="FFFFFF"/>
          </a:solidFill>
          <a:ln w="6350">
            <a:solidFill>
              <a:srgbClr val="DCE2EB"/>
            </a:solidFill>
            <a:prstDash val="solid"/>
          </a:ln>
        </p:spPr>
      </p:sp>
      <p:sp>
        <p:nvSpPr>
          <p:cNvPr id="5" name="Text 3"/>
          <p:cNvSpPr/>
          <p:nvPr/>
        </p:nvSpPr>
        <p:spPr>
          <a:xfrm>
            <a:off x="1073150" y="2195761"/>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5FD6"/>
                </a:solidFill>
                <a:latin typeface="JetBrains Mono" pitchFamily="49" charset="0"/>
                <a:ea typeface="JetBrains Mono" pitchFamily="49" charset="-122"/>
                <a:cs typeface="JetBrains Mono" pitchFamily="49" charset="-120"/>
              </a:rPr>
              <a:t>01</a:t>
            </a:r>
            <a:endParaRPr lang="en-US" sz="1400" dirty="0">
              <a:latin typeface="JetBrains Mono" charset="0"/>
              <a:ea typeface="JetBrains Mono" charset="0"/>
              <a:cs typeface="JetBrains Mono" charset="0"/>
            </a:endParaRPr>
          </a:p>
        </p:txBody>
      </p:sp>
      <p:sp>
        <p:nvSpPr>
          <p:cNvPr id="6" name="Text 4"/>
          <p:cNvSpPr/>
          <p:nvPr/>
        </p:nvSpPr>
        <p:spPr>
          <a:xfrm>
            <a:off x="1073150" y="2520851"/>
            <a:ext cx="481380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72A"/>
                </a:solidFill>
                <a:latin typeface="IBM Plex Sans" pitchFamily="34" charset="0"/>
                <a:ea typeface="IBM Plex Sans" pitchFamily="34" charset="-122"/>
                <a:cs typeface="IBM Plex Sans" pitchFamily="34" charset="-120"/>
              </a:rPr>
              <a:t>Aggregate AWS, Azure and GCP</a:t>
            </a:r>
            <a:endParaRPr lang="en-US" sz="1900" dirty="0">
              <a:latin typeface="IBM Plex Sans" charset="0"/>
              <a:ea typeface="IBM Plex Sans" charset="0"/>
              <a:cs typeface="IBM Plex Sans" charset="0"/>
            </a:endParaRPr>
          </a:p>
        </p:txBody>
      </p:sp>
      <p:sp>
        <p:nvSpPr>
          <p:cNvPr id="7" name="Text 5"/>
          <p:cNvSpPr/>
          <p:nvPr/>
        </p:nvSpPr>
        <p:spPr>
          <a:xfrm>
            <a:off x="1073150" y="2886571"/>
            <a:ext cx="49276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Three connectors plus a mock mode, one unified schema</a:t>
            </a:r>
            <a:endParaRPr lang="en-US" sz="1400" dirty="0">
              <a:latin typeface="IBM Plex Sans" charset="0"/>
              <a:ea typeface="IBM Plex Sans" charset="0"/>
              <a:cs typeface="IBM Plex Sans" charset="0"/>
            </a:endParaRPr>
          </a:p>
        </p:txBody>
      </p:sp>
      <p:sp>
        <p:nvSpPr>
          <p:cNvPr id="8" name="Shape 6"/>
          <p:cNvSpPr/>
          <p:nvPr/>
        </p:nvSpPr>
        <p:spPr>
          <a:xfrm>
            <a:off x="6188075" y="1938586"/>
            <a:ext cx="5187950" cy="1702941"/>
          </a:xfrm>
          <a:prstGeom prst="roundRect">
            <a:avLst>
              <a:gd name="adj" fmla="val 7271"/>
            </a:avLst>
          </a:prstGeom>
          <a:solidFill>
            <a:srgbClr val="FFFFFF"/>
          </a:solidFill>
          <a:ln w="6350">
            <a:solidFill>
              <a:srgbClr val="DCE2EB"/>
            </a:solidFill>
            <a:prstDash val="solid"/>
          </a:ln>
        </p:spPr>
      </p:sp>
      <p:sp>
        <p:nvSpPr>
          <p:cNvPr id="9" name="Text 7"/>
          <p:cNvSpPr/>
          <p:nvPr/>
        </p:nvSpPr>
        <p:spPr>
          <a:xfrm>
            <a:off x="6445250" y="2195761"/>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5FD6"/>
                </a:solidFill>
                <a:latin typeface="JetBrains Mono" pitchFamily="49" charset="0"/>
                <a:ea typeface="JetBrains Mono" pitchFamily="49" charset="-122"/>
                <a:cs typeface="JetBrains Mono" pitchFamily="49" charset="-120"/>
              </a:rPr>
              <a:t>02</a:t>
            </a:r>
            <a:endParaRPr lang="en-US" sz="1400" dirty="0">
              <a:latin typeface="JetBrains Mono" charset="0"/>
              <a:ea typeface="JetBrains Mono" charset="0"/>
              <a:cs typeface="JetBrains Mono" charset="0"/>
            </a:endParaRPr>
          </a:p>
        </p:txBody>
      </p:sp>
      <p:sp>
        <p:nvSpPr>
          <p:cNvPr id="10" name="Text 8"/>
          <p:cNvSpPr/>
          <p:nvPr/>
        </p:nvSpPr>
        <p:spPr>
          <a:xfrm>
            <a:off x="6445250" y="2520851"/>
            <a:ext cx="481380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72A"/>
                </a:solidFill>
                <a:latin typeface="IBM Plex Sans" pitchFamily="34" charset="0"/>
                <a:ea typeface="IBM Plex Sans" pitchFamily="34" charset="-122"/>
                <a:cs typeface="IBM Plex Sans" pitchFamily="34" charset="-120"/>
              </a:rPr>
              <a:t>Real-time and historical views</a:t>
            </a:r>
            <a:endParaRPr lang="en-US" sz="1900" dirty="0">
              <a:latin typeface="IBM Plex Sans" charset="0"/>
              <a:ea typeface="IBM Plex Sans" charset="0"/>
              <a:cs typeface="IBM Plex Sans" charset="0"/>
            </a:endParaRPr>
          </a:p>
        </p:txBody>
      </p:sp>
      <p:sp>
        <p:nvSpPr>
          <p:cNvPr id="11" name="Text 9"/>
          <p:cNvSpPr/>
          <p:nvPr/>
        </p:nvSpPr>
        <p:spPr>
          <a:xfrm>
            <a:off x="6445250" y="2886571"/>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5-minute utilisation, trends, month-over-month, anomalies</a:t>
            </a:r>
            <a:endParaRPr lang="en-US" sz="1400" dirty="0">
              <a:latin typeface="IBM Plex Sans" charset="0"/>
              <a:ea typeface="IBM Plex Sans" charset="0"/>
              <a:cs typeface="IBM Plex Sans" charset="0"/>
            </a:endParaRPr>
          </a:p>
        </p:txBody>
      </p:sp>
      <p:sp>
        <p:nvSpPr>
          <p:cNvPr id="12" name="Shape 10"/>
          <p:cNvSpPr/>
          <p:nvPr/>
        </p:nvSpPr>
        <p:spPr>
          <a:xfrm>
            <a:off x="815975" y="3825677"/>
            <a:ext cx="5187950" cy="1702941"/>
          </a:xfrm>
          <a:prstGeom prst="roundRect">
            <a:avLst>
              <a:gd name="adj" fmla="val 7271"/>
            </a:avLst>
          </a:prstGeom>
          <a:solidFill>
            <a:srgbClr val="FFFFFF"/>
          </a:solidFill>
          <a:ln w="6350">
            <a:solidFill>
              <a:srgbClr val="DCE2EB"/>
            </a:solidFill>
            <a:prstDash val="solid"/>
          </a:ln>
        </p:spPr>
      </p:sp>
      <p:sp>
        <p:nvSpPr>
          <p:cNvPr id="13" name="Text 11"/>
          <p:cNvSpPr/>
          <p:nvPr/>
        </p:nvSpPr>
        <p:spPr>
          <a:xfrm>
            <a:off x="1073150" y="4082852"/>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5FD6"/>
                </a:solidFill>
                <a:latin typeface="JetBrains Mono" pitchFamily="49" charset="0"/>
                <a:ea typeface="JetBrains Mono" pitchFamily="49" charset="-122"/>
                <a:cs typeface="JetBrains Mono" pitchFamily="49" charset="-120"/>
              </a:rPr>
              <a:t>03</a:t>
            </a:r>
            <a:endParaRPr lang="en-US" sz="1400" dirty="0">
              <a:latin typeface="JetBrains Mono" charset="0"/>
              <a:ea typeface="JetBrains Mono" charset="0"/>
              <a:cs typeface="JetBrains Mono" charset="0"/>
            </a:endParaRPr>
          </a:p>
        </p:txBody>
      </p:sp>
      <p:sp>
        <p:nvSpPr>
          <p:cNvPr id="14" name="Text 12"/>
          <p:cNvSpPr/>
          <p:nvPr/>
        </p:nvSpPr>
        <p:spPr>
          <a:xfrm>
            <a:off x="1073150" y="4407942"/>
            <a:ext cx="481380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72A"/>
                </a:solidFill>
                <a:latin typeface="IBM Plex Sans" pitchFamily="34" charset="0"/>
                <a:ea typeface="IBM Plex Sans" pitchFamily="34" charset="-122"/>
                <a:cs typeface="IBM Plex Sans" pitchFamily="34" charset="-120"/>
              </a:rPr>
              <a:t>Customisable alerting</a:t>
            </a:r>
            <a:endParaRPr lang="en-US" sz="1900" dirty="0">
              <a:latin typeface="IBM Plex Sans" charset="0"/>
              <a:ea typeface="IBM Plex Sans" charset="0"/>
              <a:cs typeface="IBM Plex Sans" charset="0"/>
            </a:endParaRPr>
          </a:p>
        </p:txBody>
      </p:sp>
      <p:sp>
        <p:nvSpPr>
          <p:cNvPr id="15" name="Text 13"/>
          <p:cNvSpPr/>
          <p:nvPr/>
        </p:nvSpPr>
        <p:spPr>
          <a:xfrm>
            <a:off x="1073150" y="4773662"/>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8 rule types via Prometheus Alertmanager to Slack and Teams</a:t>
            </a:r>
            <a:endParaRPr lang="en-US" sz="1400" dirty="0">
              <a:latin typeface="IBM Plex Sans" charset="0"/>
              <a:ea typeface="IBM Plex Sans" charset="0"/>
              <a:cs typeface="IBM Plex Sans" charset="0"/>
            </a:endParaRPr>
          </a:p>
        </p:txBody>
      </p:sp>
      <p:sp>
        <p:nvSpPr>
          <p:cNvPr id="16" name="Shape 14"/>
          <p:cNvSpPr/>
          <p:nvPr/>
        </p:nvSpPr>
        <p:spPr>
          <a:xfrm>
            <a:off x="6188075" y="3825677"/>
            <a:ext cx="5187950" cy="1702941"/>
          </a:xfrm>
          <a:prstGeom prst="roundRect">
            <a:avLst>
              <a:gd name="adj" fmla="val 7271"/>
            </a:avLst>
          </a:prstGeom>
          <a:solidFill>
            <a:srgbClr val="FFFFFF"/>
          </a:solidFill>
          <a:ln w="6350">
            <a:solidFill>
              <a:srgbClr val="DCE2EB"/>
            </a:solidFill>
            <a:prstDash val="solid"/>
          </a:ln>
        </p:spPr>
      </p:sp>
      <p:sp>
        <p:nvSpPr>
          <p:cNvPr id="17" name="Text 15"/>
          <p:cNvSpPr/>
          <p:nvPr/>
        </p:nvSpPr>
        <p:spPr>
          <a:xfrm>
            <a:off x="6445250" y="4082852"/>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5FD6"/>
                </a:solidFill>
                <a:latin typeface="JetBrains Mono" pitchFamily="49" charset="0"/>
                <a:ea typeface="JetBrains Mono" pitchFamily="49" charset="-122"/>
                <a:cs typeface="JetBrains Mono" pitchFamily="49" charset="-120"/>
              </a:rPr>
              <a:t>04</a:t>
            </a:r>
            <a:endParaRPr lang="en-US" sz="1400" dirty="0">
              <a:latin typeface="JetBrains Mono" charset="0"/>
              <a:ea typeface="JetBrains Mono" charset="0"/>
              <a:cs typeface="JetBrains Mono" charset="0"/>
            </a:endParaRPr>
          </a:p>
        </p:txBody>
      </p:sp>
      <p:sp>
        <p:nvSpPr>
          <p:cNvPr id="18" name="Text 16"/>
          <p:cNvSpPr/>
          <p:nvPr/>
        </p:nvSpPr>
        <p:spPr>
          <a:xfrm>
            <a:off x="6445250" y="4407942"/>
            <a:ext cx="4813808"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F172A"/>
                </a:solidFill>
                <a:latin typeface="IBM Plex Sans" pitchFamily="34" charset="0"/>
                <a:ea typeface="IBM Plex Sans" pitchFamily="34" charset="-122"/>
                <a:cs typeface="IBM Plex Sans" pitchFamily="34" charset="-120"/>
              </a:rPr>
              <a:t>Filters and drill-down</a:t>
            </a:r>
            <a:endParaRPr lang="en-US" sz="1900" dirty="0">
              <a:latin typeface="IBM Plex Sans" charset="0"/>
              <a:ea typeface="IBM Plex Sans" charset="0"/>
              <a:cs typeface="IBM Plex Sans" charset="0"/>
            </a:endParaRPr>
          </a:p>
        </p:txBody>
      </p:sp>
      <p:sp>
        <p:nvSpPr>
          <p:cNvPr id="19" name="Text 17"/>
          <p:cNvSpPr/>
          <p:nvPr/>
        </p:nvSpPr>
        <p:spPr>
          <a:xfrm>
            <a:off x="6445250" y="4773662"/>
            <a:ext cx="48138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Provider, environment, resource type, date range, per resource</a:t>
            </a:r>
            <a:endParaRPr lang="en-US" sz="1400" dirty="0">
              <a:latin typeface="IBM Plex Sans" charset="0"/>
              <a:ea typeface="IBM Plex Sans" charset="0"/>
              <a:cs typeface="IBM Plex Sans" charset="0"/>
            </a:endParaRPr>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3</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ARCHITECTURE</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8991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72A"/>
                </a:solidFill>
                <a:latin typeface="IBM Plex Sans" pitchFamily="34" charset="0"/>
                <a:ea typeface="IBM Plex Sans" pitchFamily="34" charset="-122"/>
                <a:cs typeface="IBM Plex Sans" pitchFamily="34" charset="-120"/>
              </a:rPr>
              <a:t>Six containers, one Docker Compose file</a:t>
            </a:r>
            <a:endParaRPr lang="en-US" sz="3200" dirty="0">
              <a:latin typeface="IBM Plex Sans" charset="0"/>
              <a:ea typeface="IBM Plex Sans" charset="0"/>
              <a:cs typeface="IBM Plex Sans" charset="0"/>
            </a:endParaRPr>
          </a:p>
        </p:txBody>
      </p:sp>
      <p:pic>
        <p:nvPicPr>
          <p:cNvPr id="4" name="Image 0" descr="Architecture: AWS, Azure and GCP connectors feed a FastAPI backend that stores data in PostgreSQL, serves the React dashboard, and exports metrics to Prometheus, which alerts through Alertmanager to Slack and Microsoft Teams">    </p:cNvPr>
          <p:cNvPicPr>
            <a:picLocks noChangeAspect="1"/>
          </p:cNvPicPr>
          <p:nvPr/>
        </p:nvPicPr>
        <p:blipFill>
          <a:blip r:embed="rId1"/>
          <a:srcRect l="-19936" r="-19936" t="0" b="0"/>
          <a:stretch/>
        </p:blipFill>
        <p:spPr>
          <a:xfrm>
            <a:off x="812800" y="1523950"/>
            <a:ext cx="10566400" cy="4381500"/>
          </a:xfrm>
          <a:prstGeom prst="rect">
            <a:avLst/>
          </a:prstGeom>
        </p:spPr>
      </p:pic>
      <p:sp>
        <p:nvSpPr>
          <p:cNvPr id="5" name="Text 2"/>
          <p:cNvSpPr/>
          <p:nvPr/>
        </p:nvSpPr>
        <p:spPr>
          <a:xfrm>
            <a:off x="812800" y="6289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4</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TECHNOLOGY CHOICES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Each tool chosen for a reason</a:t>
            </a:r>
            <a:endParaRPr lang="en-US" sz="3600" dirty="0">
              <a:latin typeface="IBM Plex Sans" charset="0"/>
              <a:ea typeface="IBM Plex Sans" charset="0"/>
              <a:cs typeface="IBM Plex Sans"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2711"/>
          <a:ext cx="10553700" cy="2702074"/>
        </p:xfrm>
        <a:graphic>
          <a:graphicData uri="http://schemas.openxmlformats.org/drawingml/2006/table">
            <a:tbl>
              <a:tblPr/>
              <a:tblGrid>
                <a:gridCol w="2110740"/>
                <a:gridCol w="2955036"/>
                <a:gridCol w="5487924"/>
              </a:tblGrid>
              <a:tr h="386011">
                <a:tc>
                  <a:txBody>
                    <a:bodyPr/>
                    <a:lstStyle/>
                    <a:p>
                      <a:pPr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Layer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c>
                  <a:txBody>
                    <a:bodyPr/>
                    <a:lstStyle/>
                    <a:p>
                      <a:pPr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Choice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9"/>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c>
                  <a:txBody>
                    <a:bodyPr/>
                    <a:lstStyle/>
                    <a:p>
                      <a:pPr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5B6B9"/>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PostgreSQL 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Relational cost data, idempotent upserts, indexed GROUP BY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Python FastAPI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Validation, OpenAPI docs, async-capable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Scheduling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APScheduler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In-process jobs, no extra broker to run or pay for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Frontend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React + Recharts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Filters, drill-down, RBAC, dark/light, USD/INR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Alerting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Prometheus + Alertmanager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Industry standard grouping, dedupe, resolve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86011">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Packaging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Docker Compose → EC2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Same stack on a laptop and in staging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5</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DATA AGGREGATION</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One schema for every cloud</a:t>
            </a:r>
            <a:endParaRPr lang="en-US" sz="3600" dirty="0">
              <a:latin typeface="IBM Plex Sans" charset="0"/>
              <a:ea typeface="IBM Plex Sans" charset="0"/>
              <a:cs typeface="IBM Plex Sans"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11"/>
          <a:ext cx="10553700" cy="1796604"/>
        </p:xfrm>
        <a:graphic>
          <a:graphicData uri="http://schemas.openxmlformats.org/drawingml/2006/table">
            <a:tbl>
              <a:tblPr/>
              <a:tblGrid>
                <a:gridCol w="2005203"/>
                <a:gridCol w="2849499"/>
                <a:gridCol w="2849499"/>
                <a:gridCol w="2849499"/>
              </a:tblGrid>
              <a:tr h="359321">
                <a:tc>
                  <a:txBody>
                    <a:bodyPr/>
                    <a:lstStyle/>
                    <a:p>
                      <a:pPr indent="0" marL="0">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Field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c>
                  <a:txBody>
                    <a:bodyPr/>
                    <a:lstStyle/>
                    <a:p>
                      <a:pPr indent="0" marL="0">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AWS Cost Explorer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9"/>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c>
                  <a:txBody>
                    <a:bodyPr/>
                    <a:lstStyle/>
                    <a:p>
                      <a:pPr indent="0" marL="0">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Azure Cost Mgmt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9"/>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c>
                  <a:txBody>
                    <a:bodyPr/>
                    <a:lstStyle/>
                    <a:p>
                      <a:pPr indent="0" marL="0">
                        <a:lnSpc>
                          <a:spcPts val="1820"/>
                        </a:lnSpc>
                        <a:buNone/>
                      </a:pPr>
                      <a:r>
                        <a:rPr lang="en-US" sz="1300" b="1" dirty="0">
                          <a:solidFill>
                            <a:srgbClr val="0F172A"/>
                          </a:solidFill>
                          <a:latin typeface="IBM Plex Sans" pitchFamily="34" charset="0"/>
                          <a:ea typeface="IBM Plex Sans" pitchFamily="34" charset="-122"/>
                          <a:cs typeface="IBM Plex Sans" pitchFamily="34" charset="-120"/>
                        </a:rPr>
                        <a:t>GCP billing export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6B9"/>
                      </a:solidFill>
                      <a:prstDash val="solid"/>
                      <a:round/>
                      <a:headEnd type="none" w="med" len="med"/>
                      <a:tailEnd type="none" w="med" len="med"/>
                    </a:lnL>
                    <a:lnR w="12700" cap="flat" cmpd="sng" algn="ctr">
                      <a:solidFill>
                        <a:srgbClr val="B5B6B9"/>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B5B6B9"/>
                      </a:solidFill>
                      <a:prstDash val="solid"/>
                      <a:round/>
                      <a:headEnd type="none" w="med" len="med"/>
                      <a:tailEnd type="none" w="med" len="med"/>
                    </a:lnB>
                    <a:solidFill>
                      <a:srgbClr val="E2E4E8"/>
                    </a:solidFill>
                  </a:tcPr>
                </a:tc>
              </a:tr>
              <a:tr h="359321">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day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TimePeriod.Start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UsageDate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usage_start_time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B5B6B9"/>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59321">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ServiceName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service.description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59321">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environment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environment$prod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tag 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label 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r h="359321">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cost (USD)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UnblendedCost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Cost, INR → USD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c>
                  <a:txBody>
                    <a:bodyPr/>
                    <a:lstStyle/>
                    <a:p>
                      <a:pPr indent="0" marL="0">
                        <a:lnSpc>
                          <a:spcPts val="1820"/>
                        </a:lnSpc>
                        <a:buNone/>
                      </a:pPr>
                      <a:r>
                        <a:rPr lang="en-US" sz="1300" dirty="0">
                          <a:solidFill>
                            <a:srgbClr val="0F172A"/>
                          </a:solidFill>
                          <a:latin typeface="IBM Plex Sans" pitchFamily="34" charset="0"/>
                          <a:ea typeface="IBM Plex Sans" pitchFamily="34" charset="-122"/>
                          <a:cs typeface="IBM Plex Sans" pitchFamily="34" charset="-120"/>
                        </a:rPr>
                        <a:t>cost + credits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7"/>
                      </a:solidFill>
                      <a:prstDash val="solid"/>
                      <a:round/>
                      <a:headEnd type="none" w="med" len="med"/>
                      <a:tailEnd type="none" w="med" len="med"/>
                    </a:lnL>
                    <a:lnR w="12700" cap="flat" cmpd="sng" algn="ctr">
                      <a:solidFill>
                        <a:srgbClr val="C3C4C7"/>
                      </a:solidFill>
                      <a:prstDash val="solid"/>
                      <a:round/>
                      <a:headEnd type="none" w="med" len="med"/>
                      <a:tailEnd type="none" w="med" len="med"/>
                    </a:lnR>
                    <a:lnT w="12700" cap="flat" cmpd="sng" algn="ctr">
                      <a:solidFill>
                        <a:srgbClr val="C3C4C7"/>
                      </a:solidFill>
                      <a:prstDash val="solid"/>
                      <a:round/>
                      <a:headEnd type="none" w="med" len="med"/>
                      <a:tailEnd type="none" w="med" len="med"/>
                    </a:lnT>
                    <a:lnB w="12700" cap="flat" cmpd="sng" algn="ctr">
                      <a:solidFill>
                        <a:srgbClr val="C3C4C7"/>
                      </a:solidFill>
                      <a:prstDash val="solid"/>
                      <a:round/>
                      <a:headEnd type="none" w="med" len="med"/>
                      <a:tailEnd type="none" w="med" len="med"/>
                    </a:lnB>
                  </a:tcPr>
                </a:tc>
              </a:tr>
            </a:tbl>
          </a:graphicData>
        </a:graphic>
      </p:graphicFrame>
      <p:sp>
        <p:nvSpPr>
          <p:cNvPr id="5" name="Text 2"/>
          <p:cNvSpPr/>
          <p:nvPr/>
        </p:nvSpPr>
        <p:spPr>
          <a:xfrm>
            <a:off x="815975" y="3951089"/>
            <a:ext cx="3414167" cy="808930"/>
          </a:xfrm>
          <a:prstGeom prst="roundRect">
            <a:avLst>
              <a:gd name="adj" fmla="val 12167"/>
            </a:avLst>
          </a:prstGeom>
          <a:solidFill>
            <a:srgbClr val="FFFFFF"/>
          </a:solidFill>
          <a:ln w="6350">
            <a:solidFill>
              <a:srgbClr val="DCE2EB"/>
            </a:solidFill>
            <a:prstDash val="solid"/>
          </a:ln>
        </p:spPr>
        <p:txBody>
          <a:bodyPr wrap="square" lIns="152147" tIns="126747" rIns="60581" bIns="101347" rtlCol="0" anchor="t">
            <a:normAutofit/>
          </a:bodyPr>
          <a:lstStyle/>
          <a:p>
            <a:pPr algn="l"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Normaliser</a:t>
            </a:r>
            <a:r>
              <a:rPr lang="en-US" sz="1400" dirty="0">
                <a:solidFill>
                  <a:srgbClr val="0F172A"/>
                </a:solidFill>
                <a:latin typeface="IBM Plex Sans" pitchFamily="34" charset="0"/>
                <a:ea typeface="IBM Plex Sans" pitchFamily="34" charset="-122"/>
                <a:cs typeface="IBM Plex Sans" pitchFamily="34" charset="-120"/>
              </a:rPr>
              <a:t> maps services to 6 types, tags to 4 environments</a:t>
            </a:r>
            <a:endParaRPr lang="en-US" sz="1400" dirty="0">
              <a:latin typeface="IBM Plex Sans" charset="0"/>
              <a:ea typeface="IBM Plex Sans" charset="0"/>
              <a:cs typeface="IBM Plex Sans" charset="0"/>
            </a:endParaRPr>
          </a:p>
        </p:txBody>
      </p:sp>
      <p:sp>
        <p:nvSpPr>
          <p:cNvPr id="6" name="Text 3"/>
          <p:cNvSpPr/>
          <p:nvPr/>
        </p:nvSpPr>
        <p:spPr>
          <a:xfrm>
            <a:off x="4388892" y="3951089"/>
            <a:ext cx="3414216" cy="808930"/>
          </a:xfrm>
          <a:prstGeom prst="roundRect">
            <a:avLst>
              <a:gd name="adj" fmla="val 12167"/>
            </a:avLst>
          </a:prstGeom>
          <a:solidFill>
            <a:srgbClr val="FFFFFF"/>
          </a:solidFill>
          <a:ln w="6350">
            <a:solidFill>
              <a:srgbClr val="DCE2EB"/>
            </a:solidFill>
            <a:prstDash val="solid"/>
          </a:ln>
        </p:spPr>
        <p:txBody>
          <a:bodyPr wrap="square" lIns="152147" tIns="126747" rIns="60579" bIns="101347" rtlCol="0" anchor="t">
            <a:normAutofit/>
          </a:bodyPr>
          <a:lstStyle/>
          <a:p>
            <a:pPr algn="l"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Idempotent upsert</a:t>
            </a:r>
            <a:r>
              <a:rPr lang="en-US" sz="1400" dirty="0">
                <a:solidFill>
                  <a:srgbClr val="0F172A"/>
                </a:solidFill>
                <a:latin typeface="IBM Plex Sans" pitchFamily="34" charset="0"/>
                <a:ea typeface="IBM Plex Sans" pitchFamily="34" charset="-122"/>
                <a:cs typeface="IBM Plex Sans" pitchFamily="34" charset="-120"/>
              </a:rPr>
              <a:t> on the natural key: re-runs never duplicate</a:t>
            </a:r>
            <a:endParaRPr lang="en-US" sz="1400" dirty="0">
              <a:latin typeface="IBM Plex Sans" charset="0"/>
              <a:ea typeface="IBM Plex Sans" charset="0"/>
              <a:cs typeface="IBM Plex Sans" charset="0"/>
            </a:endParaRPr>
          </a:p>
        </p:txBody>
      </p:sp>
      <p:sp>
        <p:nvSpPr>
          <p:cNvPr id="7" name="Text 4"/>
          <p:cNvSpPr/>
          <p:nvPr/>
        </p:nvSpPr>
        <p:spPr>
          <a:xfrm>
            <a:off x="7961858" y="3951089"/>
            <a:ext cx="3414167" cy="808930"/>
          </a:xfrm>
          <a:prstGeom prst="roundRect">
            <a:avLst>
              <a:gd name="adj" fmla="val 12167"/>
            </a:avLst>
          </a:prstGeom>
          <a:solidFill>
            <a:srgbClr val="FFFFFF"/>
          </a:solidFill>
          <a:ln w="6350">
            <a:solidFill>
              <a:srgbClr val="DCE2EB"/>
            </a:solidFill>
            <a:prstDash val="solid"/>
          </a:ln>
        </p:spPr>
        <p:txBody>
          <a:bodyPr wrap="square" lIns="152147" tIns="126747" rIns="60581" bIns="101347" rtlCol="0" anchor="t">
            <a:normAutofit/>
          </a:bodyPr>
          <a:lstStyle/>
          <a:p>
            <a:pPr algn="l" indent="0" marL="0">
              <a:lnSpc>
                <a:spcPts val="1960"/>
              </a:lnSpc>
              <a:buNone/>
            </a:pPr>
            <a:r>
              <a:rPr lang="en-US" sz="1400" b="1" dirty="0">
                <a:solidFill>
                  <a:srgbClr val="0F172A"/>
                </a:solidFill>
                <a:latin typeface="IBM Plex Sans" pitchFamily="34" charset="0"/>
                <a:ea typeface="IBM Plex Sans" pitchFamily="34" charset="-122"/>
                <a:cs typeface="IBM Plex Sans" pitchFamily="34" charset="-120"/>
              </a:rPr>
              <a:t>Scheduled</a:t>
            </a:r>
            <a:r>
              <a:rPr lang="en-US" sz="1400" dirty="0">
                <a:solidFill>
                  <a:srgbClr val="0F172A"/>
                </a:solidFill>
                <a:latin typeface="IBM Plex Sans" pitchFamily="34" charset="0"/>
                <a:ea typeface="IBM Plex Sans" pitchFamily="34" charset="-122"/>
                <a:cs typeface="IBM Plex Sans" pitchFamily="34" charset="-120"/>
              </a:rPr>
              <a:t>: daily 02:00, cost 15 min, metrics 5 min</a:t>
            </a:r>
            <a:endParaRPr lang="en-US" sz="1400" dirty="0">
              <a:latin typeface="IBM Plex Sans" charset="0"/>
              <a:ea typeface="IBM Plex Sans" charset="0"/>
              <a:cs typeface="IBM Plex Sans" charset="0"/>
            </a:endParaRPr>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6</a:t>
            </a:r>
            <a:endParaRPr lang="en-US" sz="12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1271935"/>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9BFF"/>
                </a:solidFill>
                <a:latin typeface="JetBrains Mono" pitchFamily="49" charset="0"/>
                <a:ea typeface="JetBrains Mono" pitchFamily="49" charset="-122"/>
                <a:cs typeface="JetBrains Mono" pitchFamily="49" charset="-120"/>
              </a:rPr>
              <a:t>REAL-TIME DASHBOARD</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663055"/>
            <a:ext cx="340106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8ECF4"/>
                </a:solidFill>
                <a:latin typeface="IBM Plex Sans" pitchFamily="34" charset="0"/>
                <a:ea typeface="IBM Plex Sans" pitchFamily="34" charset="-122"/>
                <a:cs typeface="IBM Plex Sans" pitchFamily="34" charset="-120"/>
              </a:rPr>
              <a:t>Everything on one screen</a:t>
            </a:r>
            <a:endParaRPr lang="en-US" sz="3200" dirty="0">
              <a:latin typeface="IBM Plex Sans" charset="0"/>
              <a:ea typeface="IBM Plex Sans" charset="0"/>
              <a:cs typeface="IBM Plex Sans" charset="0"/>
            </a:endParaRPr>
          </a:p>
        </p:txBody>
      </p:sp>
      <p:sp>
        <p:nvSpPr>
          <p:cNvPr id="4" name="Text 2"/>
          <p:cNvSpPr/>
          <p:nvPr/>
        </p:nvSpPr>
        <p:spPr>
          <a:xfrm>
            <a:off x="883920" y="2734915"/>
            <a:ext cx="3322320" cy="2597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KPIs: spend, MTD vs budget, forecast, alerts, savings</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Trend with budget line and anomaly markers</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Utilisation per cloud, 80% threshold</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Date-range calendar shared by every screen</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Auto-refresh every 60 s</a:t>
            </a:r>
            <a:endParaRPr lang="en-US" sz="1500" dirty="0">
              <a:latin typeface="IBM Plex Sans" charset="0"/>
              <a:ea typeface="IBM Plex Sans" charset="0"/>
              <a:cs typeface="IBM Plex Sans" charset="0"/>
            </a:endParaRPr>
          </a:p>
        </p:txBody>
      </p:sp>
      <p:pic>
        <p:nvPicPr>
          <p:cNvPr id="5" name="Image 0" descr="CloudLens dashboard in dark theme with KPI cards, daily cost trend, spend by provider, utilisation and top resources">    </p:cNvPr>
          <p:cNvPicPr>
            <a:picLocks noChangeAspect="1"/>
          </p:cNvPicPr>
          <p:nvPr/>
        </p:nvPicPr>
        <p:blipFill>
          <a:blip r:embed="rId1"/>
          <a:stretch>
            <a:fillRect/>
          </a:stretch>
        </p:blipFill>
        <p:spPr>
          <a:xfrm>
            <a:off x="5370576" y="628650"/>
            <a:ext cx="5108448" cy="5321300"/>
          </a:xfrm>
          <a:prstGeom prst="rect">
            <a:avLst/>
          </a:prstGeom>
        </p:spPr>
      </p:pic>
      <p:sp>
        <p:nvSpPr>
          <p:cNvPr id="6" name="Shape 3"/>
          <p:cNvSpPr/>
          <p:nvPr/>
        </p:nvSpPr>
        <p:spPr>
          <a:xfrm>
            <a:off x="4473575" y="625475"/>
            <a:ext cx="6902450" cy="5327650"/>
          </a:xfrm>
          <a:prstGeom prst="roundRect">
            <a:avLst>
              <a:gd name="adj" fmla="val 1847"/>
            </a:avLst>
          </a:prstGeom>
          <a:noFill/>
          <a:ln w="6350">
            <a:solidFill>
              <a:srgbClr val="243047"/>
            </a:solidFill>
            <a:prstDash val="solid"/>
          </a:ln>
        </p:spPr>
      </p:sp>
      <p:sp>
        <p:nvSpPr>
          <p:cNvPr id="7" name="Text 4"/>
          <p:cNvSpPr/>
          <p:nvPr/>
        </p:nvSpPr>
        <p:spPr>
          <a:xfrm>
            <a:off x="812800" y="6289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8"/>
                </a:solidFill>
                <a:latin typeface="IBM Plex Sans" pitchFamily="34" charset="0"/>
                <a:ea typeface="IBM Plex Sans" pitchFamily="34" charset="-122"/>
                <a:cs typeface="IBM Plex Sans" pitchFamily="34" charset="-120"/>
              </a:rPr>
              <a:t>CloudLens · Capstone viva · 7</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1129060"/>
            <a:ext cx="340106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9BFF"/>
                </a:solidFill>
                <a:latin typeface="JetBrains Mono" pitchFamily="49" charset="0"/>
                <a:ea typeface="JetBrains Mono" pitchFamily="49" charset="-122"/>
                <a:cs typeface="JetBrains Mono" pitchFamily="49" charset="-120"/>
              </a:rPr>
              <a:t>HISTORICAL ANALYSIS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520180"/>
            <a:ext cx="340106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8ECF4"/>
                </a:solidFill>
                <a:latin typeface="IBM Plex Sans" pitchFamily="34" charset="0"/>
                <a:ea typeface="IBM Plex Sans" pitchFamily="34" charset="-122"/>
                <a:cs typeface="IBM Plex Sans" pitchFamily="34" charset="-120"/>
              </a:rPr>
              <a:t>Any period, validated</a:t>
            </a:r>
            <a:endParaRPr lang="en-US" sz="3200" dirty="0">
              <a:latin typeface="IBM Plex Sans" charset="0"/>
              <a:ea typeface="IBM Plex Sans" charset="0"/>
              <a:cs typeface="IBM Plex Sans" charset="0"/>
            </a:endParaRPr>
          </a:p>
        </p:txBody>
      </p:sp>
      <p:sp>
        <p:nvSpPr>
          <p:cNvPr id="4" name="Text 2"/>
          <p:cNvSpPr/>
          <p:nvPr/>
        </p:nvSpPr>
        <p:spPr>
          <a:xfrm>
            <a:off x="883920" y="2592040"/>
            <a:ext cx="3322320" cy="28829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Presets from today: 7–90 days, months, YTD</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Custom range: click start, click end, Apply</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No future dates; start ≤ end; ≤ 731 days</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Month-over-month with run-rate for partial months</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C9D3E3"/>
                </a:solidFill>
                <a:latin typeface="IBM Plex Sans" pitchFamily="34" charset="0"/>
                <a:ea typeface="IBM Plex Sans" pitchFamily="34" charset="-122"/>
                <a:cs typeface="IBM Plex Sans" pitchFamily="34" charset="-120"/>
              </a:rPr>
              <a:t>Reports for any range, e.g. last 6 months, CSV</a:t>
            </a:r>
            <a:endParaRPr lang="en-US" sz="1500" dirty="0">
              <a:latin typeface="IBM Plex Sans" charset="0"/>
              <a:ea typeface="IBM Plex Sans" charset="0"/>
              <a:cs typeface="IBM Plex Sans" charset="0"/>
            </a:endParaRPr>
          </a:p>
        </p:txBody>
      </p:sp>
      <p:pic>
        <p:nvPicPr>
          <p:cNvPr id="5" name="Image 0" descr="Date range picker open over the dashboard, with presets on the left and a two-month calendar showing a range being selected">    </p:cNvPr>
          <p:cNvPicPr>
            <a:picLocks noChangeAspect="1"/>
          </p:cNvPicPr>
          <p:nvPr/>
        </p:nvPicPr>
        <p:blipFill>
          <a:blip r:embed="rId1"/>
          <a:stretch>
            <a:fillRect/>
          </a:stretch>
        </p:blipFill>
        <p:spPr>
          <a:xfrm>
            <a:off x="4476750" y="832819"/>
            <a:ext cx="6896100" cy="4912961"/>
          </a:xfrm>
          <a:prstGeom prst="rect">
            <a:avLst/>
          </a:prstGeom>
        </p:spPr>
      </p:pic>
      <p:sp>
        <p:nvSpPr>
          <p:cNvPr id="6" name="Shape 3"/>
          <p:cNvSpPr/>
          <p:nvPr/>
        </p:nvSpPr>
        <p:spPr>
          <a:xfrm>
            <a:off x="4473575" y="625475"/>
            <a:ext cx="6902450" cy="5327650"/>
          </a:xfrm>
          <a:prstGeom prst="roundRect">
            <a:avLst>
              <a:gd name="adj" fmla="val 1847"/>
            </a:avLst>
          </a:prstGeom>
          <a:noFill/>
          <a:ln w="6350">
            <a:solidFill>
              <a:srgbClr val="243047"/>
            </a:solidFill>
            <a:prstDash val="solid"/>
          </a:ln>
        </p:spPr>
      </p:sp>
      <p:sp>
        <p:nvSpPr>
          <p:cNvPr id="7" name="Text 4"/>
          <p:cNvSpPr/>
          <p:nvPr/>
        </p:nvSpPr>
        <p:spPr>
          <a:xfrm>
            <a:off x="812800" y="6289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8"/>
                </a:solidFill>
                <a:latin typeface="IBM Plex Sans" pitchFamily="34" charset="0"/>
                <a:ea typeface="IBM Plex Sans" pitchFamily="34" charset="-122"/>
                <a:cs typeface="IBM Plex Sans" pitchFamily="34" charset="-120"/>
              </a:rPr>
              <a:t>CloudLens · Capstone viva · 8</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ALERTING PIPELINE</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Rules in the UI, delivery by Prometheus</a:t>
            </a:r>
            <a:endParaRPr lang="en-US" sz="3600" dirty="0">
              <a:latin typeface="IBM Plex Sans" charset="0"/>
              <a:ea typeface="IBM Plex Sans" charset="0"/>
              <a:cs typeface="IBM Plex Sans" charset="0"/>
            </a:endParaRPr>
          </a:p>
        </p:txBody>
      </p:sp>
      <p:pic>
        <p:nvPicPr>
          <p:cNvPr id="4" name="Image 0" descr="Alert flow: rule defined in UI, alert engine sets a gauge, Prometheus fires, Alertmanager groups and routes, webhook stores the event, Slack and Microsoft Teams receive messages">    </p:cNvPr>
          <p:cNvPicPr>
            <a:picLocks noChangeAspect="1"/>
          </p:cNvPicPr>
          <p:nvPr/>
        </p:nvPicPr>
        <p:blipFill>
          <a:blip r:embed="rId1"/>
          <a:srcRect l="-6523" r="-6523" t="0" b="0"/>
          <a:stretch/>
        </p:blipFill>
        <p:spPr>
          <a:xfrm>
            <a:off x="812800" y="1884611"/>
            <a:ext cx="10566400" cy="2349500"/>
          </a:xfrm>
          <a:prstGeom prst="rect">
            <a:avLst/>
          </a:prstGeom>
        </p:spPr>
      </p:pic>
      <p:sp>
        <p:nvSpPr>
          <p:cNvPr id="5" name="Text 2"/>
          <p:cNvSpPr/>
          <p:nvPr/>
        </p:nvSpPr>
        <p:spPr>
          <a:xfrm>
            <a:off x="815975" y="4491286"/>
            <a:ext cx="3414167" cy="808930"/>
          </a:xfrm>
          <a:prstGeom prst="roundRect">
            <a:avLst>
              <a:gd name="adj" fmla="val 12167"/>
            </a:avLst>
          </a:prstGeom>
          <a:solidFill>
            <a:srgbClr val="FFFFFF"/>
          </a:solidFill>
          <a:ln w="6350">
            <a:solidFill>
              <a:srgbClr val="DCE2EB"/>
            </a:solidFill>
            <a:prstDash val="solid"/>
          </a:ln>
        </p:spPr>
        <p:txBody>
          <a:bodyPr wrap="square" lIns="152147" tIns="126747" rIns="60581" bIns="101347" rtlCol="0" anchor="t">
            <a:normAutofit/>
          </a:bodyPr>
          <a:lstStyle/>
          <a:p>
            <a:pPr algn="l"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One gauge per rule: </a:t>
            </a:r>
            <a:r>
              <a:rPr lang="en-US" sz="1400" b="1" dirty="0">
                <a:solidFill>
                  <a:srgbClr val="0F172A"/>
                </a:solidFill>
                <a:latin typeface="IBM Plex Sans" pitchFamily="34" charset="0"/>
                <a:ea typeface="IBM Plex Sans" pitchFamily="34" charset="-122"/>
                <a:cs typeface="IBM Plex Sans" pitchFamily="34" charset="-120"/>
              </a:rPr>
              <a:t>cloudlens_alert_rule_breached</a:t>
            </a:r>
            <a:endParaRPr lang="en-US" sz="1400" dirty="0">
              <a:latin typeface="IBM Plex Sans" charset="0"/>
              <a:ea typeface="IBM Plex Sans" charset="0"/>
              <a:cs typeface="IBM Plex Sans" charset="0"/>
            </a:endParaRPr>
          </a:p>
        </p:txBody>
      </p:sp>
      <p:sp>
        <p:nvSpPr>
          <p:cNvPr id="6" name="Text 3"/>
          <p:cNvSpPr/>
          <p:nvPr/>
        </p:nvSpPr>
        <p:spPr>
          <a:xfrm>
            <a:off x="4388892" y="4491286"/>
            <a:ext cx="3414216" cy="808930"/>
          </a:xfrm>
          <a:prstGeom prst="roundRect">
            <a:avLst>
              <a:gd name="adj" fmla="val 12167"/>
            </a:avLst>
          </a:prstGeom>
          <a:solidFill>
            <a:srgbClr val="FFFFFF"/>
          </a:solidFill>
          <a:ln w="6350">
            <a:solidFill>
              <a:srgbClr val="DCE2EB"/>
            </a:solidFill>
            <a:prstDash val="solid"/>
          </a:ln>
        </p:spPr>
        <p:txBody>
          <a:bodyPr wrap="square" lIns="152147" tIns="126747" rIns="60579" bIns="101347" rtlCol="0" anchor="t">
            <a:normAutofit/>
          </a:bodyPr>
          <a:lstStyle/>
          <a:p>
            <a:pPr algn="l"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Grouping, dedupe, 4 h repeat, </a:t>
            </a:r>
            <a:r>
              <a:rPr lang="en-US" sz="1400" b="1" dirty="0">
                <a:solidFill>
                  <a:srgbClr val="0F172A"/>
                </a:solidFill>
                <a:latin typeface="IBM Plex Sans" pitchFamily="34" charset="0"/>
                <a:ea typeface="IBM Plex Sans" pitchFamily="34" charset="-122"/>
                <a:cs typeface="IBM Plex Sans" pitchFamily="34" charset="-120"/>
              </a:rPr>
              <a:t>resolved</a:t>
            </a:r>
            <a:r>
              <a:rPr lang="en-US" sz="1400" dirty="0">
                <a:solidFill>
                  <a:srgbClr val="0F172A"/>
                </a:solidFill>
                <a:latin typeface="IBM Plex Sans" pitchFamily="34" charset="0"/>
                <a:ea typeface="IBM Plex Sans" pitchFamily="34" charset="-122"/>
                <a:cs typeface="IBM Plex Sans" pitchFamily="34" charset="-120"/>
              </a:rPr>
              <a:t> messages</a:t>
            </a:r>
            <a:endParaRPr lang="en-US" sz="1400" dirty="0">
              <a:latin typeface="IBM Plex Sans" charset="0"/>
              <a:ea typeface="IBM Plex Sans" charset="0"/>
              <a:cs typeface="IBM Plex Sans" charset="0"/>
            </a:endParaRPr>
          </a:p>
        </p:txBody>
      </p:sp>
      <p:sp>
        <p:nvSpPr>
          <p:cNvPr id="7" name="Text 4"/>
          <p:cNvSpPr/>
          <p:nvPr/>
        </p:nvSpPr>
        <p:spPr>
          <a:xfrm>
            <a:off x="7961858" y="4491286"/>
            <a:ext cx="3414167" cy="808930"/>
          </a:xfrm>
          <a:prstGeom prst="roundRect">
            <a:avLst>
              <a:gd name="adj" fmla="val 12167"/>
            </a:avLst>
          </a:prstGeom>
          <a:solidFill>
            <a:srgbClr val="FFFFFF"/>
          </a:solidFill>
          <a:ln w="6350">
            <a:solidFill>
              <a:srgbClr val="DCE2EB"/>
            </a:solidFill>
            <a:prstDash val="solid"/>
          </a:ln>
        </p:spPr>
        <p:txBody>
          <a:bodyPr wrap="none" lIns="0" tIns="126747" rIns="0" bIns="101347" rtlCol="0" anchor="t">
            <a:normAutofit/>
          </a:bodyPr>
          <a:lstStyle/>
          <a:p>
            <a:pPr algn="ctr" indent="0" marL="0">
              <a:lnSpc>
                <a:spcPts val="1960"/>
              </a:lnSpc>
              <a:buNone/>
            </a:pPr>
            <a:r>
              <a:rPr lang="en-US" sz="1400" dirty="0">
                <a:solidFill>
                  <a:srgbClr val="0F172A"/>
                </a:solidFill>
                <a:latin typeface="IBM Plex Sans" pitchFamily="34" charset="0"/>
                <a:ea typeface="IBM Plex Sans" pitchFamily="34" charset="-122"/>
                <a:cs typeface="IBM Plex Sans" pitchFamily="34" charset="-120"/>
              </a:rPr>
              <a:t>Webhook protected by a </a:t>
            </a:r>
            <a:r>
              <a:rPr lang="en-US" sz="1400" b="1" dirty="0">
                <a:solidFill>
                  <a:srgbClr val="0F172A"/>
                </a:solidFill>
                <a:latin typeface="IBM Plex Sans" pitchFamily="34" charset="0"/>
                <a:ea typeface="IBM Plex Sans" pitchFamily="34" charset="-122"/>
                <a:cs typeface="IBM Plex Sans" pitchFamily="34" charset="-120"/>
              </a:rPr>
              <a:t>bearer token</a:t>
            </a:r>
            <a:endParaRPr lang="en-US" sz="1400" dirty="0">
              <a:latin typeface="IBM Plex Sans" charset="0"/>
              <a:ea typeface="IBM Plex Sans" charset="0"/>
              <a:cs typeface="IBM Plex Sans" charset="0"/>
            </a:endParaRPr>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9</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1319213"/>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9BFF"/>
                </a:solidFill>
                <a:latin typeface="JetBrains Mono" pitchFamily="49" charset="0"/>
                <a:ea typeface="JetBrains Mono" pitchFamily="49" charset="-122"/>
                <a:cs typeface="JetBrains Mono" pitchFamily="49" charset="-120"/>
              </a:rPr>
              <a:t>CUSTOMISABLE ALERTS</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684933"/>
            <a:ext cx="3924300"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8ECF4"/>
                </a:solidFill>
                <a:latin typeface="IBM Plex Sans" pitchFamily="34" charset="0"/>
                <a:ea typeface="IBM Plex Sans" pitchFamily="34" charset="-122"/>
                <a:cs typeface="IBM Plex Sans" pitchFamily="34" charset="-120"/>
              </a:rPr>
              <a:t>8 rule types, any scope</a:t>
            </a:r>
            <a:endParaRPr lang="en-US" sz="3200" dirty="0">
              <a:latin typeface="IBM Plex Sans" charset="0"/>
              <a:ea typeface="IBM Plex Sans" charset="0"/>
              <a:cs typeface="IBM Plex Sans"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744093"/>
          <a:ext cx="3797300" cy="2515245"/>
        </p:xfrm>
        <a:graphic>
          <a:graphicData uri="http://schemas.openxmlformats.org/drawingml/2006/table">
            <a:tbl>
              <a:tblPr/>
              <a:tblGrid>
                <a:gridCol w="1974596"/>
                <a:gridCol w="1822704"/>
              </a:tblGrid>
              <a:tr h="359321">
                <a:tc>
                  <a:txBody>
                    <a:bodyPr/>
                    <a:lstStyle/>
                    <a:p>
                      <a:pPr indent="0" marL="0">
                        <a:lnSpc>
                          <a:spcPts val="1820"/>
                        </a:lnSpc>
                        <a:buNone/>
                      </a:pPr>
                      <a:r>
                        <a:rPr lang="en-US" sz="1300" b="1" dirty="0">
                          <a:solidFill>
                            <a:srgbClr val="E8ECF4"/>
                          </a:solidFill>
                          <a:latin typeface="IBM Plex Sans" pitchFamily="34" charset="0"/>
                          <a:ea typeface="IBM Plex Sans" pitchFamily="34" charset="-122"/>
                          <a:cs typeface="IBM Plex Sans" pitchFamily="34" charset="-120"/>
                        </a:rPr>
                        <a:t>Watch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820"/>
                        </a:lnSpc>
                        <a:buNone/>
                      </a:pPr>
                      <a:r>
                        <a:rPr lang="en-US" sz="1300" b="1" dirty="0">
                          <a:solidFill>
                            <a:srgbClr val="E8ECF4"/>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Daily 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AWS &gt; $1,800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Budget used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 80% warning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Forecast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&gt; 100% critical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Cost anomaly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&gt; 40% critical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CPU / memory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Prod CPU &gt; 80%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59321">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Idle resources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820"/>
                        </a:lnSpc>
                        <a:buNone/>
                      </a:pPr>
                      <a:r>
                        <a:rPr lang="en-US" sz="1300" dirty="0">
                          <a:solidFill>
                            <a:srgbClr val="E8ECF4"/>
                          </a:solidFill>
                          <a:latin typeface="IBM Plex Sans" pitchFamily="34" charset="0"/>
                          <a:ea typeface="IBM Plex Sans" pitchFamily="34" charset="-122"/>
                          <a:cs typeface="IBM Plex Sans" pitchFamily="34" charset="-120"/>
                        </a:rPr>
                        <a:t>count &gt; 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pic>
        <p:nvPicPr>
          <p:cNvPr id="5" name="Image 0" descr="Alerts screen listing rules with state, condition, current value, severity and channel">    </p:cNvPr>
          <p:cNvPicPr>
            <a:picLocks noChangeAspect="1"/>
          </p:cNvPicPr>
          <p:nvPr/>
        </p:nvPicPr>
        <p:blipFill>
          <a:blip r:embed="rId1"/>
          <a:stretch>
            <a:fillRect/>
          </a:stretch>
        </p:blipFill>
        <p:spPr>
          <a:xfrm>
            <a:off x="4933950" y="919427"/>
            <a:ext cx="6438900" cy="4739746"/>
          </a:xfrm>
          <a:prstGeom prst="rect">
            <a:avLst/>
          </a:prstGeom>
        </p:spPr>
      </p:pic>
      <p:sp>
        <p:nvSpPr>
          <p:cNvPr id="6" name="Shape 2"/>
          <p:cNvSpPr/>
          <p:nvPr/>
        </p:nvSpPr>
        <p:spPr>
          <a:xfrm>
            <a:off x="4930775" y="815975"/>
            <a:ext cx="6445250" cy="4946650"/>
          </a:xfrm>
          <a:prstGeom prst="roundRect">
            <a:avLst>
              <a:gd name="adj" fmla="val 1990"/>
            </a:avLst>
          </a:prstGeom>
          <a:noFill/>
          <a:ln w="6350">
            <a:solidFill>
              <a:srgbClr val="243047"/>
            </a:solidFill>
            <a:prstDash val="solid"/>
          </a:ln>
        </p:spPr>
      </p:sp>
      <p:sp>
        <p:nvSpPr>
          <p:cNvPr id="7" name="Text 3"/>
          <p:cNvSpPr/>
          <p:nvPr/>
        </p:nvSpPr>
        <p:spPr>
          <a:xfrm>
            <a:off x="812800" y="62890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8"/>
                </a:solidFill>
                <a:latin typeface="IBM Plex Sans" pitchFamily="34" charset="0"/>
                <a:ea typeface="IBM Plex Sans" pitchFamily="34" charset="-122"/>
                <a:cs typeface="IBM Plex Sans" pitchFamily="34" charset="-120"/>
              </a:rPr>
              <a:t>CloudLens · Capstone viva · 10</a:t>
            </a:r>
            <a:endParaRPr lang="en-US" sz="12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5FD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DCE7FB"/>
                </a:solidFill>
                <a:latin typeface="JetBrains Mono" pitchFamily="49" charset="0"/>
                <a:ea typeface="JetBrains Mono" pitchFamily="49" charset="-122"/>
                <a:cs typeface="JetBrains Mono" pitchFamily="49" charset="-120"/>
              </a:rPr>
              <a:t>COST OPTIMISATION</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7FD"/>
                </a:solidFill>
                <a:latin typeface="IBM Plex Sans" pitchFamily="34" charset="0"/>
                <a:ea typeface="IBM Plex Sans" pitchFamily="34" charset="-122"/>
                <a:cs typeface="IBM Plex Sans" pitchFamily="34" charset="-120"/>
              </a:rPr>
              <a:t>Monitoring that pays for itself</a:t>
            </a:r>
            <a:endParaRPr lang="en-US" sz="3600" dirty="0">
              <a:latin typeface="IBM Plex Sans" charset="0"/>
              <a:ea typeface="IBM Plex Sans" charset="0"/>
              <a:cs typeface="IBM Plex Sans" charset="0"/>
            </a:endParaRPr>
          </a:p>
        </p:txBody>
      </p:sp>
      <p:sp>
        <p:nvSpPr>
          <p:cNvPr id="4" name="Shape 2"/>
          <p:cNvSpPr/>
          <p:nvPr/>
        </p:nvSpPr>
        <p:spPr>
          <a:xfrm>
            <a:off x="812800" y="1935411"/>
            <a:ext cx="3386634" cy="2046585"/>
          </a:xfrm>
          <a:prstGeom prst="roundRect">
            <a:avLst>
              <a:gd name="adj" fmla="val 6205"/>
            </a:avLst>
          </a:prstGeom>
          <a:solidFill>
            <a:srgbClr val="174CAE"/>
          </a:solidFill>
          <a:ln/>
        </p:spPr>
      </p:sp>
      <p:sp>
        <p:nvSpPr>
          <p:cNvPr id="5" name="Text 3"/>
          <p:cNvSpPr/>
          <p:nvPr/>
        </p:nvSpPr>
        <p:spPr>
          <a:xfrm>
            <a:off x="1092200" y="2214811"/>
            <a:ext cx="2912669"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7FD"/>
                </a:solidFill>
                <a:latin typeface="JetBrains Mono" pitchFamily="49" charset="0"/>
                <a:ea typeface="JetBrains Mono" pitchFamily="49" charset="-122"/>
                <a:cs typeface="JetBrains Mono" pitchFamily="49" charset="-120"/>
              </a:rPr>
              <a:t>$9.2K</a:t>
            </a:r>
            <a:endParaRPr lang="en-US" sz="4800" dirty="0">
              <a:latin typeface="JetBrains Mono" charset="0"/>
              <a:ea typeface="JetBrains Mono" charset="0"/>
              <a:cs typeface="JetBrains Mono" charset="0"/>
            </a:endParaRPr>
          </a:p>
        </p:txBody>
      </p:sp>
      <p:sp>
        <p:nvSpPr>
          <p:cNvPr id="6" name="Text 4"/>
          <p:cNvSpPr/>
          <p:nvPr/>
        </p:nvSpPr>
        <p:spPr>
          <a:xfrm>
            <a:off x="1092200" y="2931071"/>
            <a:ext cx="291266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CE7FB"/>
                </a:solidFill>
                <a:latin typeface="IBM Plex Sans" pitchFamily="34" charset="0"/>
                <a:ea typeface="IBM Plex Sans" pitchFamily="34" charset="-122"/>
                <a:cs typeface="IBM Plex Sans" pitchFamily="34" charset="-120"/>
              </a:rPr>
              <a:t>monthly savings found on demo data (about 8.5% of spend)</a:t>
            </a:r>
            <a:endParaRPr lang="en-US" sz="1500" dirty="0">
              <a:latin typeface="IBM Plex Sans" charset="0"/>
              <a:ea typeface="IBM Plex Sans" charset="0"/>
              <a:cs typeface="IBM Plex Sans" charset="0"/>
            </a:endParaRPr>
          </a:p>
        </p:txBody>
      </p:sp>
      <p:sp>
        <p:nvSpPr>
          <p:cNvPr id="7" name="Shape 5"/>
          <p:cNvSpPr/>
          <p:nvPr/>
        </p:nvSpPr>
        <p:spPr>
          <a:xfrm>
            <a:off x="4402634" y="1935411"/>
            <a:ext cx="3386683" cy="2046585"/>
          </a:xfrm>
          <a:prstGeom prst="roundRect">
            <a:avLst>
              <a:gd name="adj" fmla="val 6205"/>
            </a:avLst>
          </a:prstGeom>
          <a:solidFill>
            <a:srgbClr val="174CAE"/>
          </a:solidFill>
          <a:ln/>
        </p:spPr>
      </p:sp>
      <p:sp>
        <p:nvSpPr>
          <p:cNvPr id="8" name="Text 6"/>
          <p:cNvSpPr/>
          <p:nvPr/>
        </p:nvSpPr>
        <p:spPr>
          <a:xfrm>
            <a:off x="4682034" y="2214811"/>
            <a:ext cx="2912720"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7FD"/>
                </a:solidFill>
                <a:latin typeface="JetBrains Mono" pitchFamily="49" charset="0"/>
                <a:ea typeface="JetBrains Mono" pitchFamily="49" charset="-122"/>
                <a:cs typeface="JetBrains Mono" pitchFamily="49" charset="-120"/>
              </a:rPr>
              <a:t>$0.60</a:t>
            </a:r>
            <a:endParaRPr lang="en-US" sz="4800" dirty="0">
              <a:latin typeface="JetBrains Mono" charset="0"/>
              <a:ea typeface="JetBrains Mono" charset="0"/>
              <a:cs typeface="JetBrains Mono" charset="0"/>
            </a:endParaRPr>
          </a:p>
        </p:txBody>
      </p:sp>
      <p:sp>
        <p:nvSpPr>
          <p:cNvPr id="9" name="Text 7"/>
          <p:cNvSpPr/>
          <p:nvPr/>
        </p:nvSpPr>
        <p:spPr>
          <a:xfrm>
            <a:off x="4682034" y="2931071"/>
            <a:ext cx="2912720"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CE7FB"/>
                </a:solidFill>
                <a:latin typeface="IBM Plex Sans" pitchFamily="34" charset="0"/>
                <a:ea typeface="IBM Plex Sans" pitchFamily="34" charset="-122"/>
                <a:cs typeface="IBM Plex Sans" pitchFamily="34" charset="-120"/>
              </a:rPr>
              <a:t>per month in Cost Explorer calls: 3-day lookback, calls counted per sync</a:t>
            </a:r>
            <a:endParaRPr lang="en-US" sz="1500" dirty="0">
              <a:latin typeface="IBM Plex Sans" charset="0"/>
              <a:ea typeface="IBM Plex Sans" charset="0"/>
              <a:cs typeface="IBM Plex Sans" charset="0"/>
            </a:endParaRPr>
          </a:p>
        </p:txBody>
      </p:sp>
      <p:sp>
        <p:nvSpPr>
          <p:cNvPr id="10" name="Shape 8"/>
          <p:cNvSpPr/>
          <p:nvPr/>
        </p:nvSpPr>
        <p:spPr>
          <a:xfrm>
            <a:off x="7992517" y="1935411"/>
            <a:ext cx="3386634" cy="2046585"/>
          </a:xfrm>
          <a:prstGeom prst="roundRect">
            <a:avLst>
              <a:gd name="adj" fmla="val 6205"/>
            </a:avLst>
          </a:prstGeom>
          <a:solidFill>
            <a:srgbClr val="174CAE"/>
          </a:solidFill>
          <a:ln/>
        </p:spPr>
      </p:sp>
      <p:sp>
        <p:nvSpPr>
          <p:cNvPr id="11" name="Text 9"/>
          <p:cNvSpPr/>
          <p:nvPr/>
        </p:nvSpPr>
        <p:spPr>
          <a:xfrm>
            <a:off x="8271917" y="2214811"/>
            <a:ext cx="2912669"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4F7FD"/>
                </a:solidFill>
                <a:latin typeface="JetBrains Mono" pitchFamily="49" charset="0"/>
                <a:ea typeface="JetBrains Mono" pitchFamily="49" charset="-122"/>
                <a:cs typeface="JetBrains Mono" pitchFamily="49" charset="-120"/>
              </a:rPr>
              <a:t>~$21</a:t>
            </a:r>
            <a:endParaRPr lang="en-US" sz="4800" dirty="0">
              <a:latin typeface="JetBrains Mono" charset="0"/>
              <a:ea typeface="JetBrains Mono" charset="0"/>
              <a:cs typeface="JetBrains Mono" charset="0"/>
            </a:endParaRPr>
          </a:p>
        </p:txBody>
      </p:sp>
      <p:sp>
        <p:nvSpPr>
          <p:cNvPr id="12" name="Text 10"/>
          <p:cNvSpPr/>
          <p:nvPr/>
        </p:nvSpPr>
        <p:spPr>
          <a:xfrm>
            <a:off x="8271917" y="2931071"/>
            <a:ext cx="291266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DCE7FB"/>
                </a:solidFill>
                <a:latin typeface="IBM Plex Sans" pitchFamily="34" charset="0"/>
                <a:ea typeface="IBM Plex Sans" pitchFamily="34" charset="-122"/>
                <a:cs typeface="IBM Plex Sans" pitchFamily="34" charset="-120"/>
              </a:rPr>
              <a:t>per month to run the whole stack on one t3.small</a:t>
            </a:r>
            <a:endParaRPr lang="en-US" sz="1500" dirty="0">
              <a:latin typeface="IBM Plex Sans" charset="0"/>
              <a:ea typeface="IBM Plex Sans" charset="0"/>
              <a:cs typeface="IBM Plex Sans" charset="0"/>
            </a:endParaRPr>
          </a:p>
        </p:txBody>
      </p:sp>
      <p:sp>
        <p:nvSpPr>
          <p:cNvPr id="13" name="Text 11"/>
          <p:cNvSpPr/>
          <p:nvPr/>
        </p:nvSpPr>
        <p:spPr>
          <a:xfrm>
            <a:off x="812800" y="4286796"/>
            <a:ext cx="102031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7FD"/>
                </a:solidFill>
                <a:latin typeface="IBM Plex Sans" pitchFamily="34" charset="0"/>
                <a:ea typeface="IBM Plex Sans" pitchFamily="34" charset="-122"/>
                <a:cs typeface="IBM Plex Sans" pitchFamily="34" charset="-120"/>
              </a:rPr>
              <a:t>Recommendations: stop idle, rightsize, off-hours schedules, storage tiering. Plus budget forecasts, anomaly alerts, retention policies and partition-filtered BigQuery queries.</a:t>
            </a:r>
            <a:endParaRPr lang="en-US" sz="1600" dirty="0">
              <a:latin typeface="IBM Plex Sans" charset="0"/>
              <a:ea typeface="IBM Plex Sans" charset="0"/>
              <a:cs typeface="IBM Plex Sans" charset="0"/>
            </a:endParaRPr>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7FB"/>
                </a:solidFill>
                <a:latin typeface="IBM Plex Sans" pitchFamily="34" charset="0"/>
                <a:ea typeface="IBM Plex Sans" pitchFamily="34" charset="-122"/>
                <a:cs typeface="IBM Plex Sans" pitchFamily="34" charset="-120"/>
              </a:rPr>
              <a:t>CloudLens · Capstone viva · 11</a:t>
            </a:r>
            <a:endParaRPr lang="en-US" sz="12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TESTING</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Verified at every layer</a:t>
            </a:r>
            <a:endParaRPr lang="en-US" sz="3600" dirty="0">
              <a:latin typeface="IBM Plex Sans" charset="0"/>
              <a:ea typeface="IBM Plex Sans" charset="0"/>
              <a:cs typeface="IBM Plex Sans" charset="0"/>
            </a:endParaRPr>
          </a:p>
        </p:txBody>
      </p:sp>
      <p:sp>
        <p:nvSpPr>
          <p:cNvPr id="4" name="Shape 2"/>
          <p:cNvSpPr/>
          <p:nvPr/>
        </p:nvSpPr>
        <p:spPr>
          <a:xfrm>
            <a:off x="815975" y="1913186"/>
            <a:ext cx="2501900" cy="1723330"/>
          </a:xfrm>
          <a:prstGeom prst="roundRect">
            <a:avLst>
              <a:gd name="adj" fmla="val 7185"/>
            </a:avLst>
          </a:prstGeom>
          <a:solidFill>
            <a:srgbClr val="FFFFFF"/>
          </a:solidFill>
          <a:ln w="6350">
            <a:solidFill>
              <a:srgbClr val="DCE2EB"/>
            </a:solidFill>
            <a:prstDash val="solid"/>
          </a:ln>
        </p:spPr>
      </p:sp>
      <p:sp>
        <p:nvSpPr>
          <p:cNvPr id="5" name="Text 3"/>
          <p:cNvSpPr/>
          <p:nvPr/>
        </p:nvSpPr>
        <p:spPr>
          <a:xfrm>
            <a:off x="1047750" y="2144961"/>
            <a:ext cx="209950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D5FD6"/>
                </a:solidFill>
                <a:latin typeface="JetBrains Mono" pitchFamily="49" charset="0"/>
                <a:ea typeface="JetBrains Mono" pitchFamily="49" charset="-122"/>
                <a:cs typeface="JetBrains Mono" pitchFamily="49" charset="-120"/>
              </a:rPr>
              <a:t>84</a:t>
            </a:r>
            <a:endParaRPr lang="en-US" sz="4000" dirty="0">
              <a:latin typeface="JetBrains Mono" charset="0"/>
              <a:ea typeface="JetBrains Mono" charset="0"/>
              <a:cs typeface="JetBrains Mono" charset="0"/>
            </a:endParaRPr>
          </a:p>
        </p:txBody>
      </p:sp>
      <p:sp>
        <p:nvSpPr>
          <p:cNvPr id="6" name="Text 4"/>
          <p:cNvSpPr/>
          <p:nvPr/>
        </p:nvSpPr>
        <p:spPr>
          <a:xfrm>
            <a:off x="1047750" y="290696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backend tests pass on SQLite and PostgreSQL</a:t>
            </a:r>
            <a:endParaRPr lang="en-US" sz="1400" dirty="0">
              <a:latin typeface="IBM Plex Sans" charset="0"/>
              <a:ea typeface="IBM Plex Sans" charset="0"/>
              <a:cs typeface="IBM Plex Sans" charset="0"/>
            </a:endParaRPr>
          </a:p>
        </p:txBody>
      </p:sp>
      <p:sp>
        <p:nvSpPr>
          <p:cNvPr id="7" name="Shape 5"/>
          <p:cNvSpPr/>
          <p:nvPr/>
        </p:nvSpPr>
        <p:spPr>
          <a:xfrm>
            <a:off x="3502025" y="1913186"/>
            <a:ext cx="2501900" cy="1723330"/>
          </a:xfrm>
          <a:prstGeom prst="roundRect">
            <a:avLst>
              <a:gd name="adj" fmla="val 7185"/>
            </a:avLst>
          </a:prstGeom>
          <a:solidFill>
            <a:srgbClr val="FFFFFF"/>
          </a:solidFill>
          <a:ln w="6350">
            <a:solidFill>
              <a:srgbClr val="DCE2EB"/>
            </a:solidFill>
            <a:prstDash val="solid"/>
          </a:ln>
        </p:spPr>
      </p:sp>
      <p:sp>
        <p:nvSpPr>
          <p:cNvPr id="8" name="Text 6"/>
          <p:cNvSpPr/>
          <p:nvPr/>
        </p:nvSpPr>
        <p:spPr>
          <a:xfrm>
            <a:off x="3733800" y="2144961"/>
            <a:ext cx="209950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D5FD6"/>
                </a:solidFill>
                <a:latin typeface="JetBrains Mono" pitchFamily="49" charset="0"/>
                <a:ea typeface="JetBrains Mono" pitchFamily="49" charset="-122"/>
                <a:cs typeface="JetBrains Mono" pitchFamily="49" charset="-120"/>
              </a:rPr>
              <a:t>85%</a:t>
            </a:r>
            <a:endParaRPr lang="en-US" sz="4000" dirty="0">
              <a:latin typeface="JetBrains Mono" charset="0"/>
              <a:ea typeface="JetBrains Mono" charset="0"/>
              <a:cs typeface="JetBrains Mono" charset="0"/>
            </a:endParaRPr>
          </a:p>
        </p:txBody>
      </p:sp>
      <p:sp>
        <p:nvSpPr>
          <p:cNvPr id="9" name="Text 7"/>
          <p:cNvSpPr/>
          <p:nvPr/>
        </p:nvSpPr>
        <p:spPr>
          <a:xfrm>
            <a:off x="3733800" y="290696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line coverage, analytics 97%</a:t>
            </a:r>
            <a:endParaRPr lang="en-US" sz="1400" dirty="0">
              <a:latin typeface="IBM Plex Sans" charset="0"/>
              <a:ea typeface="IBM Plex Sans" charset="0"/>
              <a:cs typeface="IBM Plex Sans" charset="0"/>
            </a:endParaRPr>
          </a:p>
        </p:txBody>
      </p:sp>
      <p:sp>
        <p:nvSpPr>
          <p:cNvPr id="10" name="Shape 8"/>
          <p:cNvSpPr/>
          <p:nvPr/>
        </p:nvSpPr>
        <p:spPr>
          <a:xfrm>
            <a:off x="6188075" y="1913186"/>
            <a:ext cx="2501900" cy="1723330"/>
          </a:xfrm>
          <a:prstGeom prst="roundRect">
            <a:avLst>
              <a:gd name="adj" fmla="val 7185"/>
            </a:avLst>
          </a:prstGeom>
          <a:solidFill>
            <a:srgbClr val="FFFFFF"/>
          </a:solidFill>
          <a:ln w="6350">
            <a:solidFill>
              <a:srgbClr val="DCE2EB"/>
            </a:solidFill>
            <a:prstDash val="solid"/>
          </a:ln>
        </p:spPr>
      </p:sp>
      <p:sp>
        <p:nvSpPr>
          <p:cNvPr id="11" name="Text 9"/>
          <p:cNvSpPr/>
          <p:nvPr/>
        </p:nvSpPr>
        <p:spPr>
          <a:xfrm>
            <a:off x="6419850" y="2144961"/>
            <a:ext cx="209950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D5FD6"/>
                </a:solidFill>
                <a:latin typeface="JetBrains Mono" pitchFamily="49" charset="0"/>
                <a:ea typeface="JetBrains Mono" pitchFamily="49" charset="-122"/>
                <a:cs typeface="JetBrains Mono" pitchFamily="49" charset="-120"/>
              </a:rPr>
              <a:t>31</a:t>
            </a:r>
            <a:endParaRPr lang="en-US" sz="4000" dirty="0">
              <a:latin typeface="JetBrains Mono" charset="0"/>
              <a:ea typeface="JetBrains Mono" charset="0"/>
              <a:cs typeface="JetBrains Mono" charset="0"/>
            </a:endParaRPr>
          </a:p>
        </p:txBody>
      </p:sp>
      <p:sp>
        <p:nvSpPr>
          <p:cNvPr id="12" name="Text 10"/>
          <p:cNvSpPr/>
          <p:nvPr/>
        </p:nvSpPr>
        <p:spPr>
          <a:xfrm>
            <a:off x="6419850" y="290696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frontend unit tests, incl. date picker</a:t>
            </a:r>
            <a:endParaRPr lang="en-US" sz="1400" dirty="0">
              <a:latin typeface="IBM Plex Sans" charset="0"/>
              <a:ea typeface="IBM Plex Sans" charset="0"/>
              <a:cs typeface="IBM Plex Sans" charset="0"/>
            </a:endParaRPr>
          </a:p>
        </p:txBody>
      </p:sp>
      <p:sp>
        <p:nvSpPr>
          <p:cNvPr id="13" name="Shape 11"/>
          <p:cNvSpPr/>
          <p:nvPr/>
        </p:nvSpPr>
        <p:spPr>
          <a:xfrm>
            <a:off x="8874125" y="1913186"/>
            <a:ext cx="2501900" cy="1723330"/>
          </a:xfrm>
          <a:prstGeom prst="roundRect">
            <a:avLst>
              <a:gd name="adj" fmla="val 7185"/>
            </a:avLst>
          </a:prstGeom>
          <a:solidFill>
            <a:srgbClr val="FFFFFF"/>
          </a:solidFill>
          <a:ln w="6350">
            <a:solidFill>
              <a:srgbClr val="DCE2EB"/>
            </a:solidFill>
            <a:prstDash val="solid"/>
          </a:ln>
        </p:spPr>
      </p:sp>
      <p:sp>
        <p:nvSpPr>
          <p:cNvPr id="14" name="Text 12"/>
          <p:cNvSpPr/>
          <p:nvPr/>
        </p:nvSpPr>
        <p:spPr>
          <a:xfrm>
            <a:off x="9105900" y="2144961"/>
            <a:ext cx="2099501"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1D5FD6"/>
                </a:solidFill>
                <a:latin typeface="JetBrains Mono" pitchFamily="49" charset="0"/>
                <a:ea typeface="JetBrains Mono" pitchFamily="49" charset="-122"/>
                <a:cs typeface="JetBrains Mono" pitchFamily="49" charset="-120"/>
              </a:rPr>
              <a:t>8</a:t>
            </a:r>
            <a:endParaRPr lang="en-US" sz="4000" dirty="0">
              <a:latin typeface="JetBrains Mono" charset="0"/>
              <a:ea typeface="JetBrains Mono" charset="0"/>
              <a:cs typeface="JetBrains Mono" charset="0"/>
            </a:endParaRPr>
          </a:p>
        </p:txBody>
      </p:sp>
      <p:sp>
        <p:nvSpPr>
          <p:cNvPr id="15" name="Text 13"/>
          <p:cNvSpPr/>
          <p:nvPr/>
        </p:nvSpPr>
        <p:spPr>
          <a:xfrm>
            <a:off x="9105900" y="2906961"/>
            <a:ext cx="209950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468"/>
                </a:solidFill>
                <a:latin typeface="IBM Plex Sans" pitchFamily="34" charset="0"/>
                <a:ea typeface="IBM Plex Sans" pitchFamily="34" charset="-122"/>
                <a:cs typeface="IBM Plex Sans" pitchFamily="34" charset="-120"/>
              </a:rPr>
              <a:t>Slack + Teams messages in the end-to-end run</a:t>
            </a:r>
            <a:endParaRPr lang="en-US" sz="1400" dirty="0">
              <a:latin typeface="IBM Plex Sans" charset="0"/>
              <a:ea typeface="IBM Plex Sans" charset="0"/>
              <a:cs typeface="IBM Plex Sans" charset="0"/>
            </a:endParaRPr>
          </a:p>
        </p:txBody>
      </p:sp>
      <p:sp>
        <p:nvSpPr>
          <p:cNvPr id="16" name="Text 14"/>
          <p:cNvSpPr/>
          <p:nvPr/>
        </p:nvSpPr>
        <p:spPr>
          <a:xfrm>
            <a:off x="883920" y="3919091"/>
            <a:ext cx="10804652"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Breakdowns always sum to the period total; re-syncs never change row counts</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Future, reversed and &gt; 731-day ranges rejected (HTTP 422)</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Real Prometheus + Alertmanager: fire, deliver, resolve</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Every screen captured in both themes and at phone width</a:t>
            </a:r>
            <a:endParaRPr lang="en-US" sz="1500" dirty="0">
              <a:latin typeface="IBM Plex Sans" charset="0"/>
              <a:ea typeface="IBM Plex Sans" charset="0"/>
              <a:cs typeface="IBM Plex Sans" charset="0"/>
            </a:endParaRPr>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12</a:t>
            </a:r>
            <a:endParaRPr lang="en-US" sz="1200" dirty="0">
              <a:latin typeface="IBM Plex Sans" charset="0"/>
              <a:ea typeface="IBM Plex Sans" charset="0"/>
              <a:cs typeface="IBM Plex San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DEPLOYMENT</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Laptop to EC2 staging in three commands</a:t>
            </a:r>
            <a:endParaRPr lang="en-US" sz="3600" dirty="0">
              <a:latin typeface="IBM Plex Sans" charset="0"/>
              <a:ea typeface="IBM Plex Sans" charset="0"/>
              <a:cs typeface="IBM Plex Sans" charset="0"/>
            </a:endParaRPr>
          </a:p>
        </p:txBody>
      </p:sp>
      <p:sp>
        <p:nvSpPr>
          <p:cNvPr id="4" name="Shape 2"/>
          <p:cNvSpPr/>
          <p:nvPr/>
        </p:nvSpPr>
        <p:spPr>
          <a:xfrm>
            <a:off x="812800" y="1910011"/>
            <a:ext cx="5156200" cy="1826220"/>
          </a:xfrm>
          <a:prstGeom prst="roundRect">
            <a:avLst>
              <a:gd name="adj" fmla="val 6954"/>
            </a:avLst>
          </a:prstGeom>
          <a:solidFill>
            <a:srgbClr val="0F172A"/>
          </a:solidFill>
          <a:ln/>
        </p:spPr>
      </p:sp>
      <p:sp>
        <p:nvSpPr>
          <p:cNvPr id="5" name="Text 3"/>
          <p:cNvSpPr/>
          <p:nvPr/>
        </p:nvSpPr>
        <p:spPr>
          <a:xfrm>
            <a:off x="1092200" y="218941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4C8"/>
                </a:solidFill>
                <a:latin typeface="JetBrains Mono" pitchFamily="49" charset="0"/>
                <a:ea typeface="JetBrains Mono" pitchFamily="49" charset="-122"/>
                <a:cs typeface="JetBrains Mono" pitchFamily="49" charset="-120"/>
              </a:rPr>
              <a:t>$ cp .env.example .env.staging</a:t>
            </a:r>
            <a:endParaRPr lang="en-US" sz="1300" dirty="0">
              <a:latin typeface="JetBrains Mono" charset="0"/>
              <a:ea typeface="JetBrains Mono" charset="0"/>
              <a:cs typeface="JetBrains Mono" charset="0"/>
            </a:endParaRPr>
          </a:p>
        </p:txBody>
      </p:sp>
      <p:sp>
        <p:nvSpPr>
          <p:cNvPr id="6" name="Text 4"/>
          <p:cNvSpPr/>
          <p:nvPr/>
        </p:nvSpPr>
        <p:spPr>
          <a:xfrm>
            <a:off x="1092200" y="253484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CF4"/>
                </a:solidFill>
                <a:latin typeface="JetBrains Mono" pitchFamily="49" charset="0"/>
                <a:ea typeface="JetBrains Mono" pitchFamily="49" charset="-122"/>
                <a:cs typeface="JetBrains Mono" pitchFamily="49" charset="-120"/>
              </a:rPr>
              <a:t>$ KEY_NAME=my-key ./deploy/aws/create-ec2.sh</a:t>
            </a:r>
            <a:endParaRPr lang="en-US" sz="1300" dirty="0">
              <a:latin typeface="JetBrains Mono" charset="0"/>
              <a:ea typeface="JetBrains Mono" charset="0"/>
              <a:cs typeface="JetBrains Mono" charset="0"/>
            </a:endParaRPr>
          </a:p>
        </p:txBody>
      </p:sp>
      <p:sp>
        <p:nvSpPr>
          <p:cNvPr id="7" name="Text 5"/>
          <p:cNvSpPr/>
          <p:nvPr/>
        </p:nvSpPr>
        <p:spPr>
          <a:xfrm>
            <a:off x="1092200" y="288027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CF4"/>
                </a:solidFill>
                <a:latin typeface="JetBrains Mono" pitchFamily="49" charset="0"/>
                <a:ea typeface="JetBrains Mono" pitchFamily="49" charset="-122"/>
                <a:cs typeface="JetBrains Mono" pitchFamily="49" charset="-120"/>
              </a:rPr>
              <a:t>$ EC2_HOST=&lt;ip&gt; ./deploy/aws/deploy.sh</a:t>
            </a:r>
            <a:endParaRPr lang="en-US" sz="1300" dirty="0">
              <a:latin typeface="JetBrains Mono" charset="0"/>
              <a:ea typeface="JetBrains Mono" charset="0"/>
              <a:cs typeface="JetBrains Mono" charset="0"/>
            </a:endParaRPr>
          </a:p>
        </p:txBody>
      </p:sp>
      <p:sp>
        <p:nvSpPr>
          <p:cNvPr id="8" name="Text 6"/>
          <p:cNvSpPr/>
          <p:nvPr/>
        </p:nvSpPr>
        <p:spPr>
          <a:xfrm>
            <a:off x="1092200" y="3225701"/>
            <a:ext cx="473532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4D399"/>
                </a:solidFill>
                <a:latin typeface="JetBrains Mono" pitchFamily="49" charset="0"/>
                <a:ea typeface="JetBrains Mono" pitchFamily="49" charset="-122"/>
                <a:cs typeface="JetBrains Mono" pitchFamily="49" charset="-120"/>
              </a:rPr>
              <a:t>Healthy. Open http://&lt;ip&gt;/</a:t>
            </a:r>
            <a:endParaRPr lang="en-US" sz="1300" dirty="0">
              <a:latin typeface="JetBrains Mono" charset="0"/>
              <a:ea typeface="JetBrains Mono" charset="0"/>
              <a:cs typeface="JetBrains Mono" charset="0"/>
            </a:endParaRPr>
          </a:p>
        </p:txBody>
      </p:sp>
      <p:sp>
        <p:nvSpPr>
          <p:cNvPr id="9" name="Text 7"/>
          <p:cNvSpPr/>
          <p:nvPr/>
        </p:nvSpPr>
        <p:spPr>
          <a:xfrm>
            <a:off x="6294120" y="1910011"/>
            <a:ext cx="5232146" cy="185162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t3.small, IMDSv2, 20 GB gp3, swap</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IAM instance role, read-only policy</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Only port 80 public; SSH from your IP</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Non-root containers, health checks, log rotation</a:t>
            </a:r>
            <a:endParaRPr lang="en-US" sz="1500" dirty="0">
              <a:latin typeface="IBM Plex Sans" charset="0"/>
              <a:ea typeface="IBM Plex Sans" charset="0"/>
              <a:cs typeface="IBM Plex Sans" charset="0"/>
            </a:endParaRPr>
          </a:p>
          <a:p>
            <a:pPr algn="l" marL="182880" indent="-182880">
              <a:lnSpc>
                <a:spcPts val="2250"/>
              </a:lnSpc>
              <a:buSzPct val="100000"/>
              <a:buChar char="•"/>
            </a:pPr>
            <a:r>
              <a:rPr lang="en-US" sz="1500" dirty="0">
                <a:solidFill>
                  <a:srgbClr val="0F172A"/>
                </a:solidFill>
                <a:latin typeface="IBM Plex Sans" pitchFamily="34" charset="0"/>
                <a:ea typeface="IBM Plex Sans" pitchFamily="34" charset="-122"/>
                <a:cs typeface="IBM Plex Sans" pitchFamily="34" charset="-120"/>
              </a:rPr>
              <a:t>Backups, hardening checklist</a:t>
            </a:r>
            <a:endParaRPr lang="en-US" sz="1500" dirty="0">
              <a:latin typeface="IBM Plex Sans" charset="0"/>
              <a:ea typeface="IBM Plex Sans" charset="0"/>
              <a:cs typeface="IBM Plex Sans" charset="0"/>
            </a:endParaRPr>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13</a:t>
            </a:r>
            <a:endParaRPr lang="en-US" sz="1200" dirty="0">
              <a:latin typeface="IBM Plex Sans" charset="0"/>
              <a:ea typeface="IBM Plex Sans" charset="0"/>
              <a:cs typeface="IBM Plex Sans"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9BFF"/>
                </a:solidFill>
                <a:latin typeface="JetBrains Mono" pitchFamily="49" charset="0"/>
                <a:ea typeface="JetBrains Mono" pitchFamily="49" charset="-122"/>
                <a:cs typeface="JetBrains Mono" pitchFamily="49" charset="-120"/>
              </a:rPr>
              <a:t>LIVE DEMO</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8ECF4"/>
                </a:solidFill>
                <a:latin typeface="IBM Plex Sans" pitchFamily="34" charset="0"/>
                <a:ea typeface="IBM Plex Sans" pitchFamily="34" charset="-122"/>
                <a:cs typeface="IBM Plex Sans" pitchFamily="34" charset="-120"/>
              </a:rPr>
              <a:t>Five minutes, end to end</a:t>
            </a:r>
            <a:endParaRPr lang="en-US" sz="3600" dirty="0">
              <a:latin typeface="IBM Plex Sans" charset="0"/>
              <a:ea typeface="IBM Plex Sans" charset="0"/>
              <a:cs typeface="IBM Plex Sans"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2711"/>
          <a:ext cx="10553700" cy="2702074"/>
        </p:xfrm>
        <a:graphic>
          <a:graphicData uri="http://schemas.openxmlformats.org/drawingml/2006/table">
            <a:tbl>
              <a:tblPr/>
              <a:tblGrid>
                <a:gridCol w="844296"/>
                <a:gridCol w="4221480"/>
                <a:gridCol w="5487924"/>
              </a:tblGrid>
              <a:tr h="386011">
                <a:tc>
                  <a:txBody>
                    <a:bodyPr/>
                    <a:lstStyle/>
                    <a:p>
                      <a:pPr indent="0" marL="0">
                        <a:lnSpc>
                          <a:spcPts val="1960"/>
                        </a:lnSpc>
                        <a:buNone/>
                      </a:pPr>
                      <a:r>
                        <a:rPr lang="en-US" sz="1400" b="1" dirty="0">
                          <a:solidFill>
                            <a:srgbClr val="E8ECF4"/>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960"/>
                        </a:lnSpc>
                        <a:buNone/>
                      </a:pPr>
                      <a:r>
                        <a:rPr lang="en-US" sz="1400" b="1" dirty="0">
                          <a:solidFill>
                            <a:srgbClr val="E8ECF4"/>
                          </a:solidFill>
                          <a:latin typeface="IBM Plex Sans" pitchFamily="34" charset="0"/>
                          <a:ea typeface="IBM Plex Sans" pitchFamily="34" charset="-122"/>
                          <a:cs typeface="IBM Plex Sans" pitchFamily="34" charset="-120"/>
                        </a:rPr>
                        <a:t>Show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c>
                  <a:txBody>
                    <a:bodyPr/>
                    <a:lstStyle/>
                    <a:p>
                      <a:pPr indent="0" marL="0">
                        <a:lnSpc>
                          <a:spcPts val="1960"/>
                        </a:lnSpc>
                        <a:buNone/>
                      </a:pPr>
                      <a:r>
                        <a:rPr lang="en-US" sz="1400" b="1" dirty="0">
                          <a:solidFill>
                            <a:srgbClr val="E8ECF4"/>
                          </a:solidFill>
                          <a:latin typeface="IBM Plex Sans" pitchFamily="34" charset="0"/>
                          <a:ea typeface="IBM Plex Sans" pitchFamily="34" charset="-122"/>
                          <a:cs typeface="IBM Plex Sans" pitchFamily="34" charset="-120"/>
                        </a:rPr>
                        <a:t>Point to make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E535C"/>
                      </a:solidFill>
                      <a:prstDash val="solid"/>
                      <a:round/>
                      <a:headEnd type="none" w="med" len="med"/>
                      <a:tailEnd type="none" w="med" len="med"/>
                    </a:lnL>
                    <a:lnR w="12700" cap="flat" cmpd="sng" algn="ctr">
                      <a:solidFill>
                        <a:srgbClr val="4E535C"/>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E535C"/>
                      </a:solidFill>
                      <a:prstDash val="solid"/>
                      <a:round/>
                      <a:headEnd type="none" w="med" len="med"/>
                      <a:tailEnd type="none" w="med" len="med"/>
                    </a:lnB>
                    <a:solidFill>
                      <a:srgbClr val="1E2431"/>
                    </a:solidFill>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Dashboard, filter AWS → Production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One view, every widget follows the filter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E535C"/>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Toggle INR and light mode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Lakh / crore units; theme persists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Click a resource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Drill-down: cost bars, CPU, recommendation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Date picker → Last 6 months; type a future date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Presets from today; validation blocks future / reversed ranges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Inject an AWS spike, wait ~90 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Prometheus fires; Slack + Teams in mock inbox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r h="386011">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Sign in as viewer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c>
                  <a:txBody>
                    <a:bodyPr/>
                    <a:lstStyle/>
                    <a:p>
                      <a:pPr indent="0" marL="0">
                        <a:lnSpc>
                          <a:spcPts val="1960"/>
                        </a:lnSpc>
                        <a:buNone/>
                      </a:pPr>
                      <a:r>
                        <a:rPr lang="en-US" sz="1400" dirty="0">
                          <a:solidFill>
                            <a:srgbClr val="E8ECF4"/>
                          </a:solidFill>
                          <a:latin typeface="IBM Plex Sans" pitchFamily="34" charset="0"/>
                          <a:ea typeface="IBM Plex Sans" pitchFamily="34" charset="-122"/>
                          <a:cs typeface="IBM Plex Sans" pitchFamily="34" charset="-120"/>
                        </a:rPr>
                        <a:t>Admin actions hidden and blocked by the API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0454F"/>
                      </a:solidFill>
                      <a:prstDash val="solid"/>
                      <a:round/>
                      <a:headEnd type="none" w="med" len="med"/>
                      <a:tailEnd type="none" w="med" len="med"/>
                    </a:lnL>
                    <a:lnR w="12700" cap="flat" cmpd="sng" algn="ctr">
                      <a:solidFill>
                        <a:srgbClr val="40454F"/>
                      </a:solidFill>
                      <a:prstDash val="solid"/>
                      <a:round/>
                      <a:headEnd type="none" w="med" len="med"/>
                      <a:tailEnd type="none" w="med" len="med"/>
                    </a:lnR>
                    <a:lnT w="12700" cap="flat" cmpd="sng" algn="ctr">
                      <a:solidFill>
                        <a:srgbClr val="40454F"/>
                      </a:solidFill>
                      <a:prstDash val="solid"/>
                      <a:round/>
                      <a:headEnd type="none" w="med" len="med"/>
                      <a:tailEnd type="none" w="med" len="med"/>
                    </a:lnT>
                    <a:lnB w="12700" cap="flat" cmpd="sng" algn="ctr">
                      <a:solidFill>
                        <a:srgbClr val="40454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8"/>
                </a:solidFill>
                <a:latin typeface="IBM Plex Sans" pitchFamily="34" charset="0"/>
                <a:ea typeface="IBM Plex Sans" pitchFamily="34" charset="-122"/>
                <a:cs typeface="IBM Plex Sans" pitchFamily="34" charset="-120"/>
              </a:rPr>
              <a:t>CloudLens · Capstone viva · 14</a:t>
            </a:r>
            <a:endParaRPr lang="en-US" sz="1200" dirty="0">
              <a:latin typeface="IBM Plex Sans" charset="0"/>
              <a:ea typeface="IBM Plex Sans" charset="0"/>
              <a:cs typeface="IBM Plex San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1D5FD6"/>
                </a:solidFill>
                <a:latin typeface="JetBrains Mono" pitchFamily="49" charset="0"/>
                <a:ea typeface="JetBrains Mono" pitchFamily="49" charset="-122"/>
                <a:cs typeface="JetBrains Mono" pitchFamily="49" charset="-120"/>
              </a:rPr>
              <a:t>CONCLUSION</a:t>
            </a:r>
            <a:endParaRPr lang="en-US" sz="1200" dirty="0">
              <a:latin typeface="JetBrains Mono" charset="0"/>
              <a:ea typeface="JetBrains Mono" charset="0"/>
              <a:cs typeface="JetBrains Mono" charset="0"/>
            </a:endParaRPr>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172A"/>
                </a:solidFill>
                <a:latin typeface="IBM Plex Sans" pitchFamily="34" charset="0"/>
                <a:ea typeface="IBM Plex Sans" pitchFamily="34" charset="-122"/>
                <a:cs typeface="IBM Plex Sans" pitchFamily="34" charset="-120"/>
              </a:rPr>
              <a:t>What we learned, and what’s next</a:t>
            </a:r>
            <a:endParaRPr lang="en-US" sz="3600" dirty="0">
              <a:latin typeface="IBM Plex Sans" charset="0"/>
              <a:ea typeface="IBM Plex Sans" charset="0"/>
              <a:cs typeface="IBM Plex Sans" charset="0"/>
            </a:endParaRPr>
          </a:p>
        </p:txBody>
      </p:sp>
      <p:sp>
        <p:nvSpPr>
          <p:cNvPr id="4" name="Shape 2"/>
          <p:cNvSpPr/>
          <p:nvPr/>
        </p:nvSpPr>
        <p:spPr>
          <a:xfrm>
            <a:off x="815975" y="1913186"/>
            <a:ext cx="5149850" cy="2597150"/>
          </a:xfrm>
          <a:prstGeom prst="roundRect">
            <a:avLst>
              <a:gd name="adj" fmla="val 4768"/>
            </a:avLst>
          </a:prstGeom>
          <a:solidFill>
            <a:srgbClr val="FFFFFF"/>
          </a:solidFill>
          <a:ln w="6350">
            <a:solidFill>
              <a:srgbClr val="DCE2EB"/>
            </a:solidFill>
            <a:prstDash val="solid"/>
          </a:ln>
        </p:spPr>
      </p:sp>
      <p:sp>
        <p:nvSpPr>
          <p:cNvPr id="5" name="Text 3"/>
          <p:cNvSpPr/>
          <p:nvPr/>
        </p:nvSpPr>
        <p:spPr>
          <a:xfrm>
            <a:off x="1098550" y="2195761"/>
            <a:ext cx="47222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A"/>
                </a:solidFill>
                <a:latin typeface="IBM Plex Sans" pitchFamily="34" charset="0"/>
                <a:ea typeface="IBM Plex Sans" pitchFamily="34" charset="-122"/>
                <a:cs typeface="IBM Plex Sans" pitchFamily="34" charset="-120"/>
              </a:rPr>
              <a:t>Learnings</a:t>
            </a:r>
            <a:endParaRPr lang="en-US" sz="2000" dirty="0">
              <a:latin typeface="IBM Plex Sans" charset="0"/>
              <a:ea typeface="IBM Plex Sans" charset="0"/>
              <a:cs typeface="IBM Plex Sans" charset="0"/>
            </a:endParaRPr>
          </a:p>
        </p:txBody>
      </p:sp>
      <p:sp>
        <p:nvSpPr>
          <p:cNvPr id="6" name="Text 4"/>
          <p:cNvSpPr/>
          <p:nvPr/>
        </p:nvSpPr>
        <p:spPr>
          <a:xfrm>
            <a:off x="1176782" y="2627561"/>
            <a:ext cx="4636389" cy="16256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Each cloud exposes cost differently; a unified contract hides it</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Idempotent upserts make scheduled jobs safe to re-run</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Paid APIs need cost-aware design and call accounting</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Keep users in the UI, keep alert delivery standard</a:t>
            </a:r>
            <a:endParaRPr lang="en-US" sz="1400" dirty="0">
              <a:latin typeface="IBM Plex Sans" charset="0"/>
              <a:ea typeface="IBM Plex Sans" charset="0"/>
              <a:cs typeface="IBM Plex Sans" charset="0"/>
            </a:endParaRPr>
          </a:p>
        </p:txBody>
      </p:sp>
      <p:sp>
        <p:nvSpPr>
          <p:cNvPr id="7" name="Shape 5"/>
          <p:cNvSpPr/>
          <p:nvPr/>
        </p:nvSpPr>
        <p:spPr>
          <a:xfrm>
            <a:off x="6226175" y="1913186"/>
            <a:ext cx="5149850" cy="2597150"/>
          </a:xfrm>
          <a:prstGeom prst="roundRect">
            <a:avLst>
              <a:gd name="adj" fmla="val 4768"/>
            </a:avLst>
          </a:prstGeom>
          <a:solidFill>
            <a:srgbClr val="FFFFFF"/>
          </a:solidFill>
          <a:ln w="6350">
            <a:solidFill>
              <a:srgbClr val="DCE2EB"/>
            </a:solidFill>
            <a:prstDash val="solid"/>
          </a:ln>
        </p:spPr>
      </p:sp>
      <p:sp>
        <p:nvSpPr>
          <p:cNvPr id="8" name="Text 6"/>
          <p:cNvSpPr/>
          <p:nvPr/>
        </p:nvSpPr>
        <p:spPr>
          <a:xfrm>
            <a:off x="6508750" y="2195761"/>
            <a:ext cx="47222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72A"/>
                </a:solidFill>
                <a:latin typeface="IBM Plex Sans" pitchFamily="34" charset="0"/>
                <a:ea typeface="IBM Plex Sans" pitchFamily="34" charset="-122"/>
                <a:cs typeface="IBM Plex Sans" pitchFamily="34" charset="-120"/>
              </a:rPr>
              <a:t>Future scope</a:t>
            </a:r>
            <a:endParaRPr lang="en-US" sz="2000" dirty="0">
              <a:latin typeface="IBM Plex Sans" charset="0"/>
              <a:ea typeface="IBM Plex Sans" charset="0"/>
              <a:cs typeface="IBM Plex Sans" charset="0"/>
            </a:endParaRPr>
          </a:p>
        </p:txBody>
      </p:sp>
      <p:sp>
        <p:nvSpPr>
          <p:cNvPr id="9" name="Text 7"/>
          <p:cNvSpPr/>
          <p:nvPr/>
        </p:nvSpPr>
        <p:spPr>
          <a:xfrm>
            <a:off x="6586982" y="2627561"/>
            <a:ext cx="4636389"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Alembic migrations, HTTPS, live exchange rate</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Separate worker; TimescaleDB for metrics</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ML forecasting, per-service anomalies</a:t>
            </a:r>
            <a:endParaRPr lang="en-US" sz="1400" dirty="0">
              <a:latin typeface="IBM Plex Sans" charset="0"/>
              <a:ea typeface="IBM Plex Sans" charset="0"/>
              <a:cs typeface="IBM Plex Sans" charset="0"/>
            </a:endParaRPr>
          </a:p>
          <a:p>
            <a:pPr algn="l" marL="175768" indent="-175768">
              <a:lnSpc>
                <a:spcPts val="2100"/>
              </a:lnSpc>
              <a:buSzPct val="100000"/>
              <a:buChar char="•"/>
            </a:pPr>
            <a:r>
              <a:rPr lang="en-US" sz="1400" dirty="0">
                <a:solidFill>
                  <a:srgbClr val="4A5468"/>
                </a:solidFill>
                <a:latin typeface="IBM Plex Sans" pitchFamily="34" charset="0"/>
                <a:ea typeface="IBM Plex Sans" pitchFamily="34" charset="-122"/>
                <a:cs typeface="IBM Plex Sans" pitchFamily="34" charset="-120"/>
              </a:rPr>
              <a:t>SSO, audit log, scheduled email reports</a:t>
            </a:r>
            <a:endParaRPr lang="en-US" sz="1400" dirty="0">
              <a:latin typeface="IBM Plex Sans" charset="0"/>
              <a:ea typeface="IBM Plex Sans" charset="0"/>
              <a:cs typeface="IBM Plex Sans" charset="0"/>
            </a:endParaRPr>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68"/>
                </a:solidFill>
                <a:latin typeface="IBM Plex Sans" pitchFamily="34" charset="0"/>
                <a:ea typeface="IBM Plex Sans" pitchFamily="34" charset="-122"/>
                <a:cs typeface="IBM Plex Sans" pitchFamily="34" charset="-120"/>
              </a:rPr>
              <a:t>CloudLens · Capstone viva · 15</a:t>
            </a:r>
            <a:endParaRPr lang="en-US" sz="1200" dirty="0">
              <a:latin typeface="IBM Plex Sans" charset="0"/>
              <a:ea typeface="IBM Plex Sans" charset="0"/>
              <a:cs typeface="IBM Plex Sans"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220"/>
        </a:solidFill>
      </p:bgPr>
    </p:bg>
    <p:spTree>
      <p:nvGrpSpPr>
        <p:cNvPr id="1" name=""/>
        <p:cNvGrpSpPr/>
        <p:nvPr/>
      </p:nvGrpSpPr>
      <p:grpSpPr>
        <a:xfrm>
          <a:off x="0" y="0"/>
          <a:ext cx="0" cy="0"/>
          <a:chOff x="0" y="0"/>
          <a:chExt cx="0" cy="0"/>
        </a:xfrm>
      </p:grpSpPr>
      <p:sp>
        <p:nvSpPr>
          <p:cNvPr id="2" name="Text 0"/>
          <p:cNvSpPr/>
          <p:nvPr>
            <p:ph type="title"/>
          </p:nvPr>
        </p:nvSpPr>
        <p:spPr>
          <a:xfrm>
            <a:off x="812800" y="2338685"/>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1" i="0" spc="-150" kern="0" dirty="0">
                <a:solidFill>
                  <a:srgbClr val="E8ECF4"/>
                </a:solidFill>
                <a:latin typeface="IBM Plex Sans" pitchFamily="34" charset="0"/>
                <a:ea typeface="IBM Plex Sans" pitchFamily="34" charset="-122"/>
                <a:cs typeface="IBM Plex Sans" pitchFamily="34" charset="-120"/>
              </a:rPr>
              <a:t>Thank you</a:t>
            </a:r>
            <a:endParaRPr lang="en-US" sz="7500" dirty="0">
              <a:latin typeface="IBM Plex Sans" charset="0"/>
              <a:ea typeface="IBM Plex Sans" charset="0"/>
              <a:cs typeface="IBM Plex Sans" charset="0"/>
            </a:endParaRPr>
          </a:p>
        </p:txBody>
      </p:sp>
      <p:sp>
        <p:nvSpPr>
          <p:cNvPr id="3" name="Text 1"/>
          <p:cNvSpPr/>
          <p:nvPr/>
        </p:nvSpPr>
        <p:spPr>
          <a:xfrm>
            <a:off x="812800" y="3519785"/>
            <a:ext cx="10883392" cy="438150"/>
          </a:xfrm>
          <a:prstGeom prst="rect">
            <a:avLst/>
          </a:prstGeom>
          <a:noFill/>
          <a:ln/>
        </p:spPr>
        <p:txBody>
          <a:bodyPr wrap="square" lIns="0" tIns="0" rIns="0" bIns="0" rtlCol="0" anchor="t">
            <a:normAutofit/>
          </a:bodyPr>
          <a:lstStyle/>
          <a:p>
            <a:pPr algn="l" indent="0" marL="0">
              <a:lnSpc>
                <a:spcPts val="3250"/>
              </a:lnSpc>
              <a:buNone/>
            </a:pPr>
            <a:r>
              <a:rPr lang="en-US" sz="2600" dirty="0">
                <a:solidFill>
                  <a:srgbClr val="C9D3E3"/>
                </a:solidFill>
                <a:latin typeface="IBM Plex Sans" pitchFamily="34" charset="0"/>
                <a:ea typeface="IBM Plex Sans" pitchFamily="34" charset="-122"/>
                <a:cs typeface="IBM Plex Sans" pitchFamily="34" charset="-120"/>
              </a:rPr>
              <a:t>Questions?</a:t>
            </a:r>
            <a:endParaRPr lang="en-US" sz="2600" dirty="0">
              <a:latin typeface="IBM Plex Sans" charset="0"/>
              <a:ea typeface="IBM Plex Sans" charset="0"/>
              <a:cs typeface="IBM Plex Sans" charset="0"/>
            </a:endParaRPr>
          </a:p>
        </p:txBody>
      </p:sp>
      <p:sp>
        <p:nvSpPr>
          <p:cNvPr id="4" name="Text 2"/>
          <p:cNvSpPr/>
          <p:nvPr/>
        </p:nvSpPr>
        <p:spPr>
          <a:xfrm>
            <a:off x="812800" y="4161135"/>
            <a:ext cx="5034211" cy="358130"/>
          </a:xfrm>
          <a:prstGeom prst="roundRect">
            <a:avLst>
              <a:gd name="adj" fmla="val 21277"/>
            </a:avLst>
          </a:prstGeom>
          <a:solidFill>
            <a:srgbClr val="1A2335"/>
          </a:solidFill>
          <a:ln/>
        </p:spPr>
        <p:txBody>
          <a:bodyPr wrap="none" lIns="0" tIns="0" rIns="0" bIns="0" rtlCol="0" anchor="ctr">
            <a:normAutofit/>
          </a:bodyPr>
          <a:lstStyle/>
          <a:p>
            <a:pPr algn="ctr" indent="0" marL="0">
              <a:lnSpc>
                <a:spcPts val="1820"/>
              </a:lnSpc>
              <a:buNone/>
            </a:pPr>
            <a:r>
              <a:rPr lang="en-US" sz="1300" dirty="0">
                <a:solidFill>
                  <a:srgbClr val="C9D3E3"/>
                </a:solidFill>
                <a:latin typeface="JetBrains Mono" pitchFamily="49" charset="0"/>
                <a:ea typeface="JetBrains Mono" pitchFamily="49" charset="-122"/>
                <a:cs typeface="JetBrains Mono" pitchFamily="49" charset="-120"/>
              </a:rPr>
              <a:t>docs/ · report · 15 module docs · 10 screen docs</a:t>
            </a:r>
            <a:endParaRPr lang="en-US" sz="1300" dirty="0">
              <a:latin typeface="JetBrains Mono" charset="0"/>
              <a:ea typeface="JetBrains Mono" charset="0"/>
              <a:cs typeface="JetBrains Mono" charset="0"/>
            </a:endParaRPr>
          </a:p>
        </p:txBody>
      </p:sp>
      <p:sp>
        <p:nvSpPr>
          <p:cNvPr id="5" name="Text 3"/>
          <p:cNvSpPr/>
          <p:nvPr/>
        </p:nvSpPr>
        <p:spPr>
          <a:xfrm>
            <a:off x="5948611" y="4161135"/>
            <a:ext cx="2854970" cy="358130"/>
          </a:xfrm>
          <a:prstGeom prst="roundRect">
            <a:avLst>
              <a:gd name="adj" fmla="val 21277"/>
            </a:avLst>
          </a:prstGeom>
          <a:solidFill>
            <a:srgbClr val="1A2335"/>
          </a:solidFill>
          <a:ln/>
        </p:spPr>
        <p:txBody>
          <a:bodyPr wrap="none" lIns="0" tIns="0" rIns="0" bIns="0" rtlCol="0" anchor="ctr">
            <a:normAutofit/>
          </a:bodyPr>
          <a:lstStyle/>
          <a:p>
            <a:pPr algn="ctr" indent="0" marL="0">
              <a:lnSpc>
                <a:spcPts val="1820"/>
              </a:lnSpc>
              <a:buNone/>
            </a:pPr>
            <a:r>
              <a:rPr lang="en-US" sz="1300" dirty="0">
                <a:solidFill>
                  <a:srgbClr val="C9D3E3"/>
                </a:solidFill>
                <a:latin typeface="JetBrains Mono" pitchFamily="49" charset="0"/>
                <a:ea typeface="JetBrains Mono" pitchFamily="49" charset="-122"/>
                <a:cs typeface="JetBrains Mono" pitchFamily="49" charset="-120"/>
              </a:rPr>
              <a:t>/docs → live API reference</a:t>
            </a:r>
            <a:endParaRPr lang="en-US" sz="1300" dirty="0">
              <a:latin typeface="JetBrains Mono" charset="0"/>
              <a:ea typeface="JetBrains Mono" charset="0"/>
              <a:cs typeface="JetBrains Mono" charset="0"/>
            </a:endParaRPr>
          </a:p>
        </p:txBody>
      </p:sp>
      <p:sp>
        <p:nvSpPr>
          <p:cNvPr id="6" name="Text 4"/>
          <p:cNvSpPr/>
          <p:nvPr/>
        </p:nvSpPr>
        <p:spPr>
          <a:xfrm>
            <a:off x="812800" y="62204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4C8"/>
                </a:solidFill>
                <a:latin typeface="IBM Plex Sans" pitchFamily="34" charset="0"/>
                <a:ea typeface="IBM Plex Sans" pitchFamily="34" charset="-122"/>
                <a:cs typeface="IBM Plex Sans" pitchFamily="34" charset="-120"/>
              </a:rPr>
              <a:t>[Student name] · [Roll no.] · [Institute]</a:t>
            </a:r>
            <a:endParaRPr lang="en-US" sz="1300" dirty="0">
              <a:latin typeface="IBM Plex Sans" charset="0"/>
              <a:ea typeface="IBM Plex Sans" charset="0"/>
              <a:cs typeface="IBM Plex Sans" charset="0"/>
            </a:endParaRPr>
          </a:p>
        </p:txBody>
      </p:sp>
    </p:spTree>
  </p:cSld>
  <p:clrMapOvr>
    <a:masterClrMapping/>
  </p:clrMapOvr>
</p:sld>
</file>

<file path=ppt/theme/theme1.xml><?xml version="1.0" encoding="utf-8"?>
<a:theme xmlns:a="http://schemas.openxmlformats.org/drawingml/2006/main" name="CloudLens: DevOps Dashboard for Resource and Cost Monitoring">
  <a:themeElements>
    <a:clrScheme name="CloudLens: DevOps Dashboard for Resource and Cost Monitoring">
      <a:dk1>
        <a:srgbClr val="0F172A"/>
      </a:dk1>
      <a:lt1>
        <a:srgbClr val="F4F6FA"/>
      </a:lt1>
      <a:dk2>
        <a:srgbClr val="484F5E"/>
      </a:dk2>
      <a:lt2>
        <a:srgbClr val="DDE0E5"/>
      </a:lt2>
      <a:accent1>
        <a:srgbClr val="1D5FD6"/>
      </a:accent1>
      <a:accent2>
        <a:srgbClr val="5B9BFF"/>
      </a:accent2>
      <a:accent3>
        <a:srgbClr val="174CAE"/>
      </a:accent3>
      <a:accent4>
        <a:srgbClr val="34D399"/>
      </a:accent4>
      <a:accent5>
        <a:srgbClr val="F5A524"/>
      </a:accent5>
      <a:accent6>
        <a:srgbClr val="7DB2FF"/>
      </a:accent6>
      <a:hlink>
        <a:srgbClr val="0563C1"/>
      </a:hlink>
      <a:folHlink>
        <a:srgbClr val="954F72"/>
      </a:folHlink>
    </a:clrScheme>
    <a:fontScheme name="CloudLens: DevOps Dashboard for Resource and Cost Monitor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CloudLens: DevOps Dashboard for Resource and Cost Monitoring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2026-10-31T11:37:01Z</dcterms:created>
  <dcterms:modified xsi:type="dcterms:W3CDTF">2026-10-31T11:37:01Z</dcterms:modified>
</cp:coreProperties>
</file>