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72" r:id="rId25"/>
    <p:sldId id="273" r:id="rId26"/>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embeddedFontLst>
    <p:embeddedFont>
      <p:font typeface="JetBrains Mono" panose="02000009000000000000" pitchFamily="49" charset="0"/>
      <p:regular r:id="rId23"/>
      <p:bold r:id="rId24"/>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11.xml"/><Relationship Id="rId11" Type="http://schemas.openxmlformats.org/officeDocument/2006/relationships/slide" Target="slides/slide12.xml"/><Relationship Id="rId12" Type="http://schemas.openxmlformats.org/officeDocument/2006/relationships/slide" Target="slides/slide13.xml"/><Relationship Id="rId13" Type="http://schemas.openxmlformats.org/officeDocument/2006/relationships/slide" Target="slides/slide14.xml"/><Relationship Id="rId14" Type="http://schemas.openxmlformats.org/officeDocument/2006/relationships/slide" Target="slides/slide15.xml"/><Relationship Id="rId15" Type="http://schemas.openxmlformats.org/officeDocument/2006/relationships/slide" Target="slides/slide16.xml"/><Relationship Id="rId16" Type="http://schemas.openxmlformats.org/officeDocument/2006/relationships/slide" Target="slides/slide17.xml"/><Relationship Id="rId17" Type="http://schemas.openxmlformats.org/officeDocument/2006/relationships/slide" Target="slides/slide18.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font" Target="fonts/font1.fntdata"/><Relationship Id="rId24" Type="http://schemas.openxmlformats.org/officeDocument/2006/relationships/font" Target="fonts/font2.fntdata"/><Relationship Id="rId25" Type="http://schemas.openxmlformats.org/officeDocument/2006/relationships/slide" Target="slides/slide9.xml"/><Relationship Id="rId26"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I’m presenting CloudLens, a centralised dashboard that brings cost and utilisation data from AWS, Azure and GCP into one place, analyses it, and alerts the team on Slack or Teams when something goes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DevOps teams on several clouds face three issues: the data is fragmented, problems are discovered late, and waste stays hidden because cost isn’t linked to utilisation. The project brief asks for one dashboard that solves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four goals from the brief. Each one maps to a working feature I’ll show in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container holds the scheduler, connectors, ingestion, analytics, alert engine and the REST API. PostgreSQL stores history. The React app is served by nginx. Prometheus scrapes the backend’s metrics, Alertmanager routes alerts back to a webhook, and the notifier posts to Slack and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PostgreSQL rather than MongoDB, because cost data is tabular: provider by account by day by service. Unique constraints make every sync idempotent, and composite indexes keep trend queries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key design decision: one grain for every provider, which is provider, account, day, service, environment, region and resource. Note that GCP’s Cloud Billing API does not return daily cost lines, so we read the BigQuery billing export, which is Google’s supported source. Each cloud has a Mock or Live mode on the Cloud Accounts screen, and each Live connection sets the environment of everything it reads.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screen approved at the design stage. Filters for provider, environment, resource type and date range sit at the top and are shared with the other screens. Theme and currency are set in Settings; the signed-in user and Logout stay at the top right of every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screen shares one date-range picker. Presets are computed from the server’s today, so nothing is hard-coded. Future days are disabled, and the API rejects future, reversed or over-long ranges with a readable 422 as well. A partial month is compared on daily run rate rather than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Users never edit Prometheus files. The engine evaluates each rule every minute and exports one gauge per rule; a single Prometheus rule turns breached gauges into alerts. Alertmanager handles grouping, repeats and resolved notifications, and calls our webhook, which posts to Slack and Teams. If the backend itself is down, that alert goes straight to Slack.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rule picks a metric, an operator and threshold, an optional provider, environment or type scope, a severity, and a channel: Slack, Teams, both, or the default from Settings. A new rule is evaluated immediately so you see its state at once. Viewers can see rules but not change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Cost optimisation is ten percent of the marks, so two angles. For the clouds we monitor: the recommendations engine compares each resource’s 30-day cost with its 7-day utilisation. On the demo data the biggest item is an idle GPU training VM. For our own platform: Cost Explorer charges a cent per request, so we never poll it every minute; the daily sync re-reads three days, today’s cost refreshes at most every six hours per Live connection, and every run records its API calls. That is about five requests a day, or a dollar fifty a month per AWS account. The whole stack runs on one small instance for about 21 dollars a month.</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unit tests we ran the real Prometheus 2.55 and Alertmanager 0.27 binaries against the backend. Injecting a spike fired four rules and delivered eight messages; clearing it produced resolved messages. The pinned requirements were also tested in a clean virtual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docker-compose file runs locally and on EC2. The create script makes the security group, an IAM role with a read-only Cost Explorer, EC2, RDS and CloudWatch policy, and the instance. The deploy script syncs the code, uploads the staging env file, builds and waits for the health check. Prometheus and Alertmanager stay on localhost and are reached through an SSH tunnel.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Before the viva: docker compose up, open the dashboard, the mock inbox at /mock-inbox/ and Prometheus alerts in separate tabs. For step 5 use Cloud Accounts, AWS, times 2.5, one day ago. Clear the spike afterwards to show resolved messages. For step 6, show the form and a failed test only; never type real keys on a projected screen.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summarise: all four goals are met, the system is tested end to end, and it is cheap to run. The roadmap starts with migrations and HTTPS before any production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Likely questions: why PostgreSQL over MongoDB; why not Grafana; how GCP costs are fetched without a cost API; how duplicate alerts are avoided; what happens when a provider’s credentials are missing (that provider is skipped, the others continue); how credentials are protected; why mock and real data are kept separately.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brief asks for real cloud data, but a demo needs to run with no account, so every cloud starts on Mock and nothing about Live is kept in the env file. Going Live, each environment gets its own cloud account, and everything from that account appears under that environment on the Dashboard, Cost Explorer, Resources and Reports. Environments without a configuration show no data rather than mixing simulated figures into a Live cloud. Every row records whether it is mock or live, so switching is instant and loses nothing. Because totals can still combine a Live cloud with a Mock one, data screens label each cloud and warn. This screenshot uses simulated AWS accounts.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connect a real account, an admin chooses the environment, fills in the form and clicks Test connection. Each permission is checked separately, so one test shows everything to fix, with a plain-language next step. The server stores a keyed hash of the values that passed, so it refuses to save or activate anything else, even if someone bypasses the screen. It also refuses an account already used by another environment, because its cost would count twice. Secrets are encrypted and the API never returns them. Testing covered two simulated AWS accounts plus a real rejected login at Microsoft; connecting a real account with real billing data still needs real credentials.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4F6FA"/>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7720"/>
            <a:ext cx="10566400" cy="502890"/>
          </a:xfrm>
          <a:prstGeom prst="rect">
            <a:avLst/>
          </a:prstGeom>
          <a:noFill/>
          <a:ln/>
        </p:spPr>
        <p:txBody>
          <a:bodyPr wrap="square" lIns="0" tIns="0" rIns="0" bIns="0" rtlCol="0" anchor="t"/>
          <a:lstStyle>
            <a:lvl1pPr algn="l" indent="0" marL="0">
              <a:lnSpc>
                <a:spcPct val="115000"/>
              </a:lnSpc>
              <a:buNone/>
              <a:defRPr lang="en-US" sz="3600" dirty="0">
                <a:solidFill>
                  <a:srgbClr val="0F172A"/>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600" dirty="0">
              <a:latin typeface="IBM Plex Sans" charset="0"/>
              <a:ea typeface="IBM Plex Sans" charset="0"/>
              <a:cs typeface="IBM Plex Sans" charset="0"/>
            </a:endParaRPr>
          </a:p>
        </p:txBody>
      </p:sp>
      <p:sp>
        <p:nvSpPr>
          <p:cNvPr id="3" name="Text Placeholder 2"/>
          <p:cNvSpPr/>
          <p:nvPr>
            <p:ph idx="101" type="body"/>
          </p:nvPr>
        </p:nvSpPr>
        <p:spPr>
          <a:xfrm>
            <a:off x="812800" y="1935411"/>
            <a:ext cx="10566400" cy="4109789"/>
          </a:xfrm>
          <a:prstGeom prst="rect">
            <a:avLst/>
          </a:prstGeom>
          <a:noFill/>
          <a:ln/>
        </p:spPr>
        <p:txBody>
          <a:bodyPr wrap="square" lIns="0" tIns="0" rIns="0" bIns="0" rtlCol="0" anchor="t"/>
          <a:lstStyle>
            <a:lvl1pPr algn="l" indent="0" marL="0">
              <a:lnSpc>
                <a:spcPct val="140000"/>
              </a:lnSpc>
              <a:buNone/>
              <a:defRPr lang="en-US" sz="1600" dirty="0">
                <a:solidFill>
                  <a:srgbClr val="0F172A"/>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latin typeface="IBM Plex Sans" charset="0"/>
              <a:ea typeface="IBM Plex Sans" charset="0"/>
              <a:cs typeface="IBM Plex Sans" charset="0"/>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4F6FA"/>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7720"/>
            <a:ext cx="10566400" cy="502890"/>
          </a:xfrm>
          <a:prstGeom prst="rect">
            <a:avLst/>
          </a:prstGeom>
          <a:noFill/>
          <a:ln/>
        </p:spPr>
        <p:txBody>
          <a:bodyPr wrap="square" lIns="0" tIns="0" rIns="0" bIns="0" rtlCol="0" anchor="t"/>
          <a:lstStyle>
            <a:lvl1pPr algn="l" indent="0" marL="0">
              <a:lnSpc>
                <a:spcPct val="115000"/>
              </a:lnSpc>
              <a:buNone/>
              <a:defRPr lang="en-US" sz="3600" dirty="0">
                <a:solidFill>
                  <a:srgbClr val="0F172A"/>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600" dirty="0">
              <a:latin typeface="IBM Plex Sans" charset="0"/>
              <a:ea typeface="IBM Plex Sans" charset="0"/>
              <a:cs typeface="IBM Plex Sans" charset="0"/>
            </a:endParaRPr>
          </a:p>
        </p:txBody>
      </p:sp>
      <p:sp>
        <p:nvSpPr>
          <p:cNvPr id="3" name="Text Placeholder 2"/>
          <p:cNvSpPr/>
          <p:nvPr>
            <p:ph idx="101" type="body"/>
          </p:nvPr>
        </p:nvSpPr>
        <p:spPr>
          <a:xfrm>
            <a:off x="812800" y="1935411"/>
            <a:ext cx="10566400" cy="4109789"/>
          </a:xfrm>
          <a:prstGeom prst="rect">
            <a:avLst/>
          </a:prstGeom>
          <a:noFill/>
          <a:ln/>
        </p:spPr>
        <p:txBody>
          <a:bodyPr wrap="square" lIns="0" tIns="0" rIns="0" bIns="0" rtlCol="0" anchor="t"/>
          <a:lstStyle>
            <a:lvl1pPr algn="l" indent="0" marL="0">
              <a:lnSpc>
                <a:spcPct val="140000"/>
              </a:lnSpc>
              <a:buNone/>
              <a:defRPr lang="en-US" sz="1600" dirty="0">
                <a:solidFill>
                  <a:srgbClr val="0F172A"/>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latin typeface="IBM Plex Sans" charset="0"/>
              <a:ea typeface="IBM Plex Sans" charset="0"/>
              <a:cs typeface="IBM Plex Sans" charset="0"/>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2.xml"/><Relationship Id="rId3" Type="http://schemas.openxmlformats.org/officeDocument/2006/relationships/notesSlide" Target="../notesSlides/notesSlide7.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2.xml"/><Relationship Id="rId3" Type="http://schemas.openxmlformats.org/officeDocument/2006/relationships/notesSlide" Target="../notesSlides/notesSlide8.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2.xml"/><Relationship Id="rId3" Type="http://schemas.openxmlformats.org/officeDocument/2006/relationships/image" Target="../media/image1.png"/><Relationship Id="rId4" Type="http://schemas.openxmlformats.org/officeDocument/2006/relationships/notesSlide" Target="../notesSlides/notesSlide17.xml"/></Relationships>
</file>

<file path=ppt/slides/_rels/slide10.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2.xml"/><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1.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2.xml"/><Relationship Id="rId3" Type="http://schemas.openxmlformats.org/officeDocument/2006/relationships/notesSlide" Target="../notesSlides/notesSlide10.xml"/><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812800" y="1893590"/>
            <a:ext cx="10883392" cy="274290"/>
          </a:xfrm>
          <a:prstGeom prst="rect">
            <a:avLst/>
          </a:prstGeom>
          <a:noFill/>
          <a:ln/>
        </p:spPr>
        <p:txBody>
          <a:bodyPr wrap="square" lIns="0" tIns="0" rIns="0" bIns="0" rtlCol="0" anchor="t">
            <a:normAutofit/>
          </a:bodyPr>
          <a:lstStyle/>
          <a:p>
            <a:pPr algn="l" indent="0" marL="0">
              <a:lnSpc>
                <a:spcPts val="1960"/>
              </a:lnSpc>
              <a:buNone/>
            </a:pPr>
            <a:r>
              <a:rPr lang="en-US" sz="1400" spc="200" kern="0" dirty="0">
                <a:solidFill>
                  <a:srgbClr val="5B9BFF"/>
                </a:solidFill>
                <a:latin typeface="JetBrains Mono" pitchFamily="49" charset="0"/>
                <a:ea typeface="JetBrains Mono" pitchFamily="49" charset="-122"/>
                <a:cs typeface="JetBrains Mono" pitchFamily="49" charset="-120"/>
              </a:rPr>
              <a:t>CAPSTONE PROJECT · VIVA</a:t>
            </a:r>
            <a:endParaRPr lang="en-US" sz="1400" dirty="0">
              <a:latin typeface="JetBrains Mono" charset="0"/>
              <a:ea typeface="JetBrains Mono" charset="0"/>
              <a:cs typeface="JetBrains Mono" charset="0"/>
            </a:endParaRPr>
          </a:p>
        </p:txBody>
      </p:sp>
      <p:sp>
        <p:nvSpPr>
          <p:cNvPr id="3" name="Text 1"/>
          <p:cNvSpPr/>
          <p:nvPr>
            <p:ph type="title"/>
          </p:nvPr>
        </p:nvSpPr>
        <p:spPr>
          <a:xfrm>
            <a:off x="812800" y="2371080"/>
            <a:ext cx="10883392" cy="977900"/>
          </a:xfrm>
          <a:prstGeom prst="rect">
            <a:avLst/>
          </a:prstGeom>
          <a:noFill/>
          <a:ln/>
        </p:spPr>
        <p:txBody>
          <a:bodyPr wrap="square" lIns="0" tIns="0" rIns="0" bIns="0" rtlCol="0" anchor="t">
            <a:normAutofit/>
          </a:bodyPr>
          <a:lstStyle/>
          <a:p>
            <a:pPr algn="l" indent="0" marL="0">
              <a:lnSpc>
                <a:spcPts val="7500"/>
              </a:lnSpc>
              <a:buNone/>
            </a:pPr>
            <a:r>
              <a:rPr lang="en-US" sz="7500" b="1" i="0" spc="-150" kern="0" dirty="0">
                <a:solidFill>
                  <a:srgbClr val="E8ECF4"/>
                </a:solidFill>
                <a:latin typeface="IBM Plex Sans" pitchFamily="34" charset="0"/>
                <a:ea typeface="IBM Plex Sans" pitchFamily="34" charset="-122"/>
                <a:cs typeface="IBM Plex Sans" pitchFamily="34" charset="-120"/>
              </a:rPr>
              <a:t>CloudLens</a:t>
            </a:r>
            <a:endParaRPr lang="en-US" sz="7500" dirty="0">
              <a:latin typeface="IBM Plex Sans" charset="0"/>
              <a:ea typeface="IBM Plex Sans" charset="0"/>
              <a:cs typeface="IBM Plex Sans" charset="0"/>
            </a:endParaRPr>
          </a:p>
        </p:txBody>
      </p:sp>
      <p:sp>
        <p:nvSpPr>
          <p:cNvPr id="4" name="Text 2"/>
          <p:cNvSpPr/>
          <p:nvPr/>
        </p:nvSpPr>
        <p:spPr>
          <a:xfrm>
            <a:off x="812800" y="3552180"/>
            <a:ext cx="8502650" cy="850900"/>
          </a:xfrm>
          <a:prstGeom prst="rect">
            <a:avLst/>
          </a:prstGeom>
          <a:noFill/>
          <a:ln/>
        </p:spPr>
        <p:txBody>
          <a:bodyPr wrap="square" lIns="0" tIns="0" rIns="0" bIns="0" rtlCol="0" anchor="t">
            <a:normAutofit/>
          </a:bodyPr>
          <a:lstStyle/>
          <a:p>
            <a:pPr algn="l" indent="0" marL="0">
              <a:lnSpc>
                <a:spcPts val="3250"/>
              </a:lnSpc>
              <a:buNone/>
            </a:pPr>
            <a:r>
              <a:rPr lang="en-US" sz="2600" dirty="0">
                <a:solidFill>
                  <a:srgbClr val="C9D3E3"/>
                </a:solidFill>
                <a:latin typeface="IBM Plex Sans" pitchFamily="34" charset="0"/>
                <a:ea typeface="IBM Plex Sans" pitchFamily="34" charset="-122"/>
                <a:cs typeface="IBM Plex Sans" pitchFamily="34" charset="-120"/>
              </a:rPr>
              <a:t>DevOps dashboard for resource and cost monitoring across AWS, Azure and GCP</a:t>
            </a:r>
            <a:endParaRPr lang="en-US" sz="2600" dirty="0">
              <a:latin typeface="IBM Plex Sans" charset="0"/>
              <a:ea typeface="IBM Plex Sans" charset="0"/>
              <a:cs typeface="IBM Plex Sans" charset="0"/>
            </a:endParaRPr>
          </a:p>
        </p:txBody>
      </p:sp>
      <p:sp>
        <p:nvSpPr>
          <p:cNvPr id="5" name="Text 3"/>
          <p:cNvSpPr/>
          <p:nvPr/>
        </p:nvSpPr>
        <p:spPr>
          <a:xfrm>
            <a:off x="812800" y="4606280"/>
            <a:ext cx="627608" cy="358130"/>
          </a:xfrm>
          <a:prstGeom prst="roundRect">
            <a:avLst>
              <a:gd name="adj" fmla="val 50000"/>
            </a:avLst>
          </a:prstGeom>
          <a:solidFill>
            <a:srgbClr val="2A2416"/>
          </a:solidFill>
          <a:ln/>
        </p:spPr>
        <p:txBody>
          <a:bodyPr wrap="none" lIns="0" tIns="0" rIns="0" bIns="0" rtlCol="0" anchor="ctr">
            <a:normAutofit/>
          </a:bodyPr>
          <a:lstStyle/>
          <a:p>
            <a:pPr algn="ctr" indent="0" marL="0">
              <a:lnSpc>
                <a:spcPts val="1820"/>
              </a:lnSpc>
              <a:buNone/>
            </a:pPr>
            <a:r>
              <a:rPr lang="en-US" sz="1300" dirty="0">
                <a:solidFill>
                  <a:srgbClr val="F5A524"/>
                </a:solidFill>
                <a:latin typeface="IBM Plex Sans" pitchFamily="34" charset="0"/>
                <a:ea typeface="IBM Plex Sans" pitchFamily="34" charset="-122"/>
                <a:cs typeface="IBM Plex Sans" pitchFamily="34" charset="-120"/>
              </a:rPr>
              <a:t>AWS</a:t>
            </a:r>
            <a:endParaRPr lang="en-US" sz="1300" dirty="0">
              <a:latin typeface="IBM Plex Sans" charset="0"/>
              <a:ea typeface="IBM Plex Sans" charset="0"/>
              <a:cs typeface="IBM Plex Sans" charset="0"/>
            </a:endParaRPr>
          </a:p>
        </p:txBody>
      </p:sp>
      <p:sp>
        <p:nvSpPr>
          <p:cNvPr id="6" name="Text 4"/>
          <p:cNvSpPr/>
          <p:nvPr/>
        </p:nvSpPr>
        <p:spPr>
          <a:xfrm>
            <a:off x="1542008" y="4606280"/>
            <a:ext cx="707678" cy="358130"/>
          </a:xfrm>
          <a:prstGeom prst="roundRect">
            <a:avLst>
              <a:gd name="adj" fmla="val 50000"/>
            </a:avLst>
          </a:prstGeom>
          <a:solidFill>
            <a:srgbClr val="16233A"/>
          </a:solidFill>
          <a:ln/>
        </p:spPr>
        <p:txBody>
          <a:bodyPr wrap="none" lIns="0" tIns="0" rIns="0" bIns="0" rtlCol="0" anchor="ctr">
            <a:normAutofit/>
          </a:bodyPr>
          <a:lstStyle/>
          <a:p>
            <a:pPr algn="ctr" indent="0" marL="0">
              <a:lnSpc>
                <a:spcPts val="1820"/>
              </a:lnSpc>
              <a:buNone/>
            </a:pPr>
            <a:r>
              <a:rPr lang="en-US" sz="1300" dirty="0">
                <a:solidFill>
                  <a:srgbClr val="7DB2FF"/>
                </a:solidFill>
                <a:latin typeface="IBM Plex Sans" pitchFamily="34" charset="0"/>
                <a:ea typeface="IBM Plex Sans" pitchFamily="34" charset="-122"/>
                <a:cs typeface="IBM Plex Sans" pitchFamily="34" charset="-120"/>
              </a:rPr>
              <a:t>Azure</a:t>
            </a:r>
            <a:endParaRPr lang="en-US" sz="1300" dirty="0">
              <a:latin typeface="IBM Plex Sans" charset="0"/>
              <a:ea typeface="IBM Plex Sans" charset="0"/>
              <a:cs typeface="IBM Plex Sans" charset="0"/>
            </a:endParaRPr>
          </a:p>
        </p:txBody>
      </p:sp>
      <p:sp>
        <p:nvSpPr>
          <p:cNvPr id="7" name="Text 5"/>
          <p:cNvSpPr/>
          <p:nvPr/>
        </p:nvSpPr>
        <p:spPr>
          <a:xfrm>
            <a:off x="2351286" y="4606280"/>
            <a:ext cx="596751" cy="358130"/>
          </a:xfrm>
          <a:prstGeom prst="roundRect">
            <a:avLst>
              <a:gd name="adj" fmla="val 50000"/>
            </a:avLst>
          </a:prstGeom>
          <a:solidFill>
            <a:srgbClr val="12291F"/>
          </a:solidFill>
          <a:ln/>
        </p:spPr>
        <p:txBody>
          <a:bodyPr wrap="none" lIns="0" tIns="0" rIns="0" bIns="0" rtlCol="0" anchor="ctr">
            <a:normAutofit/>
          </a:bodyPr>
          <a:lstStyle/>
          <a:p>
            <a:pPr algn="ctr" indent="0" marL="0">
              <a:lnSpc>
                <a:spcPts val="1820"/>
              </a:lnSpc>
              <a:buNone/>
            </a:pPr>
            <a:r>
              <a:rPr lang="en-US" sz="1300" dirty="0">
                <a:solidFill>
                  <a:srgbClr val="34D399"/>
                </a:solidFill>
                <a:latin typeface="IBM Plex Sans" pitchFamily="34" charset="0"/>
                <a:ea typeface="IBM Plex Sans" pitchFamily="34" charset="-122"/>
                <a:cs typeface="IBM Plex Sans" pitchFamily="34" charset="-120"/>
              </a:rPr>
              <a:t>GCP</a:t>
            </a:r>
            <a:endParaRPr lang="en-US" sz="1300" dirty="0">
              <a:latin typeface="IBM Plex Sans" charset="0"/>
              <a:ea typeface="IBM Plex Sans" charset="0"/>
              <a:cs typeface="IBM Plex Sans" charset="0"/>
            </a:endParaRPr>
          </a:p>
        </p:txBody>
      </p:sp>
      <p:sp>
        <p:nvSpPr>
          <p:cNvPr id="8" name="Text 6"/>
          <p:cNvSpPr/>
          <p:nvPr/>
        </p:nvSpPr>
        <p:spPr>
          <a:xfrm>
            <a:off x="3049637" y="4606280"/>
            <a:ext cx="4093220" cy="358130"/>
          </a:xfrm>
          <a:prstGeom prst="roundRect">
            <a:avLst>
              <a:gd name="adj" fmla="val 50000"/>
            </a:avLst>
          </a:prstGeom>
          <a:solidFill>
            <a:srgbClr val="1A2335"/>
          </a:solidFill>
          <a:ln/>
        </p:spPr>
        <p:txBody>
          <a:bodyPr wrap="none" lIns="0" tIns="0" rIns="0" bIns="0" rtlCol="0" anchor="ctr">
            <a:normAutofit/>
          </a:bodyPr>
          <a:lstStyle/>
          <a:p>
            <a:pPr algn="ctr" indent="0" marL="0">
              <a:lnSpc>
                <a:spcPts val="1820"/>
              </a:lnSpc>
              <a:buNone/>
            </a:pPr>
            <a:r>
              <a:rPr lang="en-US" sz="1300" dirty="0">
                <a:solidFill>
                  <a:srgbClr val="C9D3E3"/>
                </a:solidFill>
                <a:latin typeface="IBM Plex Sans" pitchFamily="34" charset="0"/>
                <a:ea typeface="IBM Plex Sans" pitchFamily="34" charset="-122"/>
                <a:cs typeface="IBM Plex Sans" pitchFamily="34" charset="-120"/>
              </a:rPr>
              <a:t>FastAPI · PostgreSQL · React · Prometheus · Docker</a:t>
            </a:r>
            <a:endParaRPr lang="en-US" sz="1300" dirty="0">
              <a:latin typeface="IBM Plex Sans" charset="0"/>
              <a:ea typeface="IBM Plex Sans" charset="0"/>
              <a:cs typeface="IBM Plex Sans" charset="0"/>
            </a:endParaRPr>
          </a:p>
        </p:txBody>
      </p:sp>
      <p:sp>
        <p:nvSpPr>
          <p:cNvPr id="9" name="Text 7"/>
          <p:cNvSpPr/>
          <p:nvPr/>
        </p:nvSpPr>
        <p:spPr>
          <a:xfrm>
            <a:off x="812800" y="622047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A9B4C8"/>
                </a:solidFill>
                <a:latin typeface="IBM Plex Sans" pitchFamily="34" charset="0"/>
                <a:ea typeface="IBM Plex Sans" pitchFamily="34" charset="-122"/>
                <a:cs typeface="IBM Plex Sans" pitchFamily="34" charset="-120"/>
              </a:rPr>
              <a:t>[Student name] · [Roll no.] · [Institute] · October 2026</a:t>
            </a:r>
            <a:endParaRPr lang="en-US" sz="1300" dirty="0">
              <a:latin typeface="IBM Plex Sans" charset="0"/>
              <a:ea typeface="IBM Plex Sans" charset="0"/>
              <a:cs typeface="IBM Plex Sans"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1D5FD6"/>
                </a:solidFill>
                <a:latin typeface="JetBrains Mono" pitchFamily="49" charset="0"/>
                <a:ea typeface="JetBrains Mono" pitchFamily="49" charset="-122"/>
                <a:cs typeface="JetBrains Mono" pitchFamily="49" charset="-120"/>
              </a:rPr>
              <a:t>PROBLEM STATEMENT</a:t>
            </a:r>
            <a:endParaRPr lang="en-US" sz="1200" dirty="0">
              <a:latin typeface="JetBrains Mono" charset="0"/>
              <a:ea typeface="JetBrains Mono" charset="0"/>
              <a:cs typeface="JetBrains Mono" charset="0"/>
            </a:endParaRPr>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F172A"/>
                </a:solidFill>
                <a:latin typeface="IBM Plex Sans" pitchFamily="34" charset="0"/>
                <a:ea typeface="IBM Plex Sans" pitchFamily="34" charset="-122"/>
                <a:cs typeface="IBM Plex Sans" pitchFamily="34" charset="-120"/>
              </a:rPr>
              <a:t>Three clouds, three consoles, no single picture</a:t>
            </a:r>
            <a:endParaRPr lang="en-US" sz="3600" dirty="0">
              <a:latin typeface="IBM Plex Sans" charset="0"/>
              <a:ea typeface="IBM Plex Sans" charset="0"/>
              <a:cs typeface="IBM Plex Sans" charset="0"/>
            </a:endParaRPr>
          </a:p>
        </p:txBody>
      </p:sp>
      <p:sp>
        <p:nvSpPr>
          <p:cNvPr id="4" name="Shape 2"/>
          <p:cNvSpPr/>
          <p:nvPr/>
        </p:nvSpPr>
        <p:spPr>
          <a:xfrm>
            <a:off x="815975" y="1938586"/>
            <a:ext cx="3380284" cy="2038350"/>
          </a:xfrm>
          <a:prstGeom prst="roundRect">
            <a:avLst>
              <a:gd name="adj" fmla="val 6075"/>
            </a:avLst>
          </a:prstGeom>
          <a:solidFill>
            <a:srgbClr val="FFFFFF"/>
          </a:solidFill>
          <a:ln w="6350">
            <a:solidFill>
              <a:srgbClr val="DCE2EB"/>
            </a:solidFill>
            <a:prstDash val="solid"/>
          </a:ln>
        </p:spPr>
        <p:txBody>
          <a:bodyPr/>
          <a:p/>
        </p:txBody>
      </p:sp>
      <p:sp>
        <p:nvSpPr>
          <p:cNvPr id="5" name="Text 3"/>
          <p:cNvSpPr/>
          <p:nvPr/>
        </p:nvSpPr>
        <p:spPr>
          <a:xfrm>
            <a:off x="1098550" y="2221161"/>
            <a:ext cx="289958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72A"/>
                </a:solidFill>
                <a:latin typeface="IBM Plex Sans" pitchFamily="34" charset="0"/>
                <a:ea typeface="IBM Plex Sans" pitchFamily="34" charset="-122"/>
                <a:cs typeface="IBM Plex Sans" pitchFamily="34" charset="-120"/>
              </a:rPr>
              <a:t>Fragmented data</a:t>
            </a:r>
            <a:endParaRPr lang="en-US" sz="2000" dirty="0">
              <a:latin typeface="IBM Plex Sans" charset="0"/>
              <a:ea typeface="IBM Plex Sans" charset="0"/>
              <a:cs typeface="IBM Plex Sans" charset="0"/>
            </a:endParaRPr>
          </a:p>
        </p:txBody>
      </p:sp>
      <p:sp>
        <p:nvSpPr>
          <p:cNvPr id="6" name="Text 4"/>
          <p:cNvSpPr/>
          <p:nvPr/>
        </p:nvSpPr>
        <p:spPr>
          <a:xfrm>
            <a:off x="1098550" y="2627561"/>
            <a:ext cx="2899588"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468"/>
                </a:solidFill>
                <a:latin typeface="IBM Plex Sans" pitchFamily="34" charset="0"/>
                <a:ea typeface="IBM Plex Sans" pitchFamily="34" charset="-122"/>
                <a:cs typeface="IBM Plex Sans" pitchFamily="34" charset="-120"/>
              </a:rPr>
              <a:t>Each provider names services, tags and regions differently, so costs can’t be compared directly.</a:t>
            </a:r>
            <a:endParaRPr lang="en-US" sz="1500" dirty="0">
              <a:latin typeface="IBM Plex Sans" charset="0"/>
              <a:ea typeface="IBM Plex Sans" charset="0"/>
              <a:cs typeface="IBM Plex Sans" charset="0"/>
            </a:endParaRPr>
          </a:p>
        </p:txBody>
      </p:sp>
      <p:sp>
        <p:nvSpPr>
          <p:cNvPr id="7" name="Shape 5"/>
          <p:cNvSpPr/>
          <p:nvPr/>
        </p:nvSpPr>
        <p:spPr>
          <a:xfrm>
            <a:off x="4405809" y="1938586"/>
            <a:ext cx="3380333" cy="2038350"/>
          </a:xfrm>
          <a:prstGeom prst="roundRect">
            <a:avLst>
              <a:gd name="adj" fmla="val 6075"/>
            </a:avLst>
          </a:prstGeom>
          <a:solidFill>
            <a:srgbClr val="FFFFFF"/>
          </a:solidFill>
          <a:ln w="6350">
            <a:solidFill>
              <a:srgbClr val="DCE2EB"/>
            </a:solidFill>
            <a:prstDash val="solid"/>
          </a:ln>
        </p:spPr>
        <p:txBody>
          <a:bodyPr/>
          <a:p/>
        </p:txBody>
      </p:sp>
      <p:sp>
        <p:nvSpPr>
          <p:cNvPr id="8" name="Text 6"/>
          <p:cNvSpPr/>
          <p:nvPr/>
        </p:nvSpPr>
        <p:spPr>
          <a:xfrm>
            <a:off x="4688384" y="2221161"/>
            <a:ext cx="289963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72A"/>
                </a:solidFill>
                <a:latin typeface="IBM Plex Sans" pitchFamily="34" charset="0"/>
                <a:ea typeface="IBM Plex Sans" pitchFamily="34" charset="-122"/>
                <a:cs typeface="IBM Plex Sans" pitchFamily="34" charset="-120"/>
              </a:rPr>
              <a:t>Late surprises</a:t>
            </a:r>
            <a:endParaRPr lang="en-US" sz="2000" dirty="0">
              <a:latin typeface="IBM Plex Sans" charset="0"/>
              <a:ea typeface="IBM Plex Sans" charset="0"/>
              <a:cs typeface="IBM Plex Sans" charset="0"/>
            </a:endParaRPr>
          </a:p>
        </p:txBody>
      </p:sp>
      <p:sp>
        <p:nvSpPr>
          <p:cNvPr id="9" name="Text 7"/>
          <p:cNvSpPr/>
          <p:nvPr/>
        </p:nvSpPr>
        <p:spPr>
          <a:xfrm>
            <a:off x="4688384" y="2627561"/>
            <a:ext cx="2899639"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468"/>
                </a:solidFill>
                <a:latin typeface="IBM Plex Sans" pitchFamily="34" charset="0"/>
                <a:ea typeface="IBM Plex Sans" pitchFamily="34" charset="-122"/>
                <a:cs typeface="IBM Plex Sans" pitchFamily="34" charset="-120"/>
              </a:rPr>
              <a:t>Runaway jobs and budget overruns are noticed on the invoice, weeks after the money is spent.</a:t>
            </a:r>
            <a:endParaRPr lang="en-US" sz="1500" dirty="0">
              <a:latin typeface="IBM Plex Sans" charset="0"/>
              <a:ea typeface="IBM Plex Sans" charset="0"/>
              <a:cs typeface="IBM Plex Sans" charset="0"/>
            </a:endParaRPr>
          </a:p>
        </p:txBody>
      </p:sp>
      <p:sp>
        <p:nvSpPr>
          <p:cNvPr id="10" name="Shape 8"/>
          <p:cNvSpPr/>
          <p:nvPr/>
        </p:nvSpPr>
        <p:spPr>
          <a:xfrm>
            <a:off x="7995692" y="1938586"/>
            <a:ext cx="3380284" cy="2038350"/>
          </a:xfrm>
          <a:prstGeom prst="roundRect">
            <a:avLst>
              <a:gd name="adj" fmla="val 6075"/>
            </a:avLst>
          </a:prstGeom>
          <a:solidFill>
            <a:srgbClr val="FFFFFF"/>
          </a:solidFill>
          <a:ln w="6350">
            <a:solidFill>
              <a:srgbClr val="DCE2EB"/>
            </a:solidFill>
            <a:prstDash val="solid"/>
          </a:ln>
        </p:spPr>
        <p:txBody>
          <a:bodyPr/>
          <a:p/>
        </p:txBody>
      </p:sp>
      <p:sp>
        <p:nvSpPr>
          <p:cNvPr id="11" name="Text 9"/>
          <p:cNvSpPr/>
          <p:nvPr/>
        </p:nvSpPr>
        <p:spPr>
          <a:xfrm>
            <a:off x="8278267" y="2221161"/>
            <a:ext cx="289958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72A"/>
                </a:solidFill>
                <a:latin typeface="IBM Plex Sans" pitchFamily="34" charset="0"/>
                <a:ea typeface="IBM Plex Sans" pitchFamily="34" charset="-122"/>
                <a:cs typeface="IBM Plex Sans" pitchFamily="34" charset="-120"/>
              </a:rPr>
              <a:t>Hidden waste</a:t>
            </a:r>
            <a:endParaRPr lang="en-US" sz="2000" dirty="0">
              <a:latin typeface="IBM Plex Sans" charset="0"/>
              <a:ea typeface="IBM Plex Sans" charset="0"/>
              <a:cs typeface="IBM Plex Sans" charset="0"/>
            </a:endParaRPr>
          </a:p>
        </p:txBody>
      </p:sp>
      <p:sp>
        <p:nvSpPr>
          <p:cNvPr id="12" name="Text 10"/>
          <p:cNvSpPr/>
          <p:nvPr/>
        </p:nvSpPr>
        <p:spPr>
          <a:xfrm>
            <a:off x="8278267" y="2627561"/>
            <a:ext cx="2899588"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468"/>
                </a:solidFill>
                <a:latin typeface="IBM Plex Sans" pitchFamily="34" charset="0"/>
                <a:ea typeface="IBM Plex Sans" pitchFamily="34" charset="-122"/>
                <a:cs typeface="IBM Plex Sans" pitchFamily="34" charset="-120"/>
              </a:rPr>
              <a:t>Idle and over-provisioned resources keep billing because nobody links cost to utilisation.</a:t>
            </a:r>
            <a:endParaRPr lang="en-US" sz="1500" dirty="0">
              <a:latin typeface="IBM Plex Sans" charset="0"/>
              <a:ea typeface="IBM Plex Sans" charset="0"/>
              <a:cs typeface="IBM Plex Sans" charset="0"/>
            </a:endParaRPr>
          </a:p>
        </p:txBody>
      </p:sp>
      <p:sp>
        <p:nvSpPr>
          <p:cNvPr id="13" name="Text 11"/>
          <p:cNvSpPr/>
          <p:nvPr/>
        </p:nvSpPr>
        <p:spPr>
          <a:xfrm>
            <a:off x="812800" y="4284911"/>
            <a:ext cx="9810750" cy="629841"/>
          </a:xfrm>
          <a:prstGeom prst="rect">
            <a:avLst/>
          </a:prstGeom>
          <a:noFill/>
          <a:ln/>
        </p:spPr>
        <p:txBody>
          <a:bodyPr wrap="square" lIns="0" tIns="0" rIns="0" bIns="0" rtlCol="0" anchor="t">
            <a:normAutofit/>
          </a:bodyPr>
          <a:lstStyle/>
          <a:p>
            <a:pPr algn="l" indent="0" marL="0">
              <a:lnSpc>
                <a:spcPts val="2380"/>
              </a:lnSpc>
              <a:buNone/>
            </a:pPr>
            <a:r>
              <a:rPr lang="en-US" sz="1700" dirty="0">
                <a:solidFill>
                  <a:srgbClr val="0F172A"/>
                </a:solidFill>
                <a:latin typeface="IBM Plex Sans" pitchFamily="34" charset="0"/>
                <a:ea typeface="IBM Plex Sans" pitchFamily="34" charset="-122"/>
                <a:cs typeface="IBM Plex Sans" pitchFamily="34" charset="-120"/>
              </a:rPr>
              <a:t>Goal: one centralised dashboard that aggregates all three clouds, tracks utilisation and cost trends, sets thresholds and alerts on anomalies.</a:t>
            </a:r>
            <a:endParaRPr lang="en-US" sz="1700" dirty="0">
              <a:latin typeface="IBM Plex Sans" charset="0"/>
              <a:ea typeface="IBM Plex Sans" charset="0"/>
              <a:cs typeface="IBM Plex Sans" charset="0"/>
            </a:endParaRPr>
          </a:p>
        </p:txBody>
      </p:sp>
      <p:sp>
        <p:nvSpPr>
          <p:cNvPr id="14" name="Text 1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468"/>
                </a:solidFill>
                <a:latin typeface="IBM Plex Sans" pitchFamily="34" charset="0"/>
                <a:ea typeface="IBM Plex Sans" pitchFamily="34" charset="-122"/>
                <a:cs typeface="IBM Plex Sans" pitchFamily="34" charset="-120"/>
              </a:rPr>
              <a:t>CloudLens · Capstone viva · 2</a:t>
            </a:r>
            <a:endParaRPr lang="en-US" sz="1200" dirty="0">
              <a:latin typeface="IBM Plex Sans" charset="0"/>
              <a:ea typeface="IBM Plex Sans" charset="0"/>
              <a:cs typeface="IBM Plex Sans"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1D5FD6"/>
                </a:solidFill>
                <a:latin typeface="JetBrains Mono" pitchFamily="49" charset="0"/>
                <a:ea typeface="JetBrains Mono" pitchFamily="49" charset="-122"/>
                <a:cs typeface="JetBrains Mono" pitchFamily="49" charset="-120"/>
              </a:rPr>
              <a:t>PROJECT GOALS</a:t>
            </a:r>
            <a:endParaRPr lang="en-US" sz="1200" dirty="0">
              <a:latin typeface="JetBrains Mono" charset="0"/>
              <a:ea typeface="JetBrains Mono" charset="0"/>
              <a:cs typeface="JetBrains Mono" charset="0"/>
            </a:endParaRPr>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F172A"/>
                </a:solidFill>
                <a:latin typeface="IBM Plex Sans" pitchFamily="34" charset="0"/>
                <a:ea typeface="IBM Plex Sans" pitchFamily="34" charset="-122"/>
                <a:cs typeface="IBM Plex Sans" pitchFamily="34" charset="-120"/>
              </a:rPr>
              <a:t>Four goals, all delivered</a:t>
            </a:r>
            <a:endParaRPr lang="en-US" sz="3600" dirty="0">
              <a:latin typeface="IBM Plex Sans" charset="0"/>
              <a:ea typeface="IBM Plex Sans" charset="0"/>
              <a:cs typeface="IBM Plex Sans" charset="0"/>
            </a:endParaRPr>
          </a:p>
        </p:txBody>
      </p:sp>
      <p:sp>
        <p:nvSpPr>
          <p:cNvPr id="4" name="Shape 2"/>
          <p:cNvSpPr/>
          <p:nvPr/>
        </p:nvSpPr>
        <p:spPr>
          <a:xfrm>
            <a:off x="815975" y="1938586"/>
            <a:ext cx="5187950" cy="1702941"/>
          </a:xfrm>
          <a:prstGeom prst="roundRect">
            <a:avLst>
              <a:gd name="adj" fmla="val 7271"/>
            </a:avLst>
          </a:prstGeom>
          <a:solidFill>
            <a:srgbClr val="FFFFFF"/>
          </a:solidFill>
          <a:ln w="6350">
            <a:solidFill>
              <a:srgbClr val="DCE2EB"/>
            </a:solidFill>
            <a:prstDash val="solid"/>
          </a:ln>
        </p:spPr>
        <p:txBody>
          <a:bodyPr/>
          <a:p/>
        </p:txBody>
      </p:sp>
      <p:sp>
        <p:nvSpPr>
          <p:cNvPr id="5" name="Text 3"/>
          <p:cNvSpPr/>
          <p:nvPr/>
        </p:nvSpPr>
        <p:spPr>
          <a:xfrm>
            <a:off x="1073150" y="2195761"/>
            <a:ext cx="4813808"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D5FD6"/>
                </a:solidFill>
                <a:latin typeface="JetBrains Mono" pitchFamily="49" charset="0"/>
                <a:ea typeface="JetBrains Mono" pitchFamily="49" charset="-122"/>
                <a:cs typeface="JetBrains Mono" pitchFamily="49" charset="-120"/>
              </a:rPr>
              <a:t>01</a:t>
            </a:r>
            <a:endParaRPr lang="en-US" sz="1400" dirty="0">
              <a:latin typeface="JetBrains Mono" charset="0"/>
              <a:ea typeface="JetBrains Mono" charset="0"/>
              <a:cs typeface="JetBrains Mono" charset="0"/>
            </a:endParaRPr>
          </a:p>
        </p:txBody>
      </p:sp>
      <p:sp>
        <p:nvSpPr>
          <p:cNvPr id="6" name="Text 4"/>
          <p:cNvSpPr/>
          <p:nvPr/>
        </p:nvSpPr>
        <p:spPr>
          <a:xfrm>
            <a:off x="1073150" y="2520851"/>
            <a:ext cx="4813808" cy="314920"/>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0F172A"/>
                </a:solidFill>
                <a:latin typeface="IBM Plex Sans" pitchFamily="34" charset="0"/>
                <a:ea typeface="IBM Plex Sans" pitchFamily="34" charset="-122"/>
                <a:cs typeface="IBM Plex Sans" pitchFamily="34" charset="-120"/>
              </a:rPr>
              <a:t>Aggregate AWS, Azure and GCP</a:t>
            </a:r>
            <a:endParaRPr lang="en-US" sz="1900" dirty="0">
              <a:latin typeface="IBM Plex Sans" charset="0"/>
              <a:ea typeface="IBM Plex Sans" charset="0"/>
              <a:cs typeface="IBM Plex Sans" charset="0"/>
            </a:endParaRPr>
          </a:p>
        </p:txBody>
      </p:sp>
      <p:sp>
        <p:nvSpPr>
          <p:cNvPr id="7" name="Text 5"/>
          <p:cNvSpPr/>
          <p:nvPr/>
        </p:nvSpPr>
        <p:spPr>
          <a:xfrm>
            <a:off x="1073150" y="2886571"/>
            <a:ext cx="4927600"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468"/>
                </a:solidFill>
                <a:latin typeface="IBM Plex Sans" pitchFamily="34" charset="0"/>
                <a:ea typeface="IBM Plex Sans" pitchFamily="34" charset="-122"/>
                <a:cs typeface="IBM Plex Sans" pitchFamily="34" charset="-120"/>
              </a:rPr>
              <a:t>Three connectors plus a mock mode, one unified schema</a:t>
            </a:r>
            <a:endParaRPr lang="en-US" sz="1400" dirty="0">
              <a:latin typeface="IBM Plex Sans" charset="0"/>
              <a:ea typeface="IBM Plex Sans" charset="0"/>
              <a:cs typeface="IBM Plex Sans" charset="0"/>
            </a:endParaRPr>
          </a:p>
        </p:txBody>
      </p:sp>
      <p:sp>
        <p:nvSpPr>
          <p:cNvPr id="8" name="Shape 6"/>
          <p:cNvSpPr/>
          <p:nvPr/>
        </p:nvSpPr>
        <p:spPr>
          <a:xfrm>
            <a:off x="6188075" y="1938586"/>
            <a:ext cx="5187950" cy="1702941"/>
          </a:xfrm>
          <a:prstGeom prst="roundRect">
            <a:avLst>
              <a:gd name="adj" fmla="val 7271"/>
            </a:avLst>
          </a:prstGeom>
          <a:solidFill>
            <a:srgbClr val="FFFFFF"/>
          </a:solidFill>
          <a:ln w="6350">
            <a:solidFill>
              <a:srgbClr val="DCE2EB"/>
            </a:solidFill>
            <a:prstDash val="solid"/>
          </a:ln>
        </p:spPr>
        <p:txBody>
          <a:bodyPr/>
          <a:p/>
        </p:txBody>
      </p:sp>
      <p:sp>
        <p:nvSpPr>
          <p:cNvPr id="9" name="Text 7"/>
          <p:cNvSpPr/>
          <p:nvPr/>
        </p:nvSpPr>
        <p:spPr>
          <a:xfrm>
            <a:off x="6445250" y="2195761"/>
            <a:ext cx="4813808"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D5FD6"/>
                </a:solidFill>
                <a:latin typeface="JetBrains Mono" pitchFamily="49" charset="0"/>
                <a:ea typeface="JetBrains Mono" pitchFamily="49" charset="-122"/>
                <a:cs typeface="JetBrains Mono" pitchFamily="49" charset="-120"/>
              </a:rPr>
              <a:t>02</a:t>
            </a:r>
            <a:endParaRPr lang="en-US" sz="1400" dirty="0">
              <a:latin typeface="JetBrains Mono" charset="0"/>
              <a:ea typeface="JetBrains Mono" charset="0"/>
              <a:cs typeface="JetBrains Mono" charset="0"/>
            </a:endParaRPr>
          </a:p>
        </p:txBody>
      </p:sp>
      <p:sp>
        <p:nvSpPr>
          <p:cNvPr id="10" name="Text 8"/>
          <p:cNvSpPr/>
          <p:nvPr/>
        </p:nvSpPr>
        <p:spPr>
          <a:xfrm>
            <a:off x="6445250" y="2520851"/>
            <a:ext cx="4813808" cy="314920"/>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0F172A"/>
                </a:solidFill>
                <a:latin typeface="IBM Plex Sans" pitchFamily="34" charset="0"/>
                <a:ea typeface="IBM Plex Sans" pitchFamily="34" charset="-122"/>
                <a:cs typeface="IBM Plex Sans" pitchFamily="34" charset="-120"/>
              </a:rPr>
              <a:t>Real-time and historical views</a:t>
            </a:r>
            <a:endParaRPr lang="en-US" sz="1900" dirty="0">
              <a:latin typeface="IBM Plex Sans" charset="0"/>
              <a:ea typeface="IBM Plex Sans" charset="0"/>
              <a:cs typeface="IBM Plex Sans" charset="0"/>
            </a:endParaRPr>
          </a:p>
        </p:txBody>
      </p:sp>
      <p:sp>
        <p:nvSpPr>
          <p:cNvPr id="11" name="Text 9"/>
          <p:cNvSpPr/>
          <p:nvPr/>
        </p:nvSpPr>
        <p:spPr>
          <a:xfrm>
            <a:off x="6445250" y="2886571"/>
            <a:ext cx="4813808"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468"/>
                </a:solidFill>
                <a:latin typeface="IBM Plex Sans" pitchFamily="34" charset="0"/>
                <a:ea typeface="IBM Plex Sans" pitchFamily="34" charset="-122"/>
                <a:cs typeface="IBM Plex Sans" pitchFamily="34" charset="-120"/>
              </a:rPr>
              <a:t>5-minute utilisation, trends, month-over-month, anomalies</a:t>
            </a:r>
            <a:endParaRPr lang="en-US" sz="1400" dirty="0">
              <a:latin typeface="IBM Plex Sans" charset="0"/>
              <a:ea typeface="IBM Plex Sans" charset="0"/>
              <a:cs typeface="IBM Plex Sans" charset="0"/>
            </a:endParaRPr>
          </a:p>
        </p:txBody>
      </p:sp>
      <p:sp>
        <p:nvSpPr>
          <p:cNvPr id="12" name="Shape 10"/>
          <p:cNvSpPr/>
          <p:nvPr/>
        </p:nvSpPr>
        <p:spPr>
          <a:xfrm>
            <a:off x="815975" y="3825677"/>
            <a:ext cx="5187950" cy="1702941"/>
          </a:xfrm>
          <a:prstGeom prst="roundRect">
            <a:avLst>
              <a:gd name="adj" fmla="val 7271"/>
            </a:avLst>
          </a:prstGeom>
          <a:solidFill>
            <a:srgbClr val="FFFFFF"/>
          </a:solidFill>
          <a:ln w="6350">
            <a:solidFill>
              <a:srgbClr val="DCE2EB"/>
            </a:solidFill>
            <a:prstDash val="solid"/>
          </a:ln>
        </p:spPr>
        <p:txBody>
          <a:bodyPr/>
          <a:p/>
        </p:txBody>
      </p:sp>
      <p:sp>
        <p:nvSpPr>
          <p:cNvPr id="13" name="Text 11"/>
          <p:cNvSpPr/>
          <p:nvPr/>
        </p:nvSpPr>
        <p:spPr>
          <a:xfrm>
            <a:off x="1073150" y="4082852"/>
            <a:ext cx="4813808"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D5FD6"/>
                </a:solidFill>
                <a:latin typeface="JetBrains Mono" pitchFamily="49" charset="0"/>
                <a:ea typeface="JetBrains Mono" pitchFamily="49" charset="-122"/>
                <a:cs typeface="JetBrains Mono" pitchFamily="49" charset="-120"/>
              </a:rPr>
              <a:t>03</a:t>
            </a:r>
            <a:endParaRPr lang="en-US" sz="1400" dirty="0">
              <a:latin typeface="JetBrains Mono" charset="0"/>
              <a:ea typeface="JetBrains Mono" charset="0"/>
              <a:cs typeface="JetBrains Mono" charset="0"/>
            </a:endParaRPr>
          </a:p>
        </p:txBody>
      </p:sp>
      <p:sp>
        <p:nvSpPr>
          <p:cNvPr id="14" name="Text 12"/>
          <p:cNvSpPr/>
          <p:nvPr/>
        </p:nvSpPr>
        <p:spPr>
          <a:xfrm>
            <a:off x="1073150" y="4407942"/>
            <a:ext cx="4813808" cy="314920"/>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0F172A"/>
                </a:solidFill>
                <a:latin typeface="IBM Plex Sans" pitchFamily="34" charset="0"/>
                <a:ea typeface="IBM Plex Sans" pitchFamily="34" charset="-122"/>
                <a:cs typeface="IBM Plex Sans" pitchFamily="34" charset="-120"/>
              </a:rPr>
              <a:t>Customisable alerting</a:t>
            </a:r>
            <a:endParaRPr lang="en-US" sz="1900" dirty="0">
              <a:latin typeface="IBM Plex Sans" charset="0"/>
              <a:ea typeface="IBM Plex Sans" charset="0"/>
              <a:cs typeface="IBM Plex Sans" charset="0"/>
            </a:endParaRPr>
          </a:p>
        </p:txBody>
      </p:sp>
      <p:sp>
        <p:nvSpPr>
          <p:cNvPr id="15" name="Text 13"/>
          <p:cNvSpPr/>
          <p:nvPr/>
        </p:nvSpPr>
        <p:spPr>
          <a:xfrm>
            <a:off x="1073150" y="4773662"/>
            <a:ext cx="4813808"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468"/>
                </a:solidFill>
                <a:latin typeface="IBM Plex Sans" pitchFamily="34" charset="0"/>
                <a:ea typeface="IBM Plex Sans" pitchFamily="34" charset="-122"/>
                <a:cs typeface="IBM Plex Sans" pitchFamily="34" charset="-120"/>
              </a:rPr>
              <a:t>8 rule types via Prometheus Alertmanager to Slack and Teams</a:t>
            </a:r>
            <a:endParaRPr lang="en-US" sz="1400" dirty="0">
              <a:latin typeface="IBM Plex Sans" charset="0"/>
              <a:ea typeface="IBM Plex Sans" charset="0"/>
              <a:cs typeface="IBM Plex Sans" charset="0"/>
            </a:endParaRPr>
          </a:p>
        </p:txBody>
      </p:sp>
      <p:sp>
        <p:nvSpPr>
          <p:cNvPr id="16" name="Shape 14"/>
          <p:cNvSpPr/>
          <p:nvPr/>
        </p:nvSpPr>
        <p:spPr>
          <a:xfrm>
            <a:off x="6188075" y="3825677"/>
            <a:ext cx="5187950" cy="1702941"/>
          </a:xfrm>
          <a:prstGeom prst="roundRect">
            <a:avLst>
              <a:gd name="adj" fmla="val 7271"/>
            </a:avLst>
          </a:prstGeom>
          <a:solidFill>
            <a:srgbClr val="FFFFFF"/>
          </a:solidFill>
          <a:ln w="6350">
            <a:solidFill>
              <a:srgbClr val="DCE2EB"/>
            </a:solidFill>
            <a:prstDash val="solid"/>
          </a:ln>
        </p:spPr>
        <p:txBody>
          <a:bodyPr/>
          <a:p/>
        </p:txBody>
      </p:sp>
      <p:sp>
        <p:nvSpPr>
          <p:cNvPr id="17" name="Text 15"/>
          <p:cNvSpPr/>
          <p:nvPr/>
        </p:nvSpPr>
        <p:spPr>
          <a:xfrm>
            <a:off x="6445250" y="4082852"/>
            <a:ext cx="4813808"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D5FD6"/>
                </a:solidFill>
                <a:latin typeface="JetBrains Mono" pitchFamily="49" charset="0"/>
                <a:ea typeface="JetBrains Mono" pitchFamily="49" charset="-122"/>
                <a:cs typeface="JetBrains Mono" pitchFamily="49" charset="-120"/>
              </a:rPr>
              <a:t>04</a:t>
            </a:r>
            <a:endParaRPr lang="en-US" sz="1400" dirty="0">
              <a:latin typeface="JetBrains Mono" charset="0"/>
              <a:ea typeface="JetBrains Mono" charset="0"/>
              <a:cs typeface="JetBrains Mono" charset="0"/>
            </a:endParaRPr>
          </a:p>
        </p:txBody>
      </p:sp>
      <p:sp>
        <p:nvSpPr>
          <p:cNvPr id="18" name="Text 16"/>
          <p:cNvSpPr/>
          <p:nvPr/>
        </p:nvSpPr>
        <p:spPr>
          <a:xfrm>
            <a:off x="6445250" y="4407942"/>
            <a:ext cx="4813808" cy="314920"/>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0F172A"/>
                </a:solidFill>
                <a:latin typeface="IBM Plex Sans" pitchFamily="34" charset="0"/>
                <a:ea typeface="IBM Plex Sans" pitchFamily="34" charset="-122"/>
                <a:cs typeface="IBM Plex Sans" pitchFamily="34" charset="-120"/>
              </a:rPr>
              <a:t>Filters and drill-down</a:t>
            </a:r>
            <a:endParaRPr lang="en-US" sz="1900" dirty="0">
              <a:latin typeface="IBM Plex Sans" charset="0"/>
              <a:ea typeface="IBM Plex Sans" charset="0"/>
              <a:cs typeface="IBM Plex Sans" charset="0"/>
            </a:endParaRPr>
          </a:p>
        </p:txBody>
      </p:sp>
      <p:sp>
        <p:nvSpPr>
          <p:cNvPr id="19" name="Text 17"/>
          <p:cNvSpPr/>
          <p:nvPr/>
        </p:nvSpPr>
        <p:spPr>
          <a:xfrm>
            <a:off x="6445250" y="4773662"/>
            <a:ext cx="4813808"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468"/>
                </a:solidFill>
                <a:latin typeface="IBM Plex Sans" pitchFamily="34" charset="0"/>
                <a:ea typeface="IBM Plex Sans" pitchFamily="34" charset="-122"/>
                <a:cs typeface="IBM Plex Sans" pitchFamily="34" charset="-120"/>
              </a:rPr>
              <a:t>Provider, environment, resource type, date range, per resource</a:t>
            </a:r>
            <a:endParaRPr lang="en-US" sz="1400" dirty="0">
              <a:latin typeface="IBM Plex Sans" charset="0"/>
              <a:ea typeface="IBM Plex Sans" charset="0"/>
              <a:cs typeface="IBM Plex Sans" charset="0"/>
            </a:endParaRPr>
          </a:p>
        </p:txBody>
      </p:sp>
      <p:sp>
        <p:nvSpPr>
          <p:cNvPr id="20" name="Text 1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468"/>
                </a:solidFill>
                <a:latin typeface="IBM Plex Sans" pitchFamily="34" charset="0"/>
                <a:ea typeface="IBM Plex Sans" pitchFamily="34" charset="-122"/>
                <a:cs typeface="IBM Plex Sans" pitchFamily="34" charset="-120"/>
              </a:rPr>
              <a:t>CloudLens · Capstone viva · 3</a:t>
            </a:r>
            <a:endParaRPr lang="en-US" sz="1200" dirty="0">
              <a:latin typeface="IBM Plex Sans" charset="0"/>
              <a:ea typeface="IBM Plex Sans" charset="0"/>
              <a:cs typeface="IBM Plex Sans"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6096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1D5FD6"/>
                </a:solidFill>
                <a:latin typeface="JetBrains Mono" pitchFamily="49" charset="0"/>
                <a:ea typeface="JetBrains Mono" pitchFamily="49" charset="-122"/>
                <a:cs typeface="JetBrains Mono" pitchFamily="49" charset="-120"/>
              </a:rPr>
              <a:t>ARCHITECTURE</a:t>
            </a:r>
            <a:endParaRPr lang="en-US" sz="1200" dirty="0">
              <a:latin typeface="JetBrains Mono" charset="0"/>
              <a:ea typeface="JetBrains Mono" charset="0"/>
              <a:cs typeface="JetBrains Mono" charset="0"/>
            </a:endParaRPr>
          </a:p>
        </p:txBody>
      </p:sp>
      <p:sp>
        <p:nvSpPr>
          <p:cNvPr id="3" name="Text 1"/>
          <p:cNvSpPr/>
          <p:nvPr>
            <p:ph type="title"/>
          </p:nvPr>
        </p:nvSpPr>
        <p:spPr>
          <a:xfrm>
            <a:off x="812800" y="8991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72A"/>
                </a:solidFill>
                <a:latin typeface="IBM Plex Sans" pitchFamily="34" charset="0"/>
                <a:ea typeface="IBM Plex Sans" pitchFamily="34" charset="-122"/>
                <a:cs typeface="IBM Plex Sans" pitchFamily="34" charset="-120"/>
              </a:rPr>
              <a:t>Six containers, one Docker Compose file</a:t>
            </a:r>
            <a:endParaRPr lang="en-US" sz="3200" dirty="0">
              <a:latin typeface="IBM Plex Sans" charset="0"/>
              <a:ea typeface="IBM Plex Sans" charset="0"/>
              <a:cs typeface="IBM Plex Sans" charset="0"/>
            </a:endParaRPr>
          </a:p>
        </p:txBody>
      </p:sp>
      <p:pic>
        <p:nvPicPr>
          <p:cNvPr id="4" name="Image 0" descr="Architecture: AWS, Azure and GCP connectors feed a FastAPI backend that stores data in PostgreSQL, serves the React dashboard, and exports metrics to Prometheus, which alerts through Alertmanager to Slack and Microsoft Teams">    </p:cNvPr>
          <p:cNvPicPr>
            <a:picLocks noChangeAspect="1"/>
          </p:cNvPicPr>
          <p:nvPr/>
        </p:nvPicPr>
        <p:blipFill>
          <a:blip r:embed="rId1"/>
          <a:srcRect l="-19936" r="-19936" t="0" b="0"/>
          <a:stretch/>
        </p:blipFill>
        <p:spPr>
          <a:xfrm>
            <a:off x="812800" y="1523950"/>
            <a:ext cx="10566400" cy="4381500"/>
          </a:xfrm>
          <a:prstGeom prst="rect">
            <a:avLst/>
          </a:prstGeom>
        </p:spPr>
      </p:pic>
      <p:sp>
        <p:nvSpPr>
          <p:cNvPr id="5" name="Text 2"/>
          <p:cNvSpPr/>
          <p:nvPr/>
        </p:nvSpPr>
        <p:spPr>
          <a:xfrm>
            <a:off x="812800" y="62890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468"/>
                </a:solidFill>
                <a:latin typeface="IBM Plex Sans" pitchFamily="34" charset="0"/>
                <a:ea typeface="IBM Plex Sans" pitchFamily="34" charset="-122"/>
                <a:cs typeface="IBM Plex Sans" pitchFamily="34" charset="-120"/>
              </a:rPr>
              <a:t>CloudLens · Capstone viva · 4</a:t>
            </a:r>
            <a:endParaRPr lang="en-US" sz="1200" dirty="0">
              <a:latin typeface="IBM Plex Sans" charset="0"/>
              <a:ea typeface="IBM Plex Sans" charset="0"/>
              <a:cs typeface="IBM Plex Sans"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1D5FD6"/>
                </a:solidFill>
                <a:latin typeface="JetBrains Mono" pitchFamily="49" charset="0"/>
                <a:ea typeface="JetBrains Mono" pitchFamily="49" charset="-122"/>
                <a:cs typeface="JetBrains Mono" pitchFamily="49" charset="-120"/>
              </a:rPr>
              <a:t>TECHNOLOGY CHOICES</a:t>
            </a:r>
            <a:endParaRPr lang="en-US" sz="1200" dirty="0">
              <a:latin typeface="JetBrains Mono" charset="0"/>
              <a:ea typeface="JetBrains Mono" charset="0"/>
              <a:cs typeface="JetBrains Mono" charset="0"/>
            </a:endParaRPr>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F172A"/>
                </a:solidFill>
                <a:latin typeface="IBM Plex Sans" pitchFamily="34" charset="0"/>
                <a:ea typeface="IBM Plex Sans" pitchFamily="34" charset="-122"/>
                <a:cs typeface="IBM Plex Sans" pitchFamily="34" charset="-120"/>
              </a:rPr>
              <a:t>Each tool chosen for a reason</a:t>
            </a:r>
            <a:endParaRPr lang="en-US" sz="3600" dirty="0">
              <a:latin typeface="IBM Plex Sans" charset="0"/>
              <a:ea typeface="IBM Plex Sans" charset="0"/>
              <a:cs typeface="IBM Plex Sans" charset="0"/>
            </a:endParaRPr>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922711"/>
          <a:ext cx="10553700" cy="2702074"/>
        </p:xfrm>
        <a:graphic>
          <a:graphicData uri="http://schemas.openxmlformats.org/drawingml/2006/table">
            <a:tbl>
              <a:tblPr/>
              <a:tblGrid>
                <a:gridCol w="2110740"/>
                <a:gridCol w="2955036"/>
                <a:gridCol w="5487924"/>
              </a:tblGrid>
              <a:tr h="386011">
                <a:tc>
                  <a:txBody>
                    <a:bodyPr/>
                    <a:lstStyle/>
                    <a:p>
                      <a:pPr indent="0" marL="0">
                        <a:lnSpc>
                          <a:spcPts val="1960"/>
                        </a:lnSpc>
                        <a:buNone/>
                      </a:pPr>
                      <a:r>
                        <a:rPr lang="en-US" sz="1400" b="1" dirty="0">
                          <a:solidFill>
                            <a:srgbClr val="0F172A"/>
                          </a:solidFill>
                          <a:latin typeface="IBM Plex Sans" pitchFamily="34" charset="0"/>
                          <a:ea typeface="IBM Plex Sans" pitchFamily="34" charset="-122"/>
                          <a:cs typeface="IBM Plex Sans" pitchFamily="34" charset="-120"/>
                        </a:rPr>
                        <a:t>Layer</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B5B6B9"/>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B5B6B9"/>
                      </a:solidFill>
                      <a:prstDash val="solid"/>
                      <a:round/>
                      <a:headEnd type="none" w="med" len="med"/>
                      <a:tailEnd type="none" w="med" len="med"/>
                    </a:lnB>
                    <a:solidFill>
                      <a:srgbClr val="E2E4E8"/>
                    </a:solidFill>
                  </a:tcPr>
                </a:tc>
                <a:tc>
                  <a:txBody>
                    <a:bodyPr/>
                    <a:lstStyle/>
                    <a:p>
                      <a:pPr indent="0" marL="0">
                        <a:lnSpc>
                          <a:spcPts val="1960"/>
                        </a:lnSpc>
                        <a:buNone/>
                      </a:pPr>
                      <a:r>
                        <a:rPr lang="en-US" sz="1400" b="1" dirty="0">
                          <a:solidFill>
                            <a:srgbClr val="0F172A"/>
                          </a:solidFill>
                          <a:latin typeface="IBM Plex Sans" pitchFamily="34" charset="0"/>
                          <a:ea typeface="IBM Plex Sans" pitchFamily="34" charset="-122"/>
                          <a:cs typeface="IBM Plex Sans" pitchFamily="34" charset="-120"/>
                        </a:rPr>
                        <a:t>Choice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5B6B9"/>
                      </a:solidFill>
                      <a:prstDash val="solid"/>
                      <a:round/>
                      <a:headEnd type="none" w="med" len="med"/>
                      <a:tailEnd type="none" w="med" len="med"/>
                    </a:lnL>
                    <a:lnR w="12700" cap="flat" cmpd="sng" algn="ctr">
                      <a:solidFill>
                        <a:srgbClr val="B5B6B9"/>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B5B6B9"/>
                      </a:solidFill>
                      <a:prstDash val="solid"/>
                      <a:round/>
                      <a:headEnd type="none" w="med" len="med"/>
                      <a:tailEnd type="none" w="med" len="med"/>
                    </a:lnB>
                    <a:solidFill>
                      <a:srgbClr val="E2E4E8"/>
                    </a:solidFill>
                  </a:tcPr>
                </a:tc>
                <a:tc>
                  <a:txBody>
                    <a:bodyPr/>
                    <a:lstStyle/>
                    <a:p>
                      <a:pPr indent="0" marL="0">
                        <a:lnSpc>
                          <a:spcPts val="1960"/>
                        </a:lnSpc>
                        <a:buNone/>
                      </a:pPr>
                      <a:r>
                        <a:rPr lang="en-US" sz="1400" b="1" dirty="0">
                          <a:solidFill>
                            <a:srgbClr val="0F172A"/>
                          </a:solidFill>
                          <a:latin typeface="IBM Plex Sans" pitchFamily="34" charset="0"/>
                          <a:ea typeface="IBM Plex Sans" pitchFamily="34" charset="-122"/>
                          <a:cs typeface="IBM Plex Sans" pitchFamily="34" charset="-120"/>
                        </a:rPr>
                        <a:t>Why</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5B6B9"/>
                      </a:solidFill>
                      <a:prstDash val="solid"/>
                      <a:round/>
                      <a:headEnd type="none" w="med" len="med"/>
                      <a:tailEnd type="none" w="med" len="med"/>
                    </a:lnL>
                    <a:lnR w="12700" cap="flat" cmpd="sng" algn="ctr">
                      <a:solidFill>
                        <a:srgbClr val="B5B6B9"/>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B5B6B9"/>
                      </a:solidFill>
                      <a:prstDash val="solid"/>
                      <a:round/>
                      <a:headEnd type="none" w="med" len="med"/>
                      <a:tailEnd type="none" w="med" len="med"/>
                    </a:lnB>
                    <a:solidFill>
                      <a:srgbClr val="E2E4E8"/>
                    </a:solidFill>
                  </a:tcPr>
                </a:tc>
              </a:tr>
              <a:tr h="386011">
                <a:tc>
                  <a:txBody>
                    <a:bodyPr/>
                    <a:lstStyle/>
                    <a:p>
                      <a:pPr indent="0" marL="0">
                        <a:lnSpc>
                          <a:spcPts val="1960"/>
                        </a:lnSpc>
                        <a:buNone/>
                      </a:pPr>
                      <a:r>
                        <a:rPr lang="en-US" sz="1400" dirty="0">
                          <a:solidFill>
                            <a:srgbClr val="0F172A"/>
                          </a:solidFill>
                          <a:latin typeface="IBM Plex Sans" pitchFamily="34" charset="0"/>
                          <a:ea typeface="IBM Plex Sans" pitchFamily="34" charset="-122"/>
                          <a:cs typeface="IBM Plex Sans" pitchFamily="34" charset="-120"/>
                        </a:rPr>
                        <a:t>Database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B5B6B9"/>
                      </a:solidFill>
                      <a:prstDash val="solid"/>
                      <a:round/>
                      <a:headEnd type="none" w="med" len="med"/>
                      <a:tailEnd type="none" w="med" len="med"/>
                    </a:lnT>
                    <a:lnB w="12700" cap="flat" cmpd="sng" algn="ctr">
                      <a:solidFill>
                        <a:srgbClr val="C3C4C7"/>
                      </a:solidFill>
                      <a:prstDash val="solid"/>
                      <a:round/>
                      <a:headEnd type="none" w="med" len="med"/>
                      <a:tailEnd type="none" w="med" len="med"/>
                    </a:lnB>
                  </a:tcPr>
                </a:tc>
                <a:tc>
                  <a:txBody>
                    <a:bodyPr/>
                    <a:lstStyle/>
                    <a:p>
                      <a:pPr indent="0" marL="0">
                        <a:lnSpc>
                          <a:spcPts val="1960"/>
                        </a:lnSpc>
                        <a:buNone/>
                      </a:pPr>
                      <a:r>
                        <a:rPr lang="en-US" sz="1400" dirty="0">
                          <a:solidFill>
                            <a:srgbClr val="0F172A"/>
                          </a:solidFill>
                          <a:latin typeface="IBM Plex Sans" pitchFamily="34" charset="0"/>
                          <a:ea typeface="IBM Plex Sans" pitchFamily="34" charset="-122"/>
                          <a:cs typeface="IBM Plex Sans" pitchFamily="34" charset="-120"/>
                        </a:rPr>
                        <a:t>PostgreSQL 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B5B6B9"/>
                      </a:solidFill>
                      <a:prstDash val="solid"/>
                      <a:round/>
                      <a:headEnd type="none" w="med" len="med"/>
                      <a:tailEnd type="none" w="med" len="med"/>
                    </a:lnT>
                    <a:lnB w="12700" cap="flat" cmpd="sng" algn="ctr">
                      <a:solidFill>
                        <a:srgbClr val="C3C4C7"/>
                      </a:solidFill>
                      <a:prstDash val="solid"/>
                      <a:round/>
                      <a:headEnd type="none" w="med" len="med"/>
                      <a:tailEnd type="none" w="med" len="med"/>
                    </a:lnB>
                  </a:tcPr>
                </a:tc>
                <a:tc>
                  <a:txBody>
                    <a:bodyPr/>
                    <a:lstStyle/>
                    <a:p>
                      <a:pPr indent="0" marL="0">
                        <a:lnSpc>
                          <a:spcPts val="1960"/>
                        </a:lnSpc>
                        <a:buNone/>
                      </a:pPr>
                      <a:r>
                        <a:rPr lang="en-US" sz="1400" dirty="0">
                          <a:solidFill>
                            <a:srgbClr val="0F172A"/>
                          </a:solidFill>
                          <a:latin typeface="IBM Plex Sans" pitchFamily="34" charset="0"/>
                          <a:ea typeface="IBM Plex Sans" pitchFamily="34" charset="-122"/>
                          <a:cs typeface="IBM Plex Sans" pitchFamily="34" charset="-120"/>
                        </a:rPr>
                        <a:t>Relational cost data, idempotent upserts, indexed GROUP BY</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B5B6B9"/>
                      </a:solidFill>
                      <a:prstDash val="solid"/>
                      <a:round/>
                      <a:headEnd type="none" w="med" len="med"/>
                      <a:tailEnd type="none" w="med" len="med"/>
                    </a:lnT>
                    <a:lnB w="12700" cap="flat" cmpd="sng" algn="ctr">
                      <a:solidFill>
                        <a:srgbClr val="C3C4C7"/>
                      </a:solidFill>
                      <a:prstDash val="solid"/>
                      <a:round/>
                      <a:headEnd type="none" w="med" len="med"/>
                      <a:tailEnd type="none" w="med" len="med"/>
                    </a:lnB>
                  </a:tcPr>
                </a:tc>
              </a:tr>
              <a:tr h="386011">
                <a:tc>
                  <a:txBody>
                    <a:bodyPr/>
                    <a:lstStyle/>
                    <a:p>
                      <a:pPr indent="0" marL="0">
                        <a:lnSpc>
                          <a:spcPts val="1960"/>
                        </a:lnSpc>
                        <a:buNone/>
                      </a:pPr>
                      <a:r>
                        <a:rPr lang="en-US" sz="1400" dirty="0">
                          <a:solidFill>
                            <a:srgbClr val="0F172A"/>
                          </a:solidFill>
                          <a:latin typeface="IBM Plex Sans" pitchFamily="34" charset="0"/>
                          <a:ea typeface="IBM Plex Sans" pitchFamily="34" charset="-122"/>
                          <a:cs typeface="IBM Plex Sans" pitchFamily="34" charset="-120"/>
                        </a:rPr>
                        <a:t>Backend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3C4C7"/>
                      </a:solidFill>
                      <a:prstDash val="solid"/>
                      <a:round/>
                      <a:headEnd type="none" w="med" len="med"/>
                      <a:tailEnd type="none" w="med" len="med"/>
                    </a:lnB>
                  </a:tcPr>
                </a:tc>
                <a:tc>
                  <a:txBody>
                    <a:bodyPr/>
                    <a:lstStyle/>
                    <a:p>
                      <a:pPr indent="0" marL="0">
                        <a:lnSpc>
                          <a:spcPts val="1960"/>
                        </a:lnSpc>
                        <a:buNone/>
                      </a:pPr>
                      <a:r>
                        <a:rPr lang="en-US" sz="1400" dirty="0">
                          <a:solidFill>
                            <a:srgbClr val="0F172A"/>
                          </a:solidFill>
                          <a:latin typeface="IBM Plex Sans" pitchFamily="34" charset="0"/>
                          <a:ea typeface="IBM Plex Sans" pitchFamily="34" charset="-122"/>
                          <a:cs typeface="IBM Plex Sans" pitchFamily="34" charset="-120"/>
                        </a:rPr>
                        <a:t>Python FastAPI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3C4C7"/>
                      </a:solidFill>
                      <a:prstDash val="solid"/>
                      <a:round/>
                      <a:headEnd type="none" w="med" len="med"/>
                      <a:tailEnd type="none" w="med" len="med"/>
                    </a:lnB>
                  </a:tcPr>
                </a:tc>
                <a:tc>
                  <a:txBody>
                    <a:bodyPr/>
                    <a:lstStyle/>
                    <a:p>
                      <a:pPr indent="0" marL="0">
                        <a:lnSpc>
                          <a:spcPts val="1960"/>
                        </a:lnSpc>
                        <a:buNone/>
                      </a:pPr>
                      <a:r>
                        <a:rPr lang="en-US" sz="1400" dirty="0">
                          <a:solidFill>
                            <a:srgbClr val="0F172A"/>
                          </a:solidFill>
                          <a:latin typeface="IBM Plex Sans" pitchFamily="34" charset="0"/>
                          <a:ea typeface="IBM Plex Sans" pitchFamily="34" charset="-122"/>
                          <a:cs typeface="IBM Plex Sans" pitchFamily="34" charset="-120"/>
                        </a:rPr>
                        <a:t>Validation, OpenAPI docs, async-capable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3C4C7"/>
                      </a:solidFill>
                      <a:prstDash val="solid"/>
                      <a:round/>
                      <a:headEnd type="none" w="med" len="med"/>
                      <a:tailEnd type="none" w="med" len="med"/>
                    </a:lnB>
                  </a:tcPr>
                </a:tc>
              </a:tr>
              <a:tr h="386011">
                <a:tc>
                  <a:txBody>
                    <a:bodyPr/>
                    <a:lstStyle/>
                    <a:p>
                      <a:pPr indent="0" marL="0">
                        <a:lnSpc>
                          <a:spcPts val="1960"/>
                        </a:lnSpc>
                        <a:buNone/>
                      </a:pPr>
                      <a:r>
                        <a:rPr lang="en-US" sz="1400" dirty="0">
                          <a:solidFill>
                            <a:srgbClr val="0F172A"/>
                          </a:solidFill>
                          <a:latin typeface="IBM Plex Sans" pitchFamily="34" charset="0"/>
                          <a:ea typeface="IBM Plex Sans" pitchFamily="34" charset="-122"/>
                          <a:cs typeface="IBM Plex Sans" pitchFamily="34" charset="-120"/>
                        </a:rPr>
                        <a:t>Scheduling</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3C4C7"/>
                      </a:solidFill>
                      <a:prstDash val="solid"/>
                      <a:round/>
                      <a:headEnd type="none" w="med" len="med"/>
                      <a:tailEnd type="none" w="med" len="med"/>
                    </a:lnB>
                  </a:tcPr>
                </a:tc>
                <a:tc>
                  <a:txBody>
                    <a:bodyPr/>
                    <a:lstStyle/>
                    <a:p>
                      <a:pPr indent="0" marL="0">
                        <a:lnSpc>
                          <a:spcPts val="1960"/>
                        </a:lnSpc>
                        <a:buNone/>
                      </a:pPr>
                      <a:r>
                        <a:rPr lang="en-US" sz="1400" dirty="0">
                          <a:solidFill>
                            <a:srgbClr val="0F172A"/>
                          </a:solidFill>
                          <a:latin typeface="IBM Plex Sans" pitchFamily="34" charset="0"/>
                          <a:ea typeface="IBM Plex Sans" pitchFamily="34" charset="-122"/>
                          <a:cs typeface="IBM Plex Sans" pitchFamily="34" charset="-120"/>
                        </a:rPr>
                        <a:t>APScheduler</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3C4C7"/>
                      </a:solidFill>
                      <a:prstDash val="solid"/>
                      <a:round/>
                      <a:headEnd type="none" w="med" len="med"/>
                      <a:tailEnd type="none" w="med" len="med"/>
                    </a:lnB>
                  </a:tcPr>
                </a:tc>
                <a:tc>
                  <a:txBody>
                    <a:bodyPr/>
                    <a:lstStyle/>
                    <a:p>
                      <a:pPr indent="0" marL="0">
                        <a:lnSpc>
                          <a:spcPts val="1960"/>
                        </a:lnSpc>
                        <a:buNone/>
                      </a:pPr>
                      <a:r>
                        <a:rPr lang="en-US" sz="1400" dirty="0">
                          <a:solidFill>
                            <a:srgbClr val="0F172A"/>
                          </a:solidFill>
                          <a:latin typeface="IBM Plex Sans" pitchFamily="34" charset="0"/>
                          <a:ea typeface="IBM Plex Sans" pitchFamily="34" charset="-122"/>
                          <a:cs typeface="IBM Plex Sans" pitchFamily="34" charset="-120"/>
                        </a:rPr>
                        <a:t>In-process jobs, no extra broker to run or pay for</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3C4C7"/>
                      </a:solidFill>
                      <a:prstDash val="solid"/>
                      <a:round/>
                      <a:headEnd type="none" w="med" len="med"/>
                      <a:tailEnd type="none" w="med" len="med"/>
                    </a:lnB>
                  </a:tcPr>
                </a:tc>
              </a:tr>
              <a:tr h="386011">
                <a:tc>
                  <a:txBody>
                    <a:bodyPr/>
                    <a:lstStyle/>
                    <a:p>
                      <a:pPr indent="0" marL="0">
                        <a:lnSpc>
                          <a:spcPts val="1960"/>
                        </a:lnSpc>
                        <a:buNone/>
                      </a:pPr>
                      <a:r>
                        <a:rPr lang="en-US" sz="1400" dirty="0">
                          <a:solidFill>
                            <a:srgbClr val="0F172A"/>
                          </a:solidFill>
                          <a:latin typeface="IBM Plex Sans" pitchFamily="34" charset="0"/>
                          <a:ea typeface="IBM Plex Sans" pitchFamily="34" charset="-122"/>
                          <a:cs typeface="IBM Plex Sans" pitchFamily="34" charset="-120"/>
                        </a:rPr>
                        <a:t>Frontend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3C4C7"/>
                      </a:solidFill>
                      <a:prstDash val="solid"/>
                      <a:round/>
                      <a:headEnd type="none" w="med" len="med"/>
                      <a:tailEnd type="none" w="med" len="med"/>
                    </a:lnB>
                  </a:tcPr>
                </a:tc>
                <a:tc>
                  <a:txBody>
                    <a:bodyPr/>
                    <a:lstStyle/>
                    <a:p>
                      <a:pPr indent="0" marL="0">
                        <a:lnSpc>
                          <a:spcPts val="1960"/>
                        </a:lnSpc>
                        <a:buNone/>
                      </a:pPr>
                      <a:r>
                        <a:rPr lang="en-US" sz="1400" dirty="0">
                          <a:solidFill>
                            <a:srgbClr val="0F172A"/>
                          </a:solidFill>
                          <a:latin typeface="IBM Plex Sans" pitchFamily="34" charset="0"/>
                          <a:ea typeface="IBM Plex Sans" pitchFamily="34" charset="-122"/>
                          <a:cs typeface="IBM Plex Sans" pitchFamily="34" charset="-120"/>
                        </a:rPr>
                        <a:t>React + Recharts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3C4C7"/>
                      </a:solidFill>
                      <a:prstDash val="solid"/>
                      <a:round/>
                      <a:headEnd type="none" w="med" len="med"/>
                      <a:tailEnd type="none" w="med" len="med"/>
                    </a:lnB>
                  </a:tcPr>
                </a:tc>
                <a:tc>
                  <a:txBody>
                    <a:bodyPr/>
                    <a:lstStyle/>
                    <a:p>
                      <a:pPr indent="0" marL="0">
                        <a:lnSpc>
                          <a:spcPts val="1960"/>
                        </a:lnSpc>
                        <a:buNone/>
                      </a:pPr>
                      <a:r>
                        <a:rPr lang="en-US" sz="1400" dirty="0">
                          <a:solidFill>
                            <a:srgbClr val="0F172A"/>
                          </a:solidFill>
                          <a:latin typeface="IBM Plex Sans" pitchFamily="34" charset="0"/>
                          <a:ea typeface="IBM Plex Sans" pitchFamily="34" charset="-122"/>
                          <a:cs typeface="IBM Plex Sans" pitchFamily="34" charset="-120"/>
                        </a:rPr>
                        <a:t>Filters, drill-down, RBAC, dark/light, USD/INR</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3C4C7"/>
                      </a:solidFill>
                      <a:prstDash val="solid"/>
                      <a:round/>
                      <a:headEnd type="none" w="med" len="med"/>
                      <a:tailEnd type="none" w="med" len="med"/>
                    </a:lnB>
                  </a:tcPr>
                </a:tc>
              </a:tr>
              <a:tr h="386011">
                <a:tc>
                  <a:txBody>
                    <a:bodyPr/>
                    <a:lstStyle/>
                    <a:p>
                      <a:pPr indent="0" marL="0">
                        <a:lnSpc>
                          <a:spcPts val="1960"/>
                        </a:lnSpc>
                        <a:buNone/>
                      </a:pPr>
                      <a:r>
                        <a:rPr lang="en-US" sz="1400" dirty="0">
                          <a:solidFill>
                            <a:srgbClr val="0F172A"/>
                          </a:solidFill>
                          <a:latin typeface="IBM Plex Sans" pitchFamily="34" charset="0"/>
                          <a:ea typeface="IBM Plex Sans" pitchFamily="34" charset="-122"/>
                          <a:cs typeface="IBM Plex Sans" pitchFamily="34" charset="-120"/>
                        </a:rPr>
                        <a:t>Alerting</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3C4C7"/>
                      </a:solidFill>
                      <a:prstDash val="solid"/>
                      <a:round/>
                      <a:headEnd type="none" w="med" len="med"/>
                      <a:tailEnd type="none" w="med" len="med"/>
                    </a:lnB>
                  </a:tcPr>
                </a:tc>
                <a:tc>
                  <a:txBody>
                    <a:bodyPr/>
                    <a:lstStyle/>
                    <a:p>
                      <a:pPr indent="0" marL="0">
                        <a:lnSpc>
                          <a:spcPts val="1960"/>
                        </a:lnSpc>
                        <a:buNone/>
                      </a:pPr>
                      <a:r>
                        <a:rPr lang="en-US" sz="1400" dirty="0">
                          <a:solidFill>
                            <a:srgbClr val="0F172A"/>
                          </a:solidFill>
                          <a:latin typeface="IBM Plex Sans" pitchFamily="34" charset="0"/>
                          <a:ea typeface="IBM Plex Sans" pitchFamily="34" charset="-122"/>
                          <a:cs typeface="IBM Plex Sans" pitchFamily="34" charset="-120"/>
                        </a:rPr>
                        <a:t>Prometheus + Alertmanager</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3C4C7"/>
                      </a:solidFill>
                      <a:prstDash val="solid"/>
                      <a:round/>
                      <a:headEnd type="none" w="med" len="med"/>
                      <a:tailEnd type="none" w="med" len="med"/>
                    </a:lnB>
                  </a:tcPr>
                </a:tc>
                <a:tc>
                  <a:txBody>
                    <a:bodyPr/>
                    <a:lstStyle/>
                    <a:p>
                      <a:pPr indent="0" marL="0">
                        <a:lnSpc>
                          <a:spcPts val="1960"/>
                        </a:lnSpc>
                        <a:buNone/>
                      </a:pPr>
                      <a:r>
                        <a:rPr lang="en-US" sz="1400" dirty="0">
                          <a:solidFill>
                            <a:srgbClr val="0F172A"/>
                          </a:solidFill>
                          <a:latin typeface="IBM Plex Sans" pitchFamily="34" charset="0"/>
                          <a:ea typeface="IBM Plex Sans" pitchFamily="34" charset="-122"/>
                          <a:cs typeface="IBM Plex Sans" pitchFamily="34" charset="-120"/>
                        </a:rPr>
                        <a:t>Industry standard grouping, dedupe, resolve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3C4C7"/>
                      </a:solidFill>
                      <a:prstDash val="solid"/>
                      <a:round/>
                      <a:headEnd type="none" w="med" len="med"/>
                      <a:tailEnd type="none" w="med" len="med"/>
                    </a:lnB>
                  </a:tcPr>
                </a:tc>
              </a:tr>
              <a:tr h="386011">
                <a:tc>
                  <a:txBody>
                    <a:bodyPr/>
                    <a:lstStyle/>
                    <a:p>
                      <a:pPr indent="0" marL="0">
                        <a:lnSpc>
                          <a:spcPts val="1960"/>
                        </a:lnSpc>
                        <a:buNone/>
                      </a:pPr>
                      <a:r>
                        <a:rPr lang="en-US" sz="1400" dirty="0">
                          <a:solidFill>
                            <a:srgbClr val="0F172A"/>
                          </a:solidFill>
                          <a:latin typeface="IBM Plex Sans" pitchFamily="34" charset="0"/>
                          <a:ea typeface="IBM Plex Sans" pitchFamily="34" charset="-122"/>
                          <a:cs typeface="IBM Plex Sans" pitchFamily="34" charset="-120"/>
                        </a:rPr>
                        <a:t>Packaging</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3C4C7"/>
                      </a:solidFill>
                      <a:prstDash val="solid"/>
                      <a:round/>
                      <a:headEnd type="none" w="med" len="med"/>
                      <a:tailEnd type="none" w="med" len="med"/>
                    </a:lnB>
                  </a:tcPr>
                </a:tc>
                <a:tc>
                  <a:txBody>
                    <a:bodyPr/>
                    <a:lstStyle/>
                    <a:p>
                      <a:pPr indent="0" marL="0">
                        <a:lnSpc>
                          <a:spcPts val="1960"/>
                        </a:lnSpc>
                        <a:buNone/>
                      </a:pPr>
                      <a:r>
                        <a:rPr lang="en-US" sz="1400" dirty="0">
                          <a:solidFill>
                            <a:srgbClr val="0F172A"/>
                          </a:solidFill>
                          <a:latin typeface="IBM Plex Sans" pitchFamily="34" charset="0"/>
                          <a:ea typeface="IBM Plex Sans" pitchFamily="34" charset="-122"/>
                          <a:cs typeface="IBM Plex Sans" pitchFamily="34" charset="-120"/>
                        </a:rPr>
                        <a:t>Docker Compose → EC2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3C4C7"/>
                      </a:solidFill>
                      <a:prstDash val="solid"/>
                      <a:round/>
                      <a:headEnd type="none" w="med" len="med"/>
                      <a:tailEnd type="none" w="med" len="med"/>
                    </a:lnB>
                  </a:tcPr>
                </a:tc>
                <a:tc>
                  <a:txBody>
                    <a:bodyPr/>
                    <a:lstStyle/>
                    <a:p>
                      <a:pPr indent="0" marL="0">
                        <a:lnSpc>
                          <a:spcPts val="1960"/>
                        </a:lnSpc>
                        <a:buNone/>
                      </a:pPr>
                      <a:r>
                        <a:rPr lang="en-US" sz="1400" dirty="0">
                          <a:solidFill>
                            <a:srgbClr val="0F172A"/>
                          </a:solidFill>
                          <a:latin typeface="IBM Plex Sans" pitchFamily="34" charset="0"/>
                          <a:ea typeface="IBM Plex Sans" pitchFamily="34" charset="-122"/>
                          <a:cs typeface="IBM Plex Sans" pitchFamily="34" charset="-120"/>
                        </a:rPr>
                        <a:t>Same stack on a laptop and in staging</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3C4C7"/>
                      </a:solidFill>
                      <a:prstDash val="solid"/>
                      <a:round/>
                      <a:headEnd type="none" w="med" len="med"/>
                      <a:tailEnd type="none" w="med" len="med"/>
                    </a:lnB>
                  </a:tcPr>
                </a:tc>
              </a:tr>
            </a:tbl>
          </a:graphicData>
        </a:graphic>
      </p:graphicFrame>
      <p:sp>
        <p:nvSpPr>
          <p:cNvPr id="5" name="Text 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468"/>
                </a:solidFill>
                <a:latin typeface="IBM Plex Sans" pitchFamily="34" charset="0"/>
                <a:ea typeface="IBM Plex Sans" pitchFamily="34" charset="-122"/>
                <a:cs typeface="IBM Plex Sans" pitchFamily="34" charset="-120"/>
              </a:rPr>
              <a:t>CloudLens · Capstone viva · 5</a:t>
            </a:r>
            <a:endParaRPr lang="en-US" sz="1200" dirty="0">
              <a:latin typeface="IBM Plex Sans" charset="0"/>
              <a:ea typeface="IBM Plex Sans" charset="0"/>
              <a:cs typeface="IBM Plex Sans"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1D5FD6"/>
                </a:solidFill>
                <a:latin typeface="JetBrains Mono" pitchFamily="49" charset="0"/>
                <a:ea typeface="JetBrains Mono" pitchFamily="49" charset="-122"/>
                <a:cs typeface="JetBrains Mono" pitchFamily="49" charset="-120"/>
              </a:rPr>
              <a:t>DATA AGGREGATION</a:t>
            </a:r>
            <a:endParaRPr lang="en-US" sz="1200" dirty="0">
              <a:latin typeface="JetBrains Mono" charset="0"/>
              <a:ea typeface="JetBrains Mono" charset="0"/>
              <a:cs typeface="JetBrains Mono" charset="0"/>
            </a:endParaRPr>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F172A"/>
                </a:solidFill>
                <a:latin typeface="IBM Plex Sans" pitchFamily="34" charset="0"/>
                <a:ea typeface="IBM Plex Sans" pitchFamily="34" charset="-122"/>
                <a:cs typeface="IBM Plex Sans" pitchFamily="34" charset="-120"/>
              </a:rPr>
              <a:t>One schema for every cloud</a:t>
            </a:r>
            <a:endParaRPr lang="en-US" sz="3600" dirty="0">
              <a:latin typeface="IBM Plex Sans" charset="0"/>
              <a:ea typeface="IBM Plex Sans" charset="0"/>
              <a:cs typeface="IBM Plex Sans" charset="0"/>
            </a:endParaRPr>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897311"/>
          <a:ext cx="10553700" cy="1796604"/>
        </p:xfrm>
        <a:graphic>
          <a:graphicData uri="http://schemas.openxmlformats.org/drawingml/2006/table">
            <a:tbl>
              <a:tblPr/>
              <a:tblGrid>
                <a:gridCol w="2005203"/>
                <a:gridCol w="2849499"/>
                <a:gridCol w="2849499"/>
                <a:gridCol w="2849499"/>
              </a:tblGrid>
              <a:tr h="359321">
                <a:tc>
                  <a:txBody>
                    <a:bodyPr/>
                    <a:lstStyle/>
                    <a:p>
                      <a:pPr indent="0" marL="0">
                        <a:lnSpc>
                          <a:spcPts val="1820"/>
                        </a:lnSpc>
                        <a:buNone/>
                      </a:pPr>
                      <a:r>
                        <a:rPr lang="en-US" sz="1300" b="1" dirty="0">
                          <a:solidFill>
                            <a:srgbClr val="0F172A"/>
                          </a:solidFill>
                          <a:latin typeface="IBM Plex Sans" pitchFamily="34" charset="0"/>
                          <a:ea typeface="IBM Plex Sans" pitchFamily="34" charset="-122"/>
                          <a:cs typeface="IBM Plex Sans" pitchFamily="34" charset="-120"/>
                        </a:rPr>
                        <a:t>Field</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7"/>
                      </a:solidFill>
                      <a:prstDash val="solid"/>
                      <a:round/>
                      <a:headEnd type="none" w="med" len="med"/>
                      <a:tailEnd type="none" w="med" len="med"/>
                    </a:lnL>
                    <a:lnR w="12700" cap="flat" cmpd="sng" algn="ctr">
                      <a:solidFill>
                        <a:srgbClr val="B5B6B9"/>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B5B6B9"/>
                      </a:solidFill>
                      <a:prstDash val="solid"/>
                      <a:round/>
                      <a:headEnd type="none" w="med" len="med"/>
                      <a:tailEnd type="none" w="med" len="med"/>
                    </a:lnB>
                    <a:solidFill>
                      <a:srgbClr val="E2E4E8"/>
                    </a:solidFill>
                  </a:tcPr>
                </a:tc>
                <a:tc>
                  <a:txBody>
                    <a:bodyPr/>
                    <a:lstStyle/>
                    <a:p>
                      <a:pPr indent="0" marL="0">
                        <a:lnSpc>
                          <a:spcPts val="1820"/>
                        </a:lnSpc>
                        <a:buNone/>
                      </a:pPr>
                      <a:r>
                        <a:rPr lang="en-US" sz="1300" b="1" dirty="0">
                          <a:solidFill>
                            <a:srgbClr val="0F172A"/>
                          </a:solidFill>
                          <a:latin typeface="IBM Plex Sans" pitchFamily="34" charset="0"/>
                          <a:ea typeface="IBM Plex Sans" pitchFamily="34" charset="-122"/>
                          <a:cs typeface="IBM Plex Sans" pitchFamily="34" charset="-120"/>
                        </a:rPr>
                        <a:t>AWS Cost Explorer</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5B6B9"/>
                      </a:solidFill>
                      <a:prstDash val="solid"/>
                      <a:round/>
                      <a:headEnd type="none" w="med" len="med"/>
                      <a:tailEnd type="none" w="med" len="med"/>
                    </a:lnL>
                    <a:lnR w="12700" cap="flat" cmpd="sng" algn="ctr">
                      <a:solidFill>
                        <a:srgbClr val="B5B6B9"/>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B5B6B9"/>
                      </a:solidFill>
                      <a:prstDash val="solid"/>
                      <a:round/>
                      <a:headEnd type="none" w="med" len="med"/>
                      <a:tailEnd type="none" w="med" len="med"/>
                    </a:lnB>
                    <a:solidFill>
                      <a:srgbClr val="E2E4E8"/>
                    </a:solidFill>
                  </a:tcPr>
                </a:tc>
                <a:tc>
                  <a:txBody>
                    <a:bodyPr/>
                    <a:lstStyle/>
                    <a:p>
                      <a:pPr indent="0" marL="0">
                        <a:lnSpc>
                          <a:spcPts val="1820"/>
                        </a:lnSpc>
                        <a:buNone/>
                      </a:pPr>
                      <a:r>
                        <a:rPr lang="en-US" sz="1300" b="1" dirty="0">
                          <a:solidFill>
                            <a:srgbClr val="0F172A"/>
                          </a:solidFill>
                          <a:latin typeface="IBM Plex Sans" pitchFamily="34" charset="0"/>
                          <a:ea typeface="IBM Plex Sans" pitchFamily="34" charset="-122"/>
                          <a:cs typeface="IBM Plex Sans" pitchFamily="34" charset="-120"/>
                        </a:rPr>
                        <a:t>Azure Cost Mgmt</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5B6B9"/>
                      </a:solidFill>
                      <a:prstDash val="solid"/>
                      <a:round/>
                      <a:headEnd type="none" w="med" len="med"/>
                      <a:tailEnd type="none" w="med" len="med"/>
                    </a:lnL>
                    <a:lnR w="12700" cap="flat" cmpd="sng" algn="ctr">
                      <a:solidFill>
                        <a:srgbClr val="B5B6B9"/>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B5B6B9"/>
                      </a:solidFill>
                      <a:prstDash val="solid"/>
                      <a:round/>
                      <a:headEnd type="none" w="med" len="med"/>
                      <a:tailEnd type="none" w="med" len="med"/>
                    </a:lnB>
                    <a:solidFill>
                      <a:srgbClr val="E2E4E8"/>
                    </a:solidFill>
                  </a:tcPr>
                </a:tc>
                <a:tc>
                  <a:txBody>
                    <a:bodyPr/>
                    <a:lstStyle/>
                    <a:p>
                      <a:pPr indent="0" marL="0">
                        <a:lnSpc>
                          <a:spcPts val="1820"/>
                        </a:lnSpc>
                        <a:buNone/>
                      </a:pPr>
                      <a:r>
                        <a:rPr lang="en-US" sz="1300" b="1" dirty="0">
                          <a:solidFill>
                            <a:srgbClr val="0F172A"/>
                          </a:solidFill>
                          <a:latin typeface="IBM Plex Sans" pitchFamily="34" charset="0"/>
                          <a:ea typeface="IBM Plex Sans" pitchFamily="34" charset="-122"/>
                          <a:cs typeface="IBM Plex Sans" pitchFamily="34" charset="-120"/>
                        </a:rPr>
                        <a:t>GCP billing export</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5B6B9"/>
                      </a:solidFill>
                      <a:prstDash val="solid"/>
                      <a:round/>
                      <a:headEnd type="none" w="med" len="med"/>
                      <a:tailEnd type="none" w="med" len="med"/>
                    </a:lnL>
                    <a:lnR w="12700" cap="flat" cmpd="sng" algn="ctr">
                      <a:solidFill>
                        <a:srgbClr val="B5B6B9"/>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B5B6B9"/>
                      </a:solidFill>
                      <a:prstDash val="solid"/>
                      <a:round/>
                      <a:headEnd type="none" w="med" len="med"/>
                      <a:tailEnd type="none" w="med" len="med"/>
                    </a:lnB>
                    <a:solidFill>
                      <a:srgbClr val="E2E4E8"/>
                    </a:solidFill>
                  </a:tcPr>
                </a:tc>
              </a:tr>
              <a:tr h="359321">
                <a:tc>
                  <a:txBody>
                    <a:bodyPr/>
                    <a:lstStyle/>
                    <a:p>
                      <a:pPr indent="0" marL="0">
                        <a:lnSpc>
                          <a:spcPts val="1820"/>
                        </a:lnSpc>
                        <a:buNone/>
                      </a:pPr>
                      <a:r>
                        <a:rPr lang="en-US" sz="1300" dirty="0">
                          <a:solidFill>
                            <a:srgbClr val="0F172A"/>
                          </a:solidFill>
                          <a:latin typeface="IBM Plex Sans" pitchFamily="34" charset="0"/>
                          <a:ea typeface="IBM Plex Sans" pitchFamily="34" charset="-122"/>
                          <a:cs typeface="IBM Plex Sans" pitchFamily="34" charset="-120"/>
                        </a:rPr>
                        <a:t>day</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B5B6B9"/>
                      </a:solidFill>
                      <a:prstDash val="solid"/>
                      <a:round/>
                      <a:headEnd type="none" w="med" len="med"/>
                      <a:tailEnd type="none" w="med" len="med"/>
                    </a:lnT>
                    <a:lnB w="12700" cap="flat" cmpd="sng" algn="ctr">
                      <a:solidFill>
                        <a:srgbClr val="C3C4C7"/>
                      </a:solidFill>
                      <a:prstDash val="solid"/>
                      <a:round/>
                      <a:headEnd type="none" w="med" len="med"/>
                      <a:tailEnd type="none" w="med" len="med"/>
                    </a:lnB>
                  </a:tcPr>
                </a:tc>
                <a:tc>
                  <a:txBody>
                    <a:bodyPr/>
                    <a:lstStyle/>
                    <a:p>
                      <a:pPr indent="0" marL="0">
                        <a:lnSpc>
                          <a:spcPts val="1820"/>
                        </a:lnSpc>
                        <a:buNone/>
                      </a:pPr>
                      <a:r>
                        <a:rPr lang="en-US" sz="1300" dirty="0">
                          <a:solidFill>
                            <a:srgbClr val="0F172A"/>
                          </a:solidFill>
                          <a:latin typeface="IBM Plex Sans" pitchFamily="34" charset="0"/>
                          <a:ea typeface="IBM Plex Sans" pitchFamily="34" charset="-122"/>
                          <a:cs typeface="IBM Plex Sans" pitchFamily="34" charset="-120"/>
                        </a:rPr>
                        <a:t>TimePeriod.Start</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B5B6B9"/>
                      </a:solidFill>
                      <a:prstDash val="solid"/>
                      <a:round/>
                      <a:headEnd type="none" w="med" len="med"/>
                      <a:tailEnd type="none" w="med" len="med"/>
                    </a:lnT>
                    <a:lnB w="12700" cap="flat" cmpd="sng" algn="ctr">
                      <a:solidFill>
                        <a:srgbClr val="C3C4C7"/>
                      </a:solidFill>
                      <a:prstDash val="solid"/>
                      <a:round/>
                      <a:headEnd type="none" w="med" len="med"/>
                      <a:tailEnd type="none" w="med" len="med"/>
                    </a:lnB>
                  </a:tcPr>
                </a:tc>
                <a:tc>
                  <a:txBody>
                    <a:bodyPr/>
                    <a:lstStyle/>
                    <a:p>
                      <a:pPr indent="0" marL="0">
                        <a:lnSpc>
                          <a:spcPts val="1820"/>
                        </a:lnSpc>
                        <a:buNone/>
                      </a:pPr>
                      <a:r>
                        <a:rPr lang="en-US" sz="1300" dirty="0">
                          <a:solidFill>
                            <a:srgbClr val="0F172A"/>
                          </a:solidFill>
                          <a:latin typeface="IBM Plex Sans" pitchFamily="34" charset="0"/>
                          <a:ea typeface="IBM Plex Sans" pitchFamily="34" charset="-122"/>
                          <a:cs typeface="IBM Plex Sans" pitchFamily="34" charset="-120"/>
                        </a:rPr>
                        <a:t>UsageDate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B5B6B9"/>
                      </a:solidFill>
                      <a:prstDash val="solid"/>
                      <a:round/>
                      <a:headEnd type="none" w="med" len="med"/>
                      <a:tailEnd type="none" w="med" len="med"/>
                    </a:lnT>
                    <a:lnB w="12700" cap="flat" cmpd="sng" algn="ctr">
                      <a:solidFill>
                        <a:srgbClr val="C3C4C7"/>
                      </a:solidFill>
                      <a:prstDash val="solid"/>
                      <a:round/>
                      <a:headEnd type="none" w="med" len="med"/>
                      <a:tailEnd type="none" w="med" len="med"/>
                    </a:lnB>
                  </a:tcPr>
                </a:tc>
                <a:tc>
                  <a:txBody>
                    <a:bodyPr/>
                    <a:lstStyle/>
                    <a:p>
                      <a:pPr indent="0" marL="0">
                        <a:lnSpc>
                          <a:spcPts val="1820"/>
                        </a:lnSpc>
                        <a:buNone/>
                      </a:pPr>
                      <a:r>
                        <a:rPr lang="en-US" sz="1300" dirty="0">
                          <a:solidFill>
                            <a:srgbClr val="0F172A"/>
                          </a:solidFill>
                          <a:latin typeface="IBM Plex Sans" pitchFamily="34" charset="0"/>
                          <a:ea typeface="IBM Plex Sans" pitchFamily="34" charset="-122"/>
                          <a:cs typeface="IBM Plex Sans" pitchFamily="34" charset="-120"/>
                        </a:rPr>
                        <a:t>usage_start_time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B5B6B9"/>
                      </a:solidFill>
                      <a:prstDash val="solid"/>
                      <a:round/>
                      <a:headEnd type="none" w="med" len="med"/>
                      <a:tailEnd type="none" w="med" len="med"/>
                    </a:lnT>
                    <a:lnB w="12700" cap="flat" cmpd="sng" algn="ctr">
                      <a:solidFill>
                        <a:srgbClr val="C3C4C7"/>
                      </a:solidFill>
                      <a:prstDash val="solid"/>
                      <a:round/>
                      <a:headEnd type="none" w="med" len="med"/>
                      <a:tailEnd type="none" w="med" len="med"/>
                    </a:lnB>
                  </a:tcPr>
                </a:tc>
              </a:tr>
              <a:tr h="359321">
                <a:tc>
                  <a:txBody>
                    <a:bodyPr/>
                    <a:lstStyle/>
                    <a:p>
                      <a:pPr indent="0" marL="0">
                        <a:lnSpc>
                          <a:spcPts val="1820"/>
                        </a:lnSpc>
                        <a:buNone/>
                      </a:pPr>
                      <a:r>
                        <a:rPr lang="en-US" sz="1300" dirty="0">
                          <a:solidFill>
                            <a:srgbClr val="0F172A"/>
                          </a:solidFill>
                          <a:latin typeface="IBM Plex Sans" pitchFamily="34" charset="0"/>
                          <a:ea typeface="IBM Plex Sans" pitchFamily="34" charset="-122"/>
                          <a:cs typeface="IBM Plex Sans" pitchFamily="34" charset="-120"/>
                        </a:rPr>
                        <a:t>service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3C4C7"/>
                      </a:solidFill>
                      <a:prstDash val="solid"/>
                      <a:round/>
                      <a:headEnd type="none" w="med" len="med"/>
                      <a:tailEnd type="none" w="med" len="med"/>
                    </a:lnB>
                  </a:tcPr>
                </a:tc>
                <a:tc>
                  <a:txBody>
                    <a:bodyPr/>
                    <a:lstStyle/>
                    <a:p>
                      <a:pPr indent="0" marL="0">
                        <a:lnSpc>
                          <a:spcPts val="1820"/>
                        </a:lnSpc>
                        <a:buNone/>
                      </a:pPr>
                      <a:r>
                        <a:rPr lang="en-US" sz="1300" dirty="0">
                          <a:solidFill>
                            <a:srgbClr val="0F172A"/>
                          </a:solidFill>
                          <a:latin typeface="IBM Plex Sans" pitchFamily="34" charset="0"/>
                          <a:ea typeface="IBM Plex Sans" pitchFamily="34" charset="-122"/>
                          <a:cs typeface="IBM Plex Sans" pitchFamily="34" charset="-120"/>
                        </a:rPr>
                        <a:t>SERVICE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3C4C7"/>
                      </a:solidFill>
                      <a:prstDash val="solid"/>
                      <a:round/>
                      <a:headEnd type="none" w="med" len="med"/>
                      <a:tailEnd type="none" w="med" len="med"/>
                    </a:lnB>
                  </a:tcPr>
                </a:tc>
                <a:tc>
                  <a:txBody>
                    <a:bodyPr/>
                    <a:lstStyle/>
                    <a:p>
                      <a:pPr indent="0" marL="0">
                        <a:lnSpc>
                          <a:spcPts val="1820"/>
                        </a:lnSpc>
                        <a:buNone/>
                      </a:pPr>
                      <a:r>
                        <a:rPr lang="en-US" sz="1300" dirty="0">
                          <a:solidFill>
                            <a:srgbClr val="0F172A"/>
                          </a:solidFill>
                          <a:latin typeface="IBM Plex Sans" pitchFamily="34" charset="0"/>
                          <a:ea typeface="IBM Plex Sans" pitchFamily="34" charset="-122"/>
                          <a:cs typeface="IBM Plex Sans" pitchFamily="34" charset="-120"/>
                        </a:rPr>
                        <a:t>ServiceName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3C4C7"/>
                      </a:solidFill>
                      <a:prstDash val="solid"/>
                      <a:round/>
                      <a:headEnd type="none" w="med" len="med"/>
                      <a:tailEnd type="none" w="med" len="med"/>
                    </a:lnB>
                  </a:tcPr>
                </a:tc>
                <a:tc>
                  <a:txBody>
                    <a:bodyPr/>
                    <a:lstStyle/>
                    <a:p>
                      <a:pPr indent="0" marL="0">
                        <a:lnSpc>
                          <a:spcPts val="1820"/>
                        </a:lnSpc>
                        <a:buNone/>
                      </a:pPr>
                      <a:r>
                        <a:rPr lang="en-US" sz="1300" dirty="0">
                          <a:solidFill>
                            <a:srgbClr val="0F172A"/>
                          </a:solidFill>
                          <a:latin typeface="IBM Plex Sans" pitchFamily="34" charset="0"/>
                          <a:ea typeface="IBM Plex Sans" pitchFamily="34" charset="-122"/>
                          <a:cs typeface="IBM Plex Sans" pitchFamily="34" charset="-120"/>
                        </a:rPr>
                        <a:t>service.description</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3C4C7"/>
                      </a:solidFill>
                      <a:prstDash val="solid"/>
                      <a:round/>
                      <a:headEnd type="none" w="med" len="med"/>
                      <a:tailEnd type="none" w="med" len="med"/>
                    </a:lnB>
                  </a:tcPr>
                </a:tc>
              </a:tr>
              <a:tr h="359321">
                <a:tc>
                  <a:txBody>
                    <a:bodyPr/>
                    <a:lstStyle/>
                    <a:p>
                      <a:pPr indent="0" marL="0">
                        <a:lnSpc>
                          <a:spcPts val="1820"/>
                        </a:lnSpc>
                        <a:buNone/>
                      </a:pPr>
                      <a:r>
                        <a:rPr lang="en-US" sz="1300" dirty="0">
                          <a:solidFill>
                            <a:srgbClr val="0F172A"/>
                          </a:solidFill>
                          <a:latin typeface="IBM Plex Sans" pitchFamily="34" charset="0"/>
                          <a:ea typeface="IBM Plex Sans" pitchFamily="34" charset="-122"/>
                          <a:cs typeface="IBM Plex Sans" pitchFamily="34" charset="-120"/>
                        </a:rPr>
                        <a:t>environment</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3C4C7"/>
                      </a:solidFill>
                      <a:prstDash val="solid"/>
                      <a:round/>
                      <a:headEnd type="none" w="med" len="med"/>
                      <a:tailEnd type="none" w="med" len="med"/>
                    </a:lnB>
                  </a:tcPr>
                </a:tc>
                <a:tc>
                  <a:txBody>
                    <a:bodyPr/>
                    <a:lstStyle/>
                    <a:p>
                      <a:pPr indent="0" marL="0">
                        <a:lnSpc>
                          <a:spcPts val="1820"/>
                        </a:lnSpc>
                        <a:buNone/>
                      </a:pPr>
                      <a:r>
                        <a:rPr lang="en-US" sz="1300" dirty="0">
                          <a:solidFill>
                            <a:srgbClr val="0F172A"/>
                          </a:solidFill>
                          <a:latin typeface="IBM Plex Sans" pitchFamily="34" charset="0"/>
                          <a:ea typeface="IBM Plex Sans" pitchFamily="34" charset="-122"/>
                          <a:cs typeface="IBM Plex Sans" pitchFamily="34" charset="-120"/>
                        </a:rPr>
                        <a:t>chosen per connection</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3C4C7"/>
                      </a:solidFill>
                      <a:prstDash val="solid"/>
                      <a:round/>
                      <a:headEnd type="none" w="med" len="med"/>
                      <a:tailEnd type="none" w="med" len="med"/>
                    </a:lnB>
                  </a:tcPr>
                </a:tc>
                <a:tc>
                  <a:txBody>
                    <a:bodyPr/>
                    <a:lstStyle/>
                    <a:p>
                      <a:pPr indent="0" marL="0">
                        <a:lnSpc>
                          <a:spcPts val="1820"/>
                        </a:lnSpc>
                        <a:buNone/>
                      </a:pPr>
                      <a:r>
                        <a:rPr lang="en-US" sz="1300" dirty="0">
                          <a:solidFill>
                            <a:srgbClr val="0F172A"/>
                          </a:solidFill>
                          <a:latin typeface="IBM Plex Sans" pitchFamily="34" charset="0"/>
                          <a:ea typeface="IBM Plex Sans" pitchFamily="34" charset="-122"/>
                          <a:cs typeface="IBM Plex Sans" pitchFamily="34" charset="-120"/>
                        </a:rPr>
                        <a:t>chosen per connection</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3C4C7"/>
                      </a:solidFill>
                      <a:prstDash val="solid"/>
                      <a:round/>
                      <a:headEnd type="none" w="med" len="med"/>
                      <a:tailEnd type="none" w="med" len="med"/>
                    </a:lnB>
                  </a:tcPr>
                </a:tc>
                <a:tc>
                  <a:txBody>
                    <a:bodyPr/>
                    <a:lstStyle/>
                    <a:p>
                      <a:pPr indent="0" marL="0">
                        <a:lnSpc>
                          <a:spcPts val="1820"/>
                        </a:lnSpc>
                        <a:buNone/>
                      </a:pPr>
                      <a:r>
                        <a:rPr lang="en-US" sz="1300" dirty="0">
                          <a:solidFill>
                            <a:srgbClr val="0F172A"/>
                          </a:solidFill>
                          <a:latin typeface="IBM Plex Sans" pitchFamily="34" charset="0"/>
                          <a:ea typeface="IBM Plex Sans" pitchFamily="34" charset="-122"/>
                          <a:cs typeface="IBM Plex Sans" pitchFamily="34" charset="-120"/>
                        </a:rPr>
                        <a:t>chosen per connection</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3C4C7"/>
                      </a:solidFill>
                      <a:prstDash val="solid"/>
                      <a:round/>
                      <a:headEnd type="none" w="med" len="med"/>
                      <a:tailEnd type="none" w="med" len="med"/>
                    </a:lnB>
                  </a:tcPr>
                </a:tc>
              </a:tr>
              <a:tr h="359321">
                <a:tc>
                  <a:txBody>
                    <a:bodyPr/>
                    <a:lstStyle/>
                    <a:p>
                      <a:pPr indent="0" marL="0">
                        <a:lnSpc>
                          <a:spcPts val="1820"/>
                        </a:lnSpc>
                        <a:buNone/>
                      </a:pPr>
                      <a:r>
                        <a:rPr lang="en-US" sz="1300" dirty="0">
                          <a:solidFill>
                            <a:srgbClr val="0F172A"/>
                          </a:solidFill>
                          <a:latin typeface="IBM Plex Sans" pitchFamily="34" charset="0"/>
                          <a:ea typeface="IBM Plex Sans" pitchFamily="34" charset="-122"/>
                          <a:cs typeface="IBM Plex Sans" pitchFamily="34" charset="-120"/>
                        </a:rPr>
                        <a:t>cost (USD)</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3C4C7"/>
                      </a:solidFill>
                      <a:prstDash val="solid"/>
                      <a:round/>
                      <a:headEnd type="none" w="med" len="med"/>
                      <a:tailEnd type="none" w="med" len="med"/>
                    </a:lnB>
                  </a:tcPr>
                </a:tc>
                <a:tc>
                  <a:txBody>
                    <a:bodyPr/>
                    <a:lstStyle/>
                    <a:p>
                      <a:pPr indent="0" marL="0">
                        <a:lnSpc>
                          <a:spcPts val="1820"/>
                        </a:lnSpc>
                        <a:buNone/>
                      </a:pPr>
                      <a:r>
                        <a:rPr lang="en-US" sz="1300" dirty="0">
                          <a:solidFill>
                            <a:srgbClr val="0F172A"/>
                          </a:solidFill>
                          <a:latin typeface="IBM Plex Sans" pitchFamily="34" charset="0"/>
                          <a:ea typeface="IBM Plex Sans" pitchFamily="34" charset="-122"/>
                          <a:cs typeface="IBM Plex Sans" pitchFamily="34" charset="-120"/>
                        </a:rPr>
                        <a:t>UnblendedCost</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3C4C7"/>
                      </a:solidFill>
                      <a:prstDash val="solid"/>
                      <a:round/>
                      <a:headEnd type="none" w="med" len="med"/>
                      <a:tailEnd type="none" w="med" len="med"/>
                    </a:lnB>
                  </a:tcPr>
                </a:tc>
                <a:tc>
                  <a:txBody>
                    <a:bodyPr/>
                    <a:lstStyle/>
                    <a:p>
                      <a:pPr indent="0" marL="0">
                        <a:lnSpc>
                          <a:spcPts val="1820"/>
                        </a:lnSpc>
                        <a:buNone/>
                      </a:pPr>
                      <a:r>
                        <a:rPr lang="en-US" sz="1300" dirty="0">
                          <a:solidFill>
                            <a:srgbClr val="0F172A"/>
                          </a:solidFill>
                          <a:latin typeface="IBM Plex Sans" pitchFamily="34" charset="0"/>
                          <a:ea typeface="IBM Plex Sans" pitchFamily="34" charset="-122"/>
                          <a:cs typeface="IBM Plex Sans" pitchFamily="34" charset="-120"/>
                        </a:rPr>
                        <a:t>Cost, INR → USD</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3C4C7"/>
                      </a:solidFill>
                      <a:prstDash val="solid"/>
                      <a:round/>
                      <a:headEnd type="none" w="med" len="med"/>
                      <a:tailEnd type="none" w="med" len="med"/>
                    </a:lnB>
                  </a:tcPr>
                </a:tc>
                <a:tc>
                  <a:txBody>
                    <a:bodyPr/>
                    <a:lstStyle/>
                    <a:p>
                      <a:pPr indent="0" marL="0">
                        <a:lnSpc>
                          <a:spcPts val="1820"/>
                        </a:lnSpc>
                        <a:buNone/>
                      </a:pPr>
                      <a:r>
                        <a:rPr lang="en-US" sz="1300" dirty="0">
                          <a:solidFill>
                            <a:srgbClr val="0F172A"/>
                          </a:solidFill>
                          <a:latin typeface="IBM Plex Sans" pitchFamily="34" charset="0"/>
                          <a:ea typeface="IBM Plex Sans" pitchFamily="34" charset="-122"/>
                          <a:cs typeface="IBM Plex Sans" pitchFamily="34" charset="-120"/>
                        </a:rPr>
                        <a:t>cost + credits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3C4C7"/>
                      </a:solidFill>
                      <a:prstDash val="solid"/>
                      <a:round/>
                      <a:headEnd type="none" w="med" len="med"/>
                      <a:tailEnd type="none" w="med" len="med"/>
                    </a:lnB>
                  </a:tcPr>
                </a:tc>
              </a:tr>
            </a:tbl>
          </a:graphicData>
        </a:graphic>
      </p:graphicFrame>
      <p:sp>
        <p:nvSpPr>
          <p:cNvPr id="5" name="Text 2"/>
          <p:cNvSpPr/>
          <p:nvPr/>
        </p:nvSpPr>
        <p:spPr>
          <a:xfrm>
            <a:off x="815975" y="3951089"/>
            <a:ext cx="3414167" cy="808930"/>
          </a:xfrm>
          <a:prstGeom prst="roundRect">
            <a:avLst>
              <a:gd name="adj" fmla="val 12167"/>
            </a:avLst>
          </a:prstGeom>
          <a:solidFill>
            <a:srgbClr val="FFFFFF"/>
          </a:solidFill>
          <a:ln w="6350">
            <a:solidFill>
              <a:srgbClr val="DCE2EB"/>
            </a:solidFill>
            <a:prstDash val="solid"/>
          </a:ln>
        </p:spPr>
        <p:txBody>
          <a:bodyPr wrap="square" lIns="152147" tIns="126747" rIns="60581" bIns="101347" rtlCol="0" anchor="t">
            <a:normAutofit/>
          </a:bodyPr>
          <a:lstStyle/>
          <a:p>
            <a:pPr algn="l" indent="0" marL="0">
              <a:lnSpc>
                <a:spcPts val="1960"/>
              </a:lnSpc>
              <a:buNone/>
            </a:pPr>
            <a:r>
              <a:rPr lang="en-US" sz="1400" b="1" dirty="0">
                <a:solidFill>
                  <a:srgbClr val="0F172A"/>
                </a:solidFill>
                <a:latin typeface="IBM Plex Sans" pitchFamily="34" charset="0"/>
                <a:ea typeface="IBM Plex Sans" pitchFamily="34" charset="-122"/>
                <a:cs typeface="IBM Plex Sans" pitchFamily="34" charset="-120"/>
              </a:rPr>
              <a:t>Normaliser maps services to 6 types; each connection sets its environment</a:t>
            </a:r>
            <a:endParaRPr lang="en-US" sz="1400" dirty="0">
              <a:latin typeface="IBM Plex Sans" charset="0"/>
              <a:ea typeface="IBM Plex Sans" charset="0"/>
              <a:cs typeface="IBM Plex Sans" charset="0"/>
            </a:endParaRPr>
          </a:p>
        </p:txBody>
      </p:sp>
      <p:sp>
        <p:nvSpPr>
          <p:cNvPr id="6" name="Text 3"/>
          <p:cNvSpPr/>
          <p:nvPr/>
        </p:nvSpPr>
        <p:spPr>
          <a:xfrm>
            <a:off x="4388892" y="3951089"/>
            <a:ext cx="3414216" cy="808930"/>
          </a:xfrm>
          <a:prstGeom prst="roundRect">
            <a:avLst>
              <a:gd name="adj" fmla="val 12167"/>
            </a:avLst>
          </a:prstGeom>
          <a:solidFill>
            <a:srgbClr val="FFFFFF"/>
          </a:solidFill>
          <a:ln w="6350">
            <a:solidFill>
              <a:srgbClr val="DCE2EB"/>
            </a:solidFill>
            <a:prstDash val="solid"/>
          </a:ln>
        </p:spPr>
        <p:txBody>
          <a:bodyPr wrap="square" lIns="152147" tIns="126747" rIns="60579" bIns="101347" rtlCol="0" anchor="t">
            <a:normAutofit/>
          </a:bodyPr>
          <a:lstStyle/>
          <a:p>
            <a:pPr algn="l" indent="0" marL="0">
              <a:lnSpc>
                <a:spcPts val="1960"/>
              </a:lnSpc>
              <a:buNone/>
            </a:pPr>
            <a:r>
              <a:rPr lang="en-US" sz="1400" b="1" dirty="0">
                <a:solidFill>
                  <a:srgbClr val="0F172A"/>
                </a:solidFill>
                <a:latin typeface="IBM Plex Sans" pitchFamily="34" charset="0"/>
                <a:ea typeface="IBM Plex Sans" pitchFamily="34" charset="-122"/>
                <a:cs typeface="IBM Plex Sans" pitchFamily="34" charset="-120"/>
              </a:rPr>
              <a:t>Idempotent upsert</a:t>
            </a:r>
            <a:r>
              <a:rPr lang="en-US" sz="1400" dirty="0">
                <a:solidFill>
                  <a:srgbClr val="0F172A"/>
                </a:solidFill>
                <a:latin typeface="IBM Plex Sans" pitchFamily="34" charset="0"/>
                <a:ea typeface="IBM Plex Sans" pitchFamily="34" charset="-122"/>
                <a:cs typeface="IBM Plex Sans" pitchFamily="34" charset="-120"/>
              </a:rPr>
              <a:t> on the natural key: re-runs never duplicate</a:t>
            </a:r>
            <a:endParaRPr lang="en-US" sz="1400" dirty="0">
              <a:latin typeface="IBM Plex Sans" charset="0"/>
              <a:ea typeface="IBM Plex Sans" charset="0"/>
              <a:cs typeface="IBM Plex Sans" charset="0"/>
            </a:endParaRPr>
          </a:p>
        </p:txBody>
      </p:sp>
      <p:sp>
        <p:nvSpPr>
          <p:cNvPr id="7" name="Text 4"/>
          <p:cNvSpPr/>
          <p:nvPr/>
        </p:nvSpPr>
        <p:spPr>
          <a:xfrm>
            <a:off x="7961858" y="3951089"/>
            <a:ext cx="3414167" cy="808930"/>
          </a:xfrm>
          <a:prstGeom prst="roundRect">
            <a:avLst>
              <a:gd name="adj" fmla="val 12167"/>
            </a:avLst>
          </a:prstGeom>
          <a:solidFill>
            <a:srgbClr val="FFFFFF"/>
          </a:solidFill>
          <a:ln w="6350">
            <a:solidFill>
              <a:srgbClr val="DCE2EB"/>
            </a:solidFill>
            <a:prstDash val="solid"/>
          </a:ln>
        </p:spPr>
        <p:txBody>
          <a:bodyPr wrap="square" lIns="152147" tIns="126747" rIns="60581" bIns="101347" rtlCol="0" anchor="t">
            <a:normAutofit/>
          </a:bodyPr>
          <a:lstStyle/>
          <a:p>
            <a:pPr algn="l" indent="0" marL="0">
              <a:lnSpc>
                <a:spcPts val="1960"/>
              </a:lnSpc>
              <a:buNone/>
            </a:pPr>
            <a:r>
              <a:rPr lang="en-US" sz="1400" b="1" dirty="0">
                <a:solidFill>
                  <a:srgbClr val="0F172A"/>
                </a:solidFill>
                <a:latin typeface="IBM Plex Sans" pitchFamily="34" charset="0"/>
                <a:ea typeface="IBM Plex Sans" pitchFamily="34" charset="-122"/>
                <a:cs typeface="IBM Plex Sans" pitchFamily="34" charset="-120"/>
              </a:rPr>
              <a:t>Scheduled</a:t>
            </a:r>
            <a:r>
              <a:rPr lang="en-US" sz="1400" dirty="0">
                <a:solidFill>
                  <a:srgbClr val="0F172A"/>
                </a:solidFill>
                <a:latin typeface="IBM Plex Sans" pitchFamily="34" charset="0"/>
                <a:ea typeface="IBM Plex Sans" pitchFamily="34" charset="-122"/>
                <a:cs typeface="IBM Plex Sans" pitchFamily="34" charset="-120"/>
              </a:rPr>
              <a:t>: daily 02:00, cost 15 min, metrics 5 min</a:t>
            </a:r>
            <a:endParaRPr lang="en-US" sz="1400" dirty="0">
              <a:latin typeface="IBM Plex Sans" charset="0"/>
              <a:ea typeface="IBM Plex Sans" charset="0"/>
              <a:cs typeface="IBM Plex Sans" charset="0"/>
            </a:endParaRPr>
          </a:p>
        </p:txBody>
      </p:sp>
      <p:sp>
        <p:nvSpPr>
          <p:cNvPr id="8" name="Text 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468"/>
                </a:solidFill>
                <a:latin typeface="IBM Plex Sans" pitchFamily="34" charset="0"/>
                <a:ea typeface="IBM Plex Sans" pitchFamily="34" charset="-122"/>
                <a:cs typeface="IBM Plex Sans" pitchFamily="34" charset="-120"/>
              </a:rPr>
              <a:t>CloudLens · Capstone viva · 6</a:t>
            </a:r>
            <a:endParaRPr lang="en-US" sz="1200" dirty="0">
              <a:latin typeface="IBM Plex Sans" charset="0"/>
              <a:ea typeface="IBM Plex Sans" charset="0"/>
              <a:cs typeface="IBM Plex Sans"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812800" y="1271935"/>
            <a:ext cx="3401060"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5B9BFF"/>
                </a:solidFill>
                <a:latin typeface="JetBrains Mono" pitchFamily="49" charset="0"/>
                <a:ea typeface="JetBrains Mono" pitchFamily="49" charset="-122"/>
                <a:cs typeface="JetBrains Mono" pitchFamily="49" charset="-120"/>
              </a:rPr>
              <a:t>REAL-TIME DASHBOARD</a:t>
            </a:r>
            <a:endParaRPr lang="en-US" sz="1200" dirty="0">
              <a:latin typeface="JetBrains Mono" charset="0"/>
              <a:ea typeface="JetBrains Mono" charset="0"/>
              <a:cs typeface="JetBrains Mono" charset="0"/>
            </a:endParaRPr>
          </a:p>
        </p:txBody>
      </p:sp>
      <p:sp>
        <p:nvSpPr>
          <p:cNvPr id="3" name="Text 1"/>
          <p:cNvSpPr/>
          <p:nvPr>
            <p:ph type="title"/>
          </p:nvPr>
        </p:nvSpPr>
        <p:spPr>
          <a:xfrm>
            <a:off x="812800" y="1663055"/>
            <a:ext cx="3401060" cy="91946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8ECF4"/>
                </a:solidFill>
                <a:latin typeface="IBM Plex Sans" pitchFamily="34" charset="0"/>
                <a:ea typeface="IBM Plex Sans" pitchFamily="34" charset="-122"/>
                <a:cs typeface="IBM Plex Sans" pitchFamily="34" charset="-120"/>
              </a:rPr>
              <a:t>Everything on one screen</a:t>
            </a:r>
            <a:endParaRPr lang="en-US" sz="3200" dirty="0">
              <a:latin typeface="IBM Plex Sans" charset="0"/>
              <a:ea typeface="IBM Plex Sans" charset="0"/>
              <a:cs typeface="IBM Plex Sans" charset="0"/>
            </a:endParaRPr>
          </a:p>
        </p:txBody>
      </p:sp>
      <p:sp>
        <p:nvSpPr>
          <p:cNvPr id="4" name="Text 2"/>
          <p:cNvSpPr/>
          <p:nvPr/>
        </p:nvSpPr>
        <p:spPr>
          <a:xfrm>
            <a:off x="883920" y="2734915"/>
            <a:ext cx="3322320" cy="2597150"/>
          </a:xfrm>
          <a:prstGeom prst="rect">
            <a:avLst/>
          </a:prstGeom>
          <a:noFill/>
          <a:ln/>
        </p:spPr>
        <p:txBody>
          <a:bodyPr wrap="square" lIns="0" tIns="0" rIns="0" bIns="0" rtlCol="0" anchor="t">
            <a:normAutofit/>
          </a:bodyPr>
          <a:lstStyle/>
          <a:p>
            <a:pPr algn="l" marL="182880" indent="-182880">
              <a:lnSpc>
                <a:spcPts val="2250"/>
              </a:lnSpc>
              <a:buSzPct val="100000"/>
              <a:buChar char="•"/>
            </a:pPr>
            <a:r>
              <a:rPr lang="en-US" sz="1500" dirty="0">
                <a:solidFill>
                  <a:srgbClr val="C9D3E3"/>
                </a:solidFill>
                <a:latin typeface="IBM Plex Sans" pitchFamily="34" charset="0"/>
                <a:ea typeface="IBM Plex Sans" pitchFamily="34" charset="-122"/>
                <a:cs typeface="IBM Plex Sans" pitchFamily="34" charset="-120"/>
              </a:rPr>
              <a:t>KPIs: spend, MTD vs budget, forecast, alerts, savings</a:t>
            </a:r>
            <a:endParaRPr lang="en-US" sz="1500" dirty="0">
              <a:latin typeface="IBM Plex Sans" charset="0"/>
              <a:ea typeface="IBM Plex Sans" charset="0"/>
              <a:cs typeface="IBM Plex Sans" charset="0"/>
            </a:endParaRPr>
          </a:p>
          <a:p>
            <a:pPr algn="l" marL="182880" indent="-182880">
              <a:lnSpc>
                <a:spcPts val="2250"/>
              </a:lnSpc>
              <a:buSzPct val="100000"/>
              <a:buChar char="•"/>
            </a:pPr>
            <a:r>
              <a:rPr lang="en-US" sz="1500" dirty="0">
                <a:solidFill>
                  <a:srgbClr val="C9D3E3"/>
                </a:solidFill>
                <a:latin typeface="IBM Plex Sans" pitchFamily="34" charset="0"/>
                <a:ea typeface="IBM Plex Sans" pitchFamily="34" charset="-122"/>
                <a:cs typeface="IBM Plex Sans" pitchFamily="34" charset="-120"/>
              </a:rPr>
              <a:t>Trend with budget line and anomaly markers</a:t>
            </a:r>
            <a:endParaRPr lang="en-US" sz="1500" dirty="0">
              <a:latin typeface="IBM Plex Sans" charset="0"/>
              <a:ea typeface="IBM Plex Sans" charset="0"/>
              <a:cs typeface="IBM Plex Sans" charset="0"/>
            </a:endParaRPr>
          </a:p>
          <a:p>
            <a:pPr algn="l" marL="182880" indent="-182880">
              <a:lnSpc>
                <a:spcPts val="2250"/>
              </a:lnSpc>
              <a:buSzPct val="100000"/>
              <a:buChar char="•"/>
            </a:pPr>
            <a:r>
              <a:rPr lang="en-US" sz="1500" dirty="0">
                <a:solidFill>
                  <a:srgbClr val="C9D3E3"/>
                </a:solidFill>
                <a:latin typeface="IBM Plex Sans" pitchFamily="34" charset="0"/>
                <a:ea typeface="IBM Plex Sans" pitchFamily="34" charset="-122"/>
                <a:cs typeface="IBM Plex Sans" pitchFamily="34" charset="-120"/>
              </a:rPr>
              <a:t>Utilisation per cloud, 80% threshold</a:t>
            </a:r>
            <a:endParaRPr lang="en-US" sz="1500" dirty="0">
              <a:latin typeface="IBM Plex Sans" charset="0"/>
              <a:ea typeface="IBM Plex Sans" charset="0"/>
              <a:cs typeface="IBM Plex Sans" charset="0"/>
            </a:endParaRPr>
          </a:p>
          <a:p>
            <a:pPr algn="l" marL="182880" indent="-182880">
              <a:lnSpc>
                <a:spcPts val="2250"/>
              </a:lnSpc>
              <a:buSzPct val="100000"/>
              <a:buChar char="•"/>
            </a:pPr>
            <a:r>
              <a:rPr lang="en-US" sz="1500" dirty="0">
                <a:solidFill>
                  <a:srgbClr val="C9D3E3"/>
                </a:solidFill>
                <a:latin typeface="IBM Plex Sans" pitchFamily="34" charset="0"/>
                <a:ea typeface="IBM Plex Sans" pitchFamily="34" charset="-122"/>
                <a:cs typeface="IBM Plex Sans" pitchFamily="34" charset="-120"/>
              </a:rPr>
              <a:t>Date-range calendar shared by every screen</a:t>
            </a:r>
            <a:endParaRPr lang="en-US" sz="1500" dirty="0">
              <a:latin typeface="IBM Plex Sans" charset="0"/>
              <a:ea typeface="IBM Plex Sans" charset="0"/>
              <a:cs typeface="IBM Plex Sans" charset="0"/>
            </a:endParaRPr>
          </a:p>
          <a:p>
            <a:pPr algn="l" marL="182880" indent="-182880">
              <a:lnSpc>
                <a:spcPts val="2250"/>
              </a:lnSpc>
              <a:buSzPct val="100000"/>
              <a:buChar char="•"/>
            </a:pPr>
            <a:r>
              <a:rPr lang="en-US" sz="1500" dirty="0">
                <a:solidFill>
                  <a:srgbClr val="C9D3E3"/>
                </a:solidFill>
                <a:latin typeface="IBM Plex Sans" pitchFamily="34" charset="0"/>
                <a:ea typeface="IBM Plex Sans" pitchFamily="34" charset="-122"/>
                <a:cs typeface="IBM Plex Sans" pitchFamily="34" charset="-120"/>
              </a:rPr>
              <a:t>Auto-refresh every 60 s</a:t>
            </a:r>
            <a:endParaRPr lang="en-US" sz="1500" dirty="0">
              <a:latin typeface="IBM Plex Sans" charset="0"/>
              <a:ea typeface="IBM Plex Sans" charset="0"/>
              <a:cs typeface="IBM Plex Sans" charset="0"/>
            </a:endParaRPr>
          </a:p>
        </p:txBody>
      </p:sp>
      <p:pic>
        <p:nvPicPr>
          <p:cNvPr id="5" name="Image 0" descr="CloudLens dashboard in dark theme with KPI cards, daily cost trend, spend by provider, utilisation and top resources">    </p:cNvPr>
          <p:cNvPicPr>
            <a:picLocks noChangeAspect="1"/>
          </p:cNvPicPr>
          <p:nvPr/>
        </p:nvPicPr>
        <p:blipFill>
          <a:blip r:embed="rId4"/>
          <a:stretch>
            <a:fillRect/>
          </a:stretch>
        </p:blipFill>
        <p:spPr>
          <a:xfrm>
            <a:off x="5370576" y="628650"/>
            <a:ext cx="5108448" cy="5321300"/>
          </a:xfrm>
          <a:prstGeom prst="rect">
            <a:avLst/>
          </a:prstGeom>
        </p:spPr>
      </p:pic>
      <p:sp>
        <p:nvSpPr>
          <p:cNvPr id="6" name="Shape 3"/>
          <p:cNvSpPr/>
          <p:nvPr/>
        </p:nvSpPr>
        <p:spPr>
          <a:xfrm>
            <a:off x="4473575" y="625475"/>
            <a:ext cx="6902450" cy="5327650"/>
          </a:xfrm>
          <a:prstGeom prst="roundRect">
            <a:avLst>
              <a:gd name="adj" fmla="val 1847"/>
            </a:avLst>
          </a:prstGeom>
          <a:noFill/>
          <a:ln w="6350">
            <a:solidFill>
              <a:srgbClr val="243047"/>
            </a:solidFill>
            <a:prstDash val="solid"/>
          </a:ln>
        </p:spPr>
        <p:txBody>
          <a:bodyPr/>
          <a:p/>
        </p:txBody>
      </p:sp>
      <p:sp>
        <p:nvSpPr>
          <p:cNvPr id="7" name="Text 4"/>
          <p:cNvSpPr/>
          <p:nvPr/>
        </p:nvSpPr>
        <p:spPr>
          <a:xfrm>
            <a:off x="812800" y="62890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8"/>
                </a:solidFill>
                <a:latin typeface="IBM Plex Sans" pitchFamily="34" charset="0"/>
                <a:ea typeface="IBM Plex Sans" pitchFamily="34" charset="-122"/>
                <a:cs typeface="IBM Plex Sans" pitchFamily="34" charset="-120"/>
              </a:rPr>
              <a:t>CloudLens · Capstone viva · 7</a:t>
            </a:r>
            <a:endParaRPr lang="en-US" sz="1200" dirty="0">
              <a:latin typeface="IBM Plex Sans" charset="0"/>
              <a:ea typeface="IBM Plex Sans" charset="0"/>
              <a:cs typeface="IBM Plex Sans"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812800" y="1129060"/>
            <a:ext cx="3401060"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5B9BFF"/>
                </a:solidFill>
                <a:latin typeface="JetBrains Mono" pitchFamily="49" charset="0"/>
                <a:ea typeface="JetBrains Mono" pitchFamily="49" charset="-122"/>
                <a:cs typeface="JetBrains Mono" pitchFamily="49" charset="-120"/>
              </a:rPr>
              <a:t>HISTORICAL ANALYSIS</a:t>
            </a:r>
            <a:endParaRPr lang="en-US" sz="1200" dirty="0">
              <a:latin typeface="JetBrains Mono" charset="0"/>
              <a:ea typeface="JetBrains Mono" charset="0"/>
              <a:cs typeface="JetBrains Mono" charset="0"/>
            </a:endParaRPr>
          </a:p>
        </p:txBody>
      </p:sp>
      <p:sp>
        <p:nvSpPr>
          <p:cNvPr id="3" name="Text 1"/>
          <p:cNvSpPr/>
          <p:nvPr>
            <p:ph type="title"/>
          </p:nvPr>
        </p:nvSpPr>
        <p:spPr>
          <a:xfrm>
            <a:off x="812800" y="1520180"/>
            <a:ext cx="3401060" cy="91946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8ECF4"/>
                </a:solidFill>
                <a:latin typeface="IBM Plex Sans" pitchFamily="34" charset="0"/>
                <a:ea typeface="IBM Plex Sans" pitchFamily="34" charset="-122"/>
                <a:cs typeface="IBM Plex Sans" pitchFamily="34" charset="-120"/>
              </a:rPr>
              <a:t>Any period, validated</a:t>
            </a:r>
            <a:endParaRPr lang="en-US" sz="3200" dirty="0">
              <a:latin typeface="IBM Plex Sans" charset="0"/>
              <a:ea typeface="IBM Plex Sans" charset="0"/>
              <a:cs typeface="IBM Plex Sans" charset="0"/>
            </a:endParaRPr>
          </a:p>
        </p:txBody>
      </p:sp>
      <p:sp>
        <p:nvSpPr>
          <p:cNvPr id="4" name="Text 2"/>
          <p:cNvSpPr/>
          <p:nvPr/>
        </p:nvSpPr>
        <p:spPr>
          <a:xfrm>
            <a:off x="883920" y="2592040"/>
            <a:ext cx="3322320" cy="2882900"/>
          </a:xfrm>
          <a:prstGeom prst="rect">
            <a:avLst/>
          </a:prstGeom>
          <a:noFill/>
          <a:ln/>
        </p:spPr>
        <p:txBody>
          <a:bodyPr wrap="square" lIns="0" tIns="0" rIns="0" bIns="0" rtlCol="0" anchor="t">
            <a:normAutofit/>
          </a:bodyPr>
          <a:lstStyle/>
          <a:p>
            <a:pPr algn="l" marL="182880" indent="-182880">
              <a:lnSpc>
                <a:spcPts val="2250"/>
              </a:lnSpc>
              <a:buSzPct val="100000"/>
              <a:buChar char="•"/>
            </a:pPr>
            <a:r>
              <a:rPr lang="en-US" sz="1500" dirty="0">
                <a:solidFill>
                  <a:srgbClr val="C9D3E3"/>
                </a:solidFill>
                <a:latin typeface="IBM Plex Sans" pitchFamily="34" charset="0"/>
                <a:ea typeface="IBM Plex Sans" pitchFamily="34" charset="-122"/>
                <a:cs typeface="IBM Plex Sans" pitchFamily="34" charset="-120"/>
              </a:rPr>
              <a:t>Presets from today: 7–90 days, months, YTD</a:t>
            </a:r>
            <a:endParaRPr lang="en-US" sz="1500" dirty="0">
              <a:latin typeface="IBM Plex Sans" charset="0"/>
              <a:ea typeface="IBM Plex Sans" charset="0"/>
              <a:cs typeface="IBM Plex Sans" charset="0"/>
            </a:endParaRPr>
          </a:p>
          <a:p>
            <a:pPr algn="l" marL="182880" indent="-182880">
              <a:lnSpc>
                <a:spcPts val="2250"/>
              </a:lnSpc>
              <a:buSzPct val="100000"/>
              <a:buChar char="•"/>
            </a:pPr>
            <a:r>
              <a:rPr lang="en-US" sz="1500" dirty="0">
                <a:solidFill>
                  <a:srgbClr val="C9D3E3"/>
                </a:solidFill>
                <a:latin typeface="IBM Plex Sans" pitchFamily="34" charset="0"/>
                <a:ea typeface="IBM Plex Sans" pitchFamily="34" charset="-122"/>
                <a:cs typeface="IBM Plex Sans" pitchFamily="34" charset="-120"/>
              </a:rPr>
              <a:t>Custom range: click start, click end, Apply</a:t>
            </a:r>
            <a:endParaRPr lang="en-US" sz="1500" dirty="0">
              <a:latin typeface="IBM Plex Sans" charset="0"/>
              <a:ea typeface="IBM Plex Sans" charset="0"/>
              <a:cs typeface="IBM Plex Sans" charset="0"/>
            </a:endParaRPr>
          </a:p>
          <a:p>
            <a:pPr algn="l" marL="182880" indent="-182880">
              <a:lnSpc>
                <a:spcPts val="2250"/>
              </a:lnSpc>
              <a:buSzPct val="100000"/>
              <a:buChar char="•"/>
            </a:pPr>
            <a:r>
              <a:rPr lang="en-US" sz="1500" dirty="0">
                <a:solidFill>
                  <a:srgbClr val="C9D3E3"/>
                </a:solidFill>
                <a:latin typeface="IBM Plex Sans" pitchFamily="34" charset="0"/>
                <a:ea typeface="IBM Plex Sans" pitchFamily="34" charset="-122"/>
                <a:cs typeface="IBM Plex Sans" pitchFamily="34" charset="-120"/>
              </a:rPr>
              <a:t>No future dates; start ≤ end; ≤ 731 days</a:t>
            </a:r>
            <a:endParaRPr lang="en-US" sz="1500" dirty="0">
              <a:latin typeface="IBM Plex Sans" charset="0"/>
              <a:ea typeface="IBM Plex Sans" charset="0"/>
              <a:cs typeface="IBM Plex Sans" charset="0"/>
            </a:endParaRPr>
          </a:p>
          <a:p>
            <a:pPr algn="l" marL="182880" indent="-182880">
              <a:lnSpc>
                <a:spcPts val="2250"/>
              </a:lnSpc>
              <a:buSzPct val="100000"/>
              <a:buChar char="•"/>
            </a:pPr>
            <a:r>
              <a:rPr lang="en-US" sz="1500" dirty="0">
                <a:solidFill>
                  <a:srgbClr val="C9D3E3"/>
                </a:solidFill>
                <a:latin typeface="IBM Plex Sans" pitchFamily="34" charset="0"/>
                <a:ea typeface="IBM Plex Sans" pitchFamily="34" charset="-122"/>
                <a:cs typeface="IBM Plex Sans" pitchFamily="34" charset="-120"/>
              </a:rPr>
              <a:t>Month-over-month with run-rate for partial months</a:t>
            </a:r>
            <a:endParaRPr lang="en-US" sz="1500" dirty="0">
              <a:latin typeface="IBM Plex Sans" charset="0"/>
              <a:ea typeface="IBM Plex Sans" charset="0"/>
              <a:cs typeface="IBM Plex Sans" charset="0"/>
            </a:endParaRPr>
          </a:p>
          <a:p>
            <a:pPr algn="l" marL="182880" indent="-182880">
              <a:lnSpc>
                <a:spcPts val="2250"/>
              </a:lnSpc>
              <a:buSzPct val="100000"/>
              <a:buChar char="•"/>
            </a:pPr>
            <a:r>
              <a:rPr lang="en-US" sz="1500" dirty="0">
                <a:solidFill>
                  <a:srgbClr val="C9D3E3"/>
                </a:solidFill>
                <a:latin typeface="IBM Plex Sans" pitchFamily="34" charset="0"/>
                <a:ea typeface="IBM Plex Sans" pitchFamily="34" charset="-122"/>
                <a:cs typeface="IBM Plex Sans" pitchFamily="34" charset="-120"/>
              </a:rPr>
              <a:t>Reports use the same filters, with CSV and PDF</a:t>
            </a:r>
            <a:endParaRPr lang="en-US" sz="1500" dirty="0">
              <a:latin typeface="IBM Plex Sans" charset="0"/>
              <a:ea typeface="IBM Plex Sans" charset="0"/>
              <a:cs typeface="IBM Plex Sans" charset="0"/>
            </a:endParaRPr>
          </a:p>
        </p:txBody>
      </p:sp>
      <p:pic>
        <p:nvPicPr>
          <p:cNvPr id="5" name="Image 0" descr="Date range picker open over the dashboard, with presets on the left and a two-month calendar showing a range being selected">    </p:cNvPr>
          <p:cNvPicPr>
            <a:picLocks noChangeAspect="1"/>
          </p:cNvPicPr>
          <p:nvPr/>
        </p:nvPicPr>
        <p:blipFill>
          <a:blip r:embed="rId4"/>
          <a:stretch>
            <a:fillRect/>
          </a:stretch>
        </p:blipFill>
        <p:spPr>
          <a:xfrm>
            <a:off x="4476750" y="832819"/>
            <a:ext cx="6896100" cy="4912961"/>
          </a:xfrm>
          <a:prstGeom prst="rect">
            <a:avLst/>
          </a:prstGeom>
        </p:spPr>
      </p:pic>
      <p:sp>
        <p:nvSpPr>
          <p:cNvPr id="6" name="Shape 3"/>
          <p:cNvSpPr/>
          <p:nvPr/>
        </p:nvSpPr>
        <p:spPr>
          <a:xfrm>
            <a:off x="4473575" y="625475"/>
            <a:ext cx="6902450" cy="5327650"/>
          </a:xfrm>
          <a:prstGeom prst="roundRect">
            <a:avLst>
              <a:gd name="adj" fmla="val 1847"/>
            </a:avLst>
          </a:prstGeom>
          <a:noFill/>
          <a:ln w="6350">
            <a:solidFill>
              <a:srgbClr val="243047"/>
            </a:solidFill>
            <a:prstDash val="solid"/>
          </a:ln>
        </p:spPr>
        <p:txBody>
          <a:bodyPr/>
          <a:p/>
        </p:txBody>
      </p:sp>
      <p:sp>
        <p:nvSpPr>
          <p:cNvPr id="7" name="Text 4"/>
          <p:cNvSpPr/>
          <p:nvPr/>
        </p:nvSpPr>
        <p:spPr>
          <a:xfrm>
            <a:off x="812800" y="62890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8"/>
                </a:solidFill>
                <a:latin typeface="IBM Plex Sans" pitchFamily="34" charset="0"/>
                <a:ea typeface="IBM Plex Sans" pitchFamily="34" charset="-122"/>
                <a:cs typeface="IBM Plex Sans" pitchFamily="34" charset="-120"/>
              </a:rPr>
              <a:t>CloudLens · Capstone viva · 8</a:t>
            </a:r>
            <a:endParaRPr lang="en-US" sz="1200" dirty="0">
              <a:latin typeface="IBM Plex Sans" charset="0"/>
              <a:ea typeface="IBM Plex Sans" charset="0"/>
              <a:cs typeface="IBM Plex Sans"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812800" y="1271935"/>
            <a:ext cx="3401060"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5B9BFF"/>
                </a:solidFill>
                <a:latin typeface="JetBrains Mono" pitchFamily="49" charset="0"/>
                <a:ea typeface="JetBrains Mono" pitchFamily="49" charset="-122"/>
                <a:cs typeface="JetBrains Mono" pitchFamily="49" charset="-120"/>
              </a:rPr>
              <a:t>DATA SOURCE</a:t>
            </a:r>
            <a:endParaRPr lang="en-US" sz="1200" dirty="0">
              <a:latin typeface="JetBrains Mono" charset="0"/>
              <a:ea typeface="JetBrains Mono" charset="0"/>
              <a:cs typeface="JetBrains Mono" charset="0"/>
            </a:endParaRPr>
          </a:p>
        </p:txBody>
      </p:sp>
      <p:sp>
        <p:nvSpPr>
          <p:cNvPr id="3" name="Text 1"/>
          <p:cNvSpPr/>
          <p:nvPr>
            <p:ph type="title"/>
          </p:nvPr>
        </p:nvSpPr>
        <p:spPr>
          <a:xfrm>
            <a:off x="812800" y="1663055"/>
            <a:ext cx="3401060" cy="91946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8ECF4"/>
                </a:solidFill>
                <a:latin typeface="IBM Plex Sans" pitchFamily="34" charset="0"/>
                <a:ea typeface="IBM Plex Sans" pitchFamily="34" charset="-122"/>
                <a:cs typeface="IBM Plex Sans" pitchFamily="34" charset="-120"/>
              </a:rPr>
              <a:t>Mock or Live, per cloud</a:t>
            </a:r>
            <a:endParaRPr lang="en-US" sz="3200" dirty="0">
              <a:latin typeface="IBM Plex Sans" charset="0"/>
              <a:ea typeface="IBM Plex Sans" charset="0"/>
              <a:cs typeface="IBM Plex Sans" charset="0"/>
            </a:endParaRPr>
          </a:p>
        </p:txBody>
      </p:sp>
      <p:sp>
        <p:nvSpPr>
          <p:cNvPr id="4" name="Text 2"/>
          <p:cNvSpPr/>
          <p:nvPr/>
        </p:nvSpPr>
        <p:spPr>
          <a:xfrm>
            <a:off x="883920" y="2734915"/>
            <a:ext cx="3322320" cy="2597150"/>
          </a:xfrm>
          <a:prstGeom prst="rect">
            <a:avLst/>
          </a:prstGeom>
          <a:noFill/>
          <a:ln/>
        </p:spPr>
        <p:txBody>
          <a:bodyPr wrap="square" lIns="0" tIns="0" rIns="0" bIns="0" rtlCol="0" anchor="t">
            <a:normAutofit/>
          </a:bodyPr>
          <a:lstStyle/>
          <a:p>
            <a:pPr algn="l" marL="182880" indent="-182880">
              <a:lnSpc>
                <a:spcPts val="2250"/>
              </a:lnSpc>
              <a:buSzPct val="100000"/>
              <a:buChar char="•"/>
            </a:pPr>
            <a:r>
              <a:rPr lang="en-US" sz="1500" dirty="0">
                <a:solidFill>
                  <a:srgbClr val="C9D3E3"/>
                </a:solidFill>
                <a:latin typeface="IBM Plex Sans" pitchFamily="34" charset="0"/>
                <a:ea typeface="IBM Plex Sans" pitchFamily="34" charset="-122"/>
                <a:cs typeface="IBM Plex Sans" pitchFamily="34" charset="-120"/>
              </a:rPr>
              <a:t>Every cloud starts on Mock, no credentials needed</a:t>
            </a:r>
            <a:endParaRPr lang="en-US" sz="1500" dirty="0">
              <a:latin typeface="IBM Plex Sans" charset="0"/>
              <a:ea typeface="IBM Plex Sans" charset="0"/>
              <a:cs typeface="IBM Plex Sans" charset="0"/>
            </a:endParaRPr>
          </a:p>
          <a:p>
            <a:pPr algn="l" marL="182880" indent="-182880">
              <a:lnSpc>
                <a:spcPts val="2250"/>
              </a:lnSpc>
              <a:buSzPct val="100000"/>
              <a:buChar char="•"/>
            </a:pPr>
            <a:r>
              <a:rPr lang="en-US" sz="1500" dirty="0">
                <a:solidFill>
                  <a:srgbClr val="C9D3E3"/>
                </a:solidFill>
                <a:latin typeface="IBM Plex Sans" pitchFamily="34" charset="0"/>
                <a:ea typeface="IBM Plex Sans" pitchFamily="34" charset="-122"/>
                <a:cs typeface="IBM Plex Sans" pitchFamily="34" charset="-120"/>
              </a:rPr>
              <a:t>Live: one real account per environment, linked to the Environment filter</a:t>
            </a:r>
            <a:endParaRPr lang="en-US" sz="1500" dirty="0">
              <a:latin typeface="IBM Plex Sans" charset="0"/>
              <a:ea typeface="IBM Plex Sans" charset="0"/>
              <a:cs typeface="IBM Plex Sans" charset="0"/>
            </a:endParaRPr>
          </a:p>
          <a:p>
            <a:pPr algn="l" marL="182880" indent="-182880">
              <a:lnSpc>
                <a:spcPts val="2250"/>
              </a:lnSpc>
              <a:buSzPct val="100000"/>
              <a:buChar char="•"/>
            </a:pPr>
            <a:r>
              <a:rPr lang="en-US" sz="1500" dirty="0">
                <a:solidFill>
                  <a:srgbClr val="C9D3E3"/>
                </a:solidFill>
                <a:latin typeface="IBM Plex Sans" pitchFamily="34" charset="0"/>
                <a:ea typeface="IBM Plex Sans" pitchFamily="34" charset="-122"/>
                <a:cs typeface="IBM Plex Sans" pitchFamily="34" charset="-120"/>
              </a:rPr>
              <a:t>Environments not configured show no data</a:t>
            </a:r>
            <a:endParaRPr lang="en-US" sz="1500" dirty="0">
              <a:latin typeface="IBM Plex Sans" charset="0"/>
              <a:ea typeface="IBM Plex Sans" charset="0"/>
              <a:cs typeface="IBM Plex Sans" charset="0"/>
            </a:endParaRPr>
          </a:p>
          <a:p>
            <a:pPr algn="l" marL="182880" indent="-182880">
              <a:lnSpc>
                <a:spcPts val="2250"/>
              </a:lnSpc>
              <a:buSzPct val="100000"/>
              <a:buChar char="•"/>
            </a:pPr>
            <a:r>
              <a:rPr lang="en-US" sz="1500" dirty="0">
                <a:solidFill>
                  <a:srgbClr val="C9D3E3"/>
                </a:solidFill>
                <a:latin typeface="IBM Plex Sans" pitchFamily="34" charset="0"/>
                <a:ea typeface="IBM Plex Sans" pitchFamily="34" charset="-122"/>
                <a:cs typeface="IBM Plex Sans" pitchFamily="34" charset="-120"/>
              </a:rPr>
              <a:t>Both data sets are kept, so switching back loses nothing</a:t>
            </a:r>
            <a:endParaRPr lang="en-US" sz="1500" dirty="0">
              <a:latin typeface="IBM Plex Sans" charset="0"/>
              <a:ea typeface="IBM Plex Sans" charset="0"/>
              <a:cs typeface="IBM Plex Sans" charset="0"/>
            </a:endParaRPr>
          </a:p>
        </p:txBody>
      </p:sp>
      <p:pic>
        <p:nvPicPr>
          <p:cNvPr id="5" name="Image 0" descr="Cloud Accounts screen: AWS set to Live with Production and Staging connections validated, Azure and GCP set to Mock, each with a mode dropdown and Configuration button">    </p:cNvPr>
          <p:cNvPicPr>
            <a:picLocks noChangeAspect="1"/>
          </p:cNvPicPr>
          <p:nvPr/>
        </p:nvPicPr>
        <p:blipFill>
          <a:blip r:embed="rId3"/>
          <a:stretch>
            <a:fillRect/>
          </a:stretch>
        </p:blipFill>
        <p:spPr>
          <a:xfrm>
            <a:off x="4620239" y="1691640"/>
            <a:ext cx="6606073" cy="2697479"/>
          </a:xfrm>
          <a:prstGeom prst="rect">
            <a:avLst/>
          </a:prstGeom>
        </p:spPr>
      </p:pic>
      <p:sp>
        <p:nvSpPr>
          <p:cNvPr id="6" name="Shape 3"/>
          <p:cNvSpPr/>
          <p:nvPr/>
        </p:nvSpPr>
        <p:spPr>
          <a:xfrm>
            <a:off x="4471416" y="1600200"/>
            <a:ext cx="6903720" cy="2880360"/>
          </a:xfrm>
          <a:prstGeom prst="roundRect">
            <a:avLst>
              <a:gd name="adj" fmla="val 1847"/>
            </a:avLst>
          </a:prstGeom>
          <a:noFill/>
          <a:ln w="6350">
            <a:solidFill>
              <a:srgbClr val="243047"/>
            </a:solidFill>
            <a:prstDash val="solid"/>
          </a:ln>
        </p:spPr>
        <p:txBody>
          <a:bodyPr/>
          <a:p/>
        </p:txBody>
      </p:sp>
      <p:sp>
        <p:nvSpPr>
          <p:cNvPr id="7" name="Text 4"/>
          <p:cNvSpPr/>
          <p:nvPr/>
        </p:nvSpPr>
        <p:spPr>
          <a:xfrm>
            <a:off x="812800" y="62890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8"/>
                </a:solidFill>
                <a:latin typeface="IBM Plex Sans" pitchFamily="34" charset="0"/>
                <a:ea typeface="IBM Plex Sans" pitchFamily="34" charset="-122"/>
                <a:cs typeface="IBM Plex Sans" pitchFamily="34" charset="-120"/>
              </a:rPr>
              <a:t>CloudLens · Capstone viva · 9</a:t>
            </a:r>
            <a:endParaRPr lang="en-US" sz="1200" dirty="0">
              <a:latin typeface="IBM Plex Sans" charset="0"/>
              <a:ea typeface="IBM Plex Sans" charset="0"/>
              <a:cs typeface="IBM Plex Sans" charset="0"/>
            </a:endParaRPr>
          </a:p>
        </p:txBody>
      </p:sp>
      <p:sp>
        <p:nvSpPr>
          <p:cNvPr id="7" name="Caption"/>
          <p:cNvSpPr/>
          <p:nvPr/>
        </p:nvSpPr>
        <p:spPr>
          <a:xfrm>
            <a:off x="4471416" y="4553712"/>
            <a:ext cx="69037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8"/>
                </a:solidFill>
                <a:latin typeface="IBM Plex Sans" pitchFamily="34" charset="0"/>
                <a:ea typeface="IBM Plex Sans" pitchFamily="34" charset="-122"/>
                <a:cs typeface="IBM Plex Sans" pitchFamily="34" charset="-120"/>
              </a:rPr>
              <a:t>Simulated AWS accounts, made-up figures</a:t>
            </a:r>
            <a:endParaRPr lang="en-US" sz="1200" dirty="0">
              <a:latin typeface="IBM Plex Sans" charset="0"/>
              <a:ea typeface="IBM Plex Sans" charset="0"/>
              <a:cs typeface="IBM Plex Sans"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812800" y="1271935"/>
            <a:ext cx="3401060"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5B9BFF"/>
                </a:solidFill>
                <a:latin typeface="JetBrains Mono" pitchFamily="49" charset="0"/>
                <a:ea typeface="JetBrains Mono" pitchFamily="49" charset="-122"/>
                <a:cs typeface="JetBrains Mono" pitchFamily="49" charset="-120"/>
              </a:rPr>
              <a:t>CONNECTING A REAL ACCOUNT</a:t>
            </a:r>
            <a:endParaRPr lang="en-US" sz="1200" dirty="0">
              <a:latin typeface="JetBrains Mono" charset="0"/>
              <a:ea typeface="JetBrains Mono" charset="0"/>
              <a:cs typeface="JetBrains Mono" charset="0"/>
            </a:endParaRPr>
          </a:p>
        </p:txBody>
      </p:sp>
      <p:sp>
        <p:nvSpPr>
          <p:cNvPr id="3" name="Text 1"/>
          <p:cNvSpPr/>
          <p:nvPr>
            <p:ph type="title"/>
          </p:nvPr>
        </p:nvSpPr>
        <p:spPr>
          <a:xfrm>
            <a:off x="812800" y="1663055"/>
            <a:ext cx="3401060" cy="91946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8ECF4"/>
                </a:solidFill>
                <a:latin typeface="IBM Plex Sans" pitchFamily="34" charset="0"/>
                <a:ea typeface="IBM Plex Sans" pitchFamily="34" charset="-122"/>
                <a:cs typeface="IBM Plex Sans" pitchFamily="34" charset="-120"/>
              </a:rPr>
              <a:t>Tested before it is trusted</a:t>
            </a:r>
            <a:endParaRPr lang="en-US" sz="3200" dirty="0">
              <a:latin typeface="IBM Plex Sans" charset="0"/>
              <a:ea typeface="IBM Plex Sans" charset="0"/>
              <a:cs typeface="IBM Plex Sans" charset="0"/>
            </a:endParaRPr>
          </a:p>
        </p:txBody>
      </p:sp>
      <p:sp>
        <p:nvSpPr>
          <p:cNvPr id="4" name="Text 2"/>
          <p:cNvSpPr/>
          <p:nvPr/>
        </p:nvSpPr>
        <p:spPr>
          <a:xfrm>
            <a:off x="883920" y="2734915"/>
            <a:ext cx="3322320" cy="2597150"/>
          </a:xfrm>
          <a:prstGeom prst="rect">
            <a:avLst/>
          </a:prstGeom>
          <a:noFill/>
          <a:ln/>
        </p:spPr>
        <p:txBody>
          <a:bodyPr wrap="square" lIns="0" tIns="0" rIns="0" bIns="0" rtlCol="0" anchor="t">
            <a:normAutofit/>
          </a:bodyPr>
          <a:lstStyle/>
          <a:p>
            <a:pPr algn="l" marL="182880" indent="-182880">
              <a:lnSpc>
                <a:spcPts val="2250"/>
              </a:lnSpc>
              <a:buSzPct val="100000"/>
              <a:buChar char="•"/>
            </a:pPr>
            <a:r>
              <a:rPr lang="en-US" sz="1500" dirty="0">
                <a:solidFill>
                  <a:srgbClr val="C9D3E3"/>
                </a:solidFill>
                <a:latin typeface="IBM Plex Sans" pitchFamily="34" charset="0"/>
                <a:ea typeface="IBM Plex Sans" pitchFamily="34" charset="-122"/>
                <a:cs typeface="IBM Plex Sans" pitchFamily="34" charset="-120"/>
              </a:rPr>
              <a:t>Choose the environment this account serves</a:t>
            </a:r>
            <a:endParaRPr lang="en-US" sz="1500" dirty="0">
              <a:latin typeface="IBM Plex Sans" charset="0"/>
              <a:ea typeface="IBM Plex Sans" charset="0"/>
              <a:cs typeface="IBM Plex Sans" charset="0"/>
            </a:endParaRPr>
          </a:p>
          <a:p>
            <a:pPr algn="l" marL="182880" indent="-182880">
              <a:lnSpc>
                <a:spcPts val="2250"/>
              </a:lnSpc>
              <a:buSzPct val="100000"/>
              <a:buChar char="•"/>
            </a:pPr>
            <a:r>
              <a:rPr lang="en-US" sz="1500" dirty="0">
                <a:solidFill>
                  <a:srgbClr val="C9D3E3"/>
                </a:solidFill>
                <a:latin typeface="IBM Plex Sans" pitchFamily="34" charset="0"/>
                <a:ea typeface="IBM Plex Sans" pitchFamily="34" charset="-122"/>
                <a:cs typeface="IBM Plex Sans" pitchFamily="34" charset="-120"/>
              </a:rPr>
              <a:t>Each permission tested; failures say what to fix</a:t>
            </a:r>
            <a:endParaRPr lang="en-US" sz="1500" dirty="0">
              <a:latin typeface="IBM Plex Sans" charset="0"/>
              <a:ea typeface="IBM Plex Sans" charset="0"/>
              <a:cs typeface="IBM Plex Sans" charset="0"/>
            </a:endParaRPr>
          </a:p>
          <a:p>
            <a:pPr algn="l" marL="182880" indent="-182880">
              <a:lnSpc>
                <a:spcPts val="2250"/>
              </a:lnSpc>
              <a:buSzPct val="100000"/>
              <a:buChar char="•"/>
            </a:pPr>
            <a:r>
              <a:rPr lang="en-US" sz="1500" dirty="0">
                <a:solidFill>
                  <a:srgbClr val="C9D3E3"/>
                </a:solidFill>
                <a:latin typeface="IBM Plex Sans" pitchFamily="34" charset="0"/>
                <a:ea typeface="IBM Plex Sans" pitchFamily="34" charset="-122"/>
                <a:cs typeface="IBM Plex Sans" pitchFamily="34" charset="-120"/>
              </a:rPr>
              <a:t>Save stays off until these exact values pass</a:t>
            </a:r>
            <a:endParaRPr lang="en-US" sz="1500" dirty="0">
              <a:latin typeface="IBM Plex Sans" charset="0"/>
              <a:ea typeface="IBM Plex Sans" charset="0"/>
              <a:cs typeface="IBM Plex Sans" charset="0"/>
            </a:endParaRPr>
          </a:p>
          <a:p>
            <a:pPr algn="l" marL="182880" indent="-182880">
              <a:lnSpc>
                <a:spcPts val="2250"/>
              </a:lnSpc>
              <a:buSzPct val="100000"/>
              <a:buChar char="•"/>
            </a:pPr>
            <a:r>
              <a:rPr lang="en-US" sz="1500" dirty="0">
                <a:solidFill>
                  <a:srgbClr val="C9D3E3"/>
                </a:solidFill>
                <a:latin typeface="IBM Plex Sans" pitchFamily="34" charset="0"/>
                <a:ea typeface="IBM Plex Sans" pitchFamily="34" charset="-122"/>
                <a:cs typeface="IBM Plex Sans" pitchFamily="34" charset="-120"/>
              </a:rPr>
              <a:t>An account used by another environment is refused</a:t>
            </a:r>
            <a:endParaRPr lang="en-US" sz="1500" dirty="0">
              <a:latin typeface="IBM Plex Sans" charset="0"/>
              <a:ea typeface="IBM Plex Sans" charset="0"/>
              <a:cs typeface="IBM Plex Sans" charset="0"/>
            </a:endParaRPr>
          </a:p>
          <a:p>
            <a:pPr algn="l" marL="182880" indent="-182880">
              <a:lnSpc>
                <a:spcPts val="2250"/>
              </a:lnSpc>
              <a:buSzPct val="100000"/>
              <a:buChar char="•"/>
            </a:pPr>
            <a:r>
              <a:rPr lang="en-US" sz="1500" dirty="0">
                <a:solidFill>
                  <a:srgbClr val="C9D3E3"/>
                </a:solidFill>
                <a:latin typeface="IBM Plex Sans" pitchFamily="34" charset="0"/>
                <a:ea typeface="IBM Plex Sans" pitchFamily="34" charset="-122"/>
                <a:cs typeface="IBM Plex Sans" pitchFamily="34" charset="-120"/>
              </a:rPr>
              <a:t>Secrets encrypted, never shown again; admins only</a:t>
            </a:r>
            <a:endParaRPr lang="en-US" sz="1500" dirty="0">
              <a:latin typeface="IBM Plex Sans" charset="0"/>
              <a:ea typeface="IBM Plex Sans" charset="0"/>
              <a:cs typeface="IBM Plex Sans" charset="0"/>
            </a:endParaRPr>
          </a:p>
        </p:txBody>
      </p:sp>
      <p:pic>
        <p:nvPicPr>
          <p:cNvPr id="5" name="Image 0" descr="AWS configuration form after a passed test, with checks for sign-in, Cost Explorer, EC2, RDS and CloudWatch all passed">    </p:cNvPr>
          <p:cNvPicPr>
            <a:picLocks noChangeAspect="1"/>
          </p:cNvPicPr>
          <p:nvPr/>
        </p:nvPicPr>
        <p:blipFill>
          <a:blip r:embed="rId3"/>
          <a:stretch>
            <a:fillRect/>
          </a:stretch>
        </p:blipFill>
        <p:spPr>
          <a:xfrm>
            <a:off x="5955764" y="594360"/>
            <a:ext cx="3724711" cy="5074920"/>
          </a:xfrm>
          <a:prstGeom prst="rect">
            <a:avLst/>
          </a:prstGeom>
        </p:spPr>
      </p:pic>
      <p:sp>
        <p:nvSpPr>
          <p:cNvPr id="6" name="Shape 3"/>
          <p:cNvSpPr/>
          <p:nvPr/>
        </p:nvSpPr>
        <p:spPr>
          <a:xfrm>
            <a:off x="5852160" y="502920"/>
            <a:ext cx="3931920" cy="5257800"/>
          </a:xfrm>
          <a:prstGeom prst="roundRect">
            <a:avLst>
              <a:gd name="adj" fmla="val 1847"/>
            </a:avLst>
          </a:prstGeom>
          <a:noFill/>
          <a:ln w="6350">
            <a:solidFill>
              <a:srgbClr val="243047"/>
            </a:solidFill>
            <a:prstDash val="solid"/>
          </a:ln>
        </p:spPr>
        <p:txBody>
          <a:bodyPr/>
          <a:p/>
        </p:txBody>
      </p:sp>
      <p:sp>
        <p:nvSpPr>
          <p:cNvPr id="7" name="Text 4"/>
          <p:cNvSpPr/>
          <p:nvPr/>
        </p:nvSpPr>
        <p:spPr>
          <a:xfrm>
            <a:off x="812800" y="62890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8"/>
                </a:solidFill>
                <a:latin typeface="IBM Plex Sans" pitchFamily="34" charset="0"/>
                <a:ea typeface="IBM Plex Sans" pitchFamily="34" charset="-122"/>
                <a:cs typeface="IBM Plex Sans" pitchFamily="34" charset="-120"/>
              </a:rPr>
              <a:t>CloudLens · Capstone viva · 10</a:t>
            </a:r>
            <a:endParaRPr lang="en-US" sz="1200" dirty="0">
              <a:latin typeface="IBM Plex Sans" charset="0"/>
              <a:ea typeface="IBM Plex Sans" charset="0"/>
              <a:cs typeface="IBM Plex Sans" charset="0"/>
            </a:endParaRPr>
          </a:p>
        </p:txBody>
      </p:sp>
      <p:sp>
        <p:nvSpPr>
          <p:cNvPr id="7" name="Caption"/>
          <p:cNvSpPr/>
          <p:nvPr/>
        </p:nvSpPr>
        <p:spPr>
          <a:xfrm>
            <a:off x="5852160" y="5833872"/>
            <a:ext cx="39319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8"/>
                </a:solidFill>
                <a:latin typeface="IBM Plex Sans" pitchFamily="34" charset="0"/>
                <a:ea typeface="IBM Plex Sans" pitchFamily="34" charset="-122"/>
                <a:cs typeface="IBM Plex Sans" pitchFamily="34" charset="-120"/>
              </a:rPr>
              <a:t>Simulated AWS service, made-up credentials</a:t>
            </a:r>
            <a:endParaRPr lang="en-US" sz="1200" dirty="0">
              <a:latin typeface="IBM Plex Sans" charset="0"/>
              <a:ea typeface="IBM Plex Sans" charset="0"/>
              <a:cs typeface="IBM Plex Sans"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1D5FD6"/>
                </a:solidFill>
                <a:latin typeface="JetBrains Mono" pitchFamily="49" charset="0"/>
                <a:ea typeface="JetBrains Mono" pitchFamily="49" charset="-122"/>
                <a:cs typeface="JetBrains Mono" pitchFamily="49" charset="-120"/>
              </a:rPr>
              <a:t>ALERTING PIPELINE</a:t>
            </a:r>
            <a:endParaRPr lang="en-US" sz="1200" dirty="0">
              <a:latin typeface="JetBrains Mono" charset="0"/>
              <a:ea typeface="JetBrains Mono" charset="0"/>
              <a:cs typeface="JetBrains Mono" charset="0"/>
            </a:endParaRPr>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F172A"/>
                </a:solidFill>
                <a:latin typeface="IBM Plex Sans" pitchFamily="34" charset="0"/>
                <a:ea typeface="IBM Plex Sans" pitchFamily="34" charset="-122"/>
                <a:cs typeface="IBM Plex Sans" pitchFamily="34" charset="-120"/>
              </a:rPr>
              <a:t>Rules in the UI, delivery by Prometheus</a:t>
            </a:r>
            <a:endParaRPr lang="en-US" sz="3600" dirty="0">
              <a:latin typeface="IBM Plex Sans" charset="0"/>
              <a:ea typeface="IBM Plex Sans" charset="0"/>
              <a:cs typeface="IBM Plex Sans" charset="0"/>
            </a:endParaRPr>
          </a:p>
        </p:txBody>
      </p:sp>
      <p:pic>
        <p:nvPicPr>
          <p:cNvPr id="4" name="Image 0" descr="Alert flow: rule defined in UI, alert engine sets a gauge, Prometheus fires, Alertmanager groups and routes, webhook stores the event, Slack and Microsoft Teams receive messages">    </p:cNvPr>
          <p:cNvPicPr>
            <a:picLocks noChangeAspect="1"/>
          </p:cNvPicPr>
          <p:nvPr/>
        </p:nvPicPr>
        <p:blipFill>
          <a:blip r:embed="rId1"/>
          <a:srcRect l="-6523" r="-6523" t="0" b="0"/>
          <a:stretch/>
        </p:blipFill>
        <p:spPr>
          <a:xfrm>
            <a:off x="812800" y="1884611"/>
            <a:ext cx="10566400" cy="2349500"/>
          </a:xfrm>
          <a:prstGeom prst="rect">
            <a:avLst/>
          </a:prstGeom>
        </p:spPr>
      </p:pic>
      <p:sp>
        <p:nvSpPr>
          <p:cNvPr id="5" name="Text 2"/>
          <p:cNvSpPr/>
          <p:nvPr/>
        </p:nvSpPr>
        <p:spPr>
          <a:xfrm>
            <a:off x="815975" y="4491286"/>
            <a:ext cx="3414167" cy="808930"/>
          </a:xfrm>
          <a:prstGeom prst="roundRect">
            <a:avLst>
              <a:gd name="adj" fmla="val 12167"/>
            </a:avLst>
          </a:prstGeom>
          <a:solidFill>
            <a:srgbClr val="FFFFFF"/>
          </a:solidFill>
          <a:ln w="6350">
            <a:solidFill>
              <a:srgbClr val="DCE2EB"/>
            </a:solidFill>
            <a:prstDash val="solid"/>
          </a:ln>
        </p:spPr>
        <p:txBody>
          <a:bodyPr wrap="square" lIns="152147" tIns="126747" rIns="60581" bIns="101347" rtlCol="0" anchor="t">
            <a:normAutofit/>
          </a:bodyPr>
          <a:lstStyle/>
          <a:p>
            <a:pPr algn="l" indent="0" marL="0">
              <a:lnSpc>
                <a:spcPts val="1960"/>
              </a:lnSpc>
              <a:buNone/>
            </a:pPr>
            <a:r>
              <a:rPr lang="en-US" sz="1400" dirty="0">
                <a:solidFill>
                  <a:srgbClr val="0F172A"/>
                </a:solidFill>
                <a:latin typeface="IBM Plex Sans" pitchFamily="34" charset="0"/>
                <a:ea typeface="IBM Plex Sans" pitchFamily="34" charset="-122"/>
                <a:cs typeface="IBM Plex Sans" pitchFamily="34" charset="-120"/>
              </a:rPr>
              <a:t>One gauge per rule: </a:t>
            </a:r>
            <a:r>
              <a:rPr lang="en-US" sz="1400" b="1" dirty="0">
                <a:solidFill>
                  <a:srgbClr val="0F172A"/>
                </a:solidFill>
                <a:latin typeface="IBM Plex Sans" pitchFamily="34" charset="0"/>
                <a:ea typeface="IBM Plex Sans" pitchFamily="34" charset="-122"/>
                <a:cs typeface="IBM Plex Sans" pitchFamily="34" charset="-120"/>
              </a:rPr>
              <a:t>cloudlens_alert_rule_breached</a:t>
            </a:r>
            <a:endParaRPr lang="en-US" sz="1400" dirty="0">
              <a:latin typeface="IBM Plex Sans" charset="0"/>
              <a:ea typeface="IBM Plex Sans" charset="0"/>
              <a:cs typeface="IBM Plex Sans" charset="0"/>
            </a:endParaRPr>
          </a:p>
        </p:txBody>
      </p:sp>
      <p:sp>
        <p:nvSpPr>
          <p:cNvPr id="6" name="Text 3"/>
          <p:cNvSpPr/>
          <p:nvPr/>
        </p:nvSpPr>
        <p:spPr>
          <a:xfrm>
            <a:off x="4388892" y="4491286"/>
            <a:ext cx="3414216" cy="808930"/>
          </a:xfrm>
          <a:prstGeom prst="roundRect">
            <a:avLst>
              <a:gd name="adj" fmla="val 12167"/>
            </a:avLst>
          </a:prstGeom>
          <a:solidFill>
            <a:srgbClr val="FFFFFF"/>
          </a:solidFill>
          <a:ln w="6350">
            <a:solidFill>
              <a:srgbClr val="DCE2EB"/>
            </a:solidFill>
            <a:prstDash val="solid"/>
          </a:ln>
        </p:spPr>
        <p:txBody>
          <a:bodyPr wrap="square" lIns="152147" tIns="126747" rIns="60579" bIns="101347" rtlCol="0" anchor="t">
            <a:normAutofit/>
          </a:bodyPr>
          <a:lstStyle/>
          <a:p>
            <a:pPr algn="l" indent="0" marL="0">
              <a:lnSpc>
                <a:spcPts val="1960"/>
              </a:lnSpc>
              <a:buNone/>
            </a:pPr>
            <a:r>
              <a:rPr lang="en-US" sz="1400" dirty="0">
                <a:solidFill>
                  <a:srgbClr val="0F172A"/>
                </a:solidFill>
                <a:latin typeface="IBM Plex Sans" pitchFamily="34" charset="0"/>
                <a:ea typeface="IBM Plex Sans" pitchFamily="34" charset="-122"/>
                <a:cs typeface="IBM Plex Sans" pitchFamily="34" charset="-120"/>
              </a:rPr>
              <a:t>Grouping, dedupe, 4 h repeat, </a:t>
            </a:r>
            <a:r>
              <a:rPr lang="en-US" sz="1400" b="1" dirty="0">
                <a:solidFill>
                  <a:srgbClr val="0F172A"/>
                </a:solidFill>
                <a:latin typeface="IBM Plex Sans" pitchFamily="34" charset="0"/>
                <a:ea typeface="IBM Plex Sans" pitchFamily="34" charset="-122"/>
                <a:cs typeface="IBM Plex Sans" pitchFamily="34" charset="-120"/>
              </a:rPr>
              <a:t>resolved</a:t>
            </a:r>
            <a:r>
              <a:rPr lang="en-US" sz="1400" dirty="0">
                <a:solidFill>
                  <a:srgbClr val="0F172A"/>
                </a:solidFill>
                <a:latin typeface="IBM Plex Sans" pitchFamily="34" charset="0"/>
                <a:ea typeface="IBM Plex Sans" pitchFamily="34" charset="-122"/>
                <a:cs typeface="IBM Plex Sans" pitchFamily="34" charset="-120"/>
              </a:rPr>
              <a:t> messages</a:t>
            </a:r>
            <a:endParaRPr lang="en-US" sz="1400" dirty="0">
              <a:latin typeface="IBM Plex Sans" charset="0"/>
              <a:ea typeface="IBM Plex Sans" charset="0"/>
              <a:cs typeface="IBM Plex Sans" charset="0"/>
            </a:endParaRPr>
          </a:p>
        </p:txBody>
      </p:sp>
      <p:sp>
        <p:nvSpPr>
          <p:cNvPr id="7" name="Text 4"/>
          <p:cNvSpPr/>
          <p:nvPr/>
        </p:nvSpPr>
        <p:spPr>
          <a:xfrm>
            <a:off x="7961858" y="4491286"/>
            <a:ext cx="3414167" cy="808930"/>
          </a:xfrm>
          <a:prstGeom prst="roundRect">
            <a:avLst>
              <a:gd name="adj" fmla="val 12167"/>
            </a:avLst>
          </a:prstGeom>
          <a:solidFill>
            <a:srgbClr val="FFFFFF"/>
          </a:solidFill>
          <a:ln w="6350">
            <a:solidFill>
              <a:srgbClr val="DCE2EB"/>
            </a:solidFill>
            <a:prstDash val="solid"/>
          </a:ln>
        </p:spPr>
        <p:txBody>
          <a:bodyPr wrap="none" lIns="0" tIns="126747" rIns="0" bIns="101347" rtlCol="0" anchor="t">
            <a:normAutofit/>
          </a:bodyPr>
          <a:lstStyle/>
          <a:p>
            <a:pPr algn="ctr" indent="0" marL="0">
              <a:lnSpc>
                <a:spcPts val="1960"/>
              </a:lnSpc>
              <a:buNone/>
            </a:pPr>
            <a:r>
              <a:rPr lang="en-US" sz="1400" dirty="0">
                <a:solidFill>
                  <a:srgbClr val="0F172A"/>
                </a:solidFill>
                <a:latin typeface="IBM Plex Sans" pitchFamily="34" charset="0"/>
                <a:ea typeface="IBM Plex Sans" pitchFamily="34" charset="-122"/>
                <a:cs typeface="IBM Plex Sans" pitchFamily="34" charset="-120"/>
              </a:rPr>
              <a:t>Webhook protected by a </a:t>
            </a:r>
            <a:r>
              <a:rPr lang="en-US" sz="1400" b="1" dirty="0">
                <a:solidFill>
                  <a:srgbClr val="0F172A"/>
                </a:solidFill>
                <a:latin typeface="IBM Plex Sans" pitchFamily="34" charset="0"/>
                <a:ea typeface="IBM Plex Sans" pitchFamily="34" charset="-122"/>
                <a:cs typeface="IBM Plex Sans" pitchFamily="34" charset="-120"/>
              </a:rPr>
              <a:t>bearer token</a:t>
            </a:r>
            <a:endParaRPr lang="en-US" sz="1400" dirty="0">
              <a:latin typeface="IBM Plex Sans" charset="0"/>
              <a:ea typeface="IBM Plex Sans" charset="0"/>
              <a:cs typeface="IBM Plex Sans" charset="0"/>
            </a:endParaRPr>
          </a:p>
        </p:txBody>
      </p:sp>
      <p:sp>
        <p:nvSpPr>
          <p:cNvPr id="8" name="Text 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468"/>
                </a:solidFill>
                <a:latin typeface="IBM Plex Sans" pitchFamily="34" charset="0"/>
                <a:ea typeface="IBM Plex Sans" pitchFamily="34" charset="-122"/>
                <a:cs typeface="IBM Plex Sans" pitchFamily="34" charset="-120"/>
              </a:rPr>
              <a:t>CloudLens · Capstone viva · 11</a:t>
            </a:r>
            <a:endParaRPr lang="en-US" sz="1200" dirty="0">
              <a:latin typeface="IBM Plex Sans" charset="0"/>
              <a:ea typeface="IBM Plex Sans" charset="0"/>
              <a:cs typeface="IBM Plex Sans"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812800" y="1319213"/>
            <a:ext cx="3924300"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5B9BFF"/>
                </a:solidFill>
                <a:latin typeface="JetBrains Mono" pitchFamily="49" charset="0"/>
                <a:ea typeface="JetBrains Mono" pitchFamily="49" charset="-122"/>
                <a:cs typeface="JetBrains Mono" pitchFamily="49" charset="-120"/>
              </a:rPr>
              <a:t>CUSTOMISABLE ALERTS</a:t>
            </a:r>
            <a:endParaRPr lang="en-US" sz="1200" dirty="0">
              <a:latin typeface="JetBrains Mono" charset="0"/>
              <a:ea typeface="JetBrains Mono" charset="0"/>
              <a:cs typeface="JetBrains Mono" charset="0"/>
            </a:endParaRPr>
          </a:p>
        </p:txBody>
      </p:sp>
      <p:sp>
        <p:nvSpPr>
          <p:cNvPr id="3" name="Text 1"/>
          <p:cNvSpPr/>
          <p:nvPr>
            <p:ph type="title"/>
          </p:nvPr>
        </p:nvSpPr>
        <p:spPr>
          <a:xfrm>
            <a:off x="812800" y="1684933"/>
            <a:ext cx="3924300" cy="91946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8ECF4"/>
                </a:solidFill>
                <a:latin typeface="IBM Plex Sans" pitchFamily="34" charset="0"/>
                <a:ea typeface="IBM Plex Sans" pitchFamily="34" charset="-122"/>
                <a:cs typeface="IBM Plex Sans" pitchFamily="34" charset="-120"/>
              </a:rPr>
              <a:t>8 rule types, any scope</a:t>
            </a:r>
            <a:endParaRPr lang="en-US" sz="3200" dirty="0">
              <a:latin typeface="IBM Plex Sans" charset="0"/>
              <a:ea typeface="IBM Plex Sans" charset="0"/>
              <a:cs typeface="IBM Plex Sans" charset="0"/>
            </a:endParaRPr>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744093"/>
          <a:ext cx="3797300" cy="2515245"/>
        </p:xfrm>
        <a:graphic>
          <a:graphicData uri="http://schemas.openxmlformats.org/drawingml/2006/table">
            <a:tbl>
              <a:tblPr/>
              <a:tblGrid>
                <a:gridCol w="1974596"/>
                <a:gridCol w="1822704"/>
              </a:tblGrid>
              <a:tr h="359321">
                <a:tc>
                  <a:txBody>
                    <a:bodyPr/>
                    <a:lstStyle/>
                    <a:p>
                      <a:pPr indent="0" marL="0">
                        <a:lnSpc>
                          <a:spcPts val="1820"/>
                        </a:lnSpc>
                        <a:buNone/>
                      </a:pPr>
                      <a:r>
                        <a:rPr lang="en-US" sz="1300" b="1" dirty="0">
                          <a:solidFill>
                            <a:srgbClr val="E8ECF4"/>
                          </a:solidFill>
                          <a:latin typeface="IBM Plex Sans" pitchFamily="34" charset="0"/>
                          <a:ea typeface="IBM Plex Sans" pitchFamily="34" charset="-122"/>
                          <a:cs typeface="IBM Plex Sans" pitchFamily="34" charset="-120"/>
                        </a:rPr>
                        <a:t>Watch</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40454F"/>
                      </a:solidFill>
                      <a:prstDash val="solid"/>
                      <a:round/>
                      <a:headEnd type="none" w="med" len="med"/>
                      <a:tailEnd type="none" w="med" len="med"/>
                    </a:lnL>
                    <a:lnR w="12700" cap="flat" cmpd="sng" algn="ctr">
                      <a:solidFill>
                        <a:srgbClr val="4E535C"/>
                      </a:solidFill>
                      <a:prstDash val="solid"/>
                      <a:round/>
                      <a:headEnd type="none" w="med" len="med"/>
                      <a:tailEnd type="none" w="med" len="med"/>
                    </a:lnR>
                    <a:lnT w="12700" cap="flat" cmpd="sng" algn="ctr">
                      <a:solidFill>
                        <a:srgbClr val="40454F"/>
                      </a:solidFill>
                      <a:prstDash val="solid"/>
                      <a:round/>
                      <a:headEnd type="none" w="med" len="med"/>
                      <a:tailEnd type="none" w="med" len="med"/>
                    </a:lnT>
                    <a:lnB w="12700" cap="flat" cmpd="sng" algn="ctr">
                      <a:solidFill>
                        <a:srgbClr val="4E535C"/>
                      </a:solidFill>
                      <a:prstDash val="solid"/>
                      <a:round/>
                      <a:headEnd type="none" w="med" len="med"/>
                      <a:tailEnd type="none" w="med" len="med"/>
                    </a:lnB>
                    <a:solidFill>
                      <a:srgbClr val="1E2431"/>
                    </a:solidFill>
                  </a:tcPr>
                </a:tc>
                <a:tc>
                  <a:txBody>
                    <a:bodyPr/>
                    <a:lstStyle/>
                    <a:p>
                      <a:pPr indent="0" marL="0">
                        <a:lnSpc>
                          <a:spcPts val="1820"/>
                        </a:lnSpc>
                        <a:buNone/>
                      </a:pPr>
                      <a:r>
                        <a:rPr lang="en-US" sz="1300" b="1" dirty="0">
                          <a:solidFill>
                            <a:srgbClr val="E8ECF4"/>
                          </a:solidFill>
                          <a:latin typeface="IBM Plex Sans" pitchFamily="34" charset="0"/>
                          <a:ea typeface="IBM Plex Sans" pitchFamily="34" charset="-122"/>
                          <a:cs typeface="IBM Plex Sans" pitchFamily="34" charset="-120"/>
                        </a:rPr>
                        <a:t>Example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4E535C"/>
                      </a:solidFill>
                      <a:prstDash val="solid"/>
                      <a:round/>
                      <a:headEnd type="none" w="med" len="med"/>
                      <a:tailEnd type="none" w="med" len="med"/>
                    </a:lnL>
                    <a:lnR w="12700" cap="flat" cmpd="sng" algn="ctr">
                      <a:solidFill>
                        <a:srgbClr val="4E535C"/>
                      </a:solidFill>
                      <a:prstDash val="solid"/>
                      <a:round/>
                      <a:headEnd type="none" w="med" len="med"/>
                      <a:tailEnd type="none" w="med" len="med"/>
                    </a:lnR>
                    <a:lnT w="12700" cap="flat" cmpd="sng" algn="ctr">
                      <a:solidFill>
                        <a:srgbClr val="40454F"/>
                      </a:solidFill>
                      <a:prstDash val="solid"/>
                      <a:round/>
                      <a:headEnd type="none" w="med" len="med"/>
                      <a:tailEnd type="none" w="med" len="med"/>
                    </a:lnT>
                    <a:lnB w="12700" cap="flat" cmpd="sng" algn="ctr">
                      <a:solidFill>
                        <a:srgbClr val="4E535C"/>
                      </a:solidFill>
                      <a:prstDash val="solid"/>
                      <a:round/>
                      <a:headEnd type="none" w="med" len="med"/>
                      <a:tailEnd type="none" w="med" len="med"/>
                    </a:lnB>
                    <a:solidFill>
                      <a:srgbClr val="1E2431"/>
                    </a:solidFill>
                  </a:tcPr>
                </a:tc>
              </a:tr>
              <a:tr h="359321">
                <a:tc>
                  <a:txBody>
                    <a:bodyPr/>
                    <a:lstStyle/>
                    <a:p>
                      <a:pPr indent="0" marL="0">
                        <a:lnSpc>
                          <a:spcPts val="1820"/>
                        </a:lnSpc>
                        <a:buNone/>
                      </a:pPr>
                      <a:r>
                        <a:rPr lang="en-US" sz="1300" dirty="0">
                          <a:solidFill>
                            <a:srgbClr val="E8ECF4"/>
                          </a:solidFill>
                          <a:latin typeface="IBM Plex Sans" pitchFamily="34" charset="0"/>
                          <a:ea typeface="IBM Plex Sans" pitchFamily="34" charset="-122"/>
                          <a:cs typeface="IBM Plex Sans" pitchFamily="34" charset="-120"/>
                        </a:rPr>
                        <a:t>Daily cost</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40454F"/>
                      </a:solidFill>
                      <a:prstDash val="solid"/>
                      <a:round/>
                      <a:headEnd type="none" w="med" len="med"/>
                      <a:tailEnd type="none" w="med" len="med"/>
                    </a:lnL>
                    <a:lnR w="12700" cap="flat" cmpd="sng" algn="ctr">
                      <a:solidFill>
                        <a:srgbClr val="40454F"/>
                      </a:solidFill>
                      <a:prstDash val="solid"/>
                      <a:round/>
                      <a:headEnd type="none" w="med" len="med"/>
                      <a:tailEnd type="none" w="med" len="med"/>
                    </a:lnR>
                    <a:lnT w="12700" cap="flat" cmpd="sng" algn="ctr">
                      <a:solidFill>
                        <a:srgbClr val="4E535C"/>
                      </a:solidFill>
                      <a:prstDash val="solid"/>
                      <a:round/>
                      <a:headEnd type="none" w="med" len="med"/>
                      <a:tailEnd type="none" w="med" len="med"/>
                    </a:lnT>
                    <a:lnB w="12700" cap="flat" cmpd="sng" algn="ctr">
                      <a:solidFill>
                        <a:srgbClr val="40454F"/>
                      </a:solidFill>
                      <a:prstDash val="solid"/>
                      <a:round/>
                      <a:headEnd type="none" w="med" len="med"/>
                      <a:tailEnd type="none" w="med" len="med"/>
                    </a:lnB>
                  </a:tcPr>
                </a:tc>
                <a:tc>
                  <a:txBody>
                    <a:bodyPr/>
                    <a:lstStyle/>
                    <a:p>
                      <a:pPr indent="0" marL="0">
                        <a:lnSpc>
                          <a:spcPts val="1820"/>
                        </a:lnSpc>
                        <a:buNone/>
                      </a:pPr>
                      <a:r>
                        <a:rPr lang="en-US" sz="1300" dirty="0">
                          <a:solidFill>
                            <a:srgbClr val="E8ECF4"/>
                          </a:solidFill>
                          <a:latin typeface="IBM Plex Sans" pitchFamily="34" charset="0"/>
                          <a:ea typeface="IBM Plex Sans" pitchFamily="34" charset="-122"/>
                          <a:cs typeface="IBM Plex Sans" pitchFamily="34" charset="-120"/>
                        </a:rPr>
                        <a:t>AWS &gt; $1,800</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40454F"/>
                      </a:solidFill>
                      <a:prstDash val="solid"/>
                      <a:round/>
                      <a:headEnd type="none" w="med" len="med"/>
                      <a:tailEnd type="none" w="med" len="med"/>
                    </a:lnL>
                    <a:lnR w="12700" cap="flat" cmpd="sng" algn="ctr">
                      <a:solidFill>
                        <a:srgbClr val="40454F"/>
                      </a:solidFill>
                      <a:prstDash val="solid"/>
                      <a:round/>
                      <a:headEnd type="none" w="med" len="med"/>
                      <a:tailEnd type="none" w="med" len="med"/>
                    </a:lnR>
                    <a:lnT w="12700" cap="flat" cmpd="sng" algn="ctr">
                      <a:solidFill>
                        <a:srgbClr val="4E535C"/>
                      </a:solidFill>
                      <a:prstDash val="solid"/>
                      <a:round/>
                      <a:headEnd type="none" w="med" len="med"/>
                      <a:tailEnd type="none" w="med" len="med"/>
                    </a:lnT>
                    <a:lnB w="12700" cap="flat" cmpd="sng" algn="ctr">
                      <a:solidFill>
                        <a:srgbClr val="40454F"/>
                      </a:solidFill>
                      <a:prstDash val="solid"/>
                      <a:round/>
                      <a:headEnd type="none" w="med" len="med"/>
                      <a:tailEnd type="none" w="med" len="med"/>
                    </a:lnB>
                  </a:tcPr>
                </a:tc>
              </a:tr>
              <a:tr h="359321">
                <a:tc>
                  <a:txBody>
                    <a:bodyPr/>
                    <a:lstStyle/>
                    <a:p>
                      <a:pPr indent="0" marL="0">
                        <a:lnSpc>
                          <a:spcPts val="1820"/>
                        </a:lnSpc>
                        <a:buNone/>
                      </a:pPr>
                      <a:r>
                        <a:rPr lang="en-US" sz="1300" dirty="0">
                          <a:solidFill>
                            <a:srgbClr val="E8ECF4"/>
                          </a:solidFill>
                          <a:latin typeface="IBM Plex Sans" pitchFamily="34" charset="0"/>
                          <a:ea typeface="IBM Plex Sans" pitchFamily="34" charset="-122"/>
                          <a:cs typeface="IBM Plex Sans" pitchFamily="34" charset="-120"/>
                        </a:rPr>
                        <a:t>Budget used %</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40454F"/>
                      </a:solidFill>
                      <a:prstDash val="solid"/>
                      <a:round/>
                      <a:headEnd type="none" w="med" len="med"/>
                      <a:tailEnd type="none" w="med" len="med"/>
                    </a:lnL>
                    <a:lnR w="12700" cap="flat" cmpd="sng" algn="ctr">
                      <a:solidFill>
                        <a:srgbClr val="40454F"/>
                      </a:solidFill>
                      <a:prstDash val="solid"/>
                      <a:round/>
                      <a:headEnd type="none" w="med" len="med"/>
                      <a:tailEnd type="none" w="med" len="med"/>
                    </a:lnR>
                    <a:lnT w="12700" cap="flat" cmpd="sng" algn="ctr">
                      <a:solidFill>
                        <a:srgbClr val="40454F"/>
                      </a:solidFill>
                      <a:prstDash val="solid"/>
                      <a:round/>
                      <a:headEnd type="none" w="med" len="med"/>
                      <a:tailEnd type="none" w="med" len="med"/>
                    </a:lnT>
                    <a:lnB w="12700" cap="flat" cmpd="sng" algn="ctr">
                      <a:solidFill>
                        <a:srgbClr val="40454F"/>
                      </a:solidFill>
                      <a:prstDash val="solid"/>
                      <a:round/>
                      <a:headEnd type="none" w="med" len="med"/>
                      <a:tailEnd type="none" w="med" len="med"/>
                    </a:lnB>
                  </a:tcPr>
                </a:tc>
                <a:tc>
                  <a:txBody>
                    <a:bodyPr/>
                    <a:lstStyle/>
                    <a:p>
                      <a:pPr indent="0" marL="0">
                        <a:lnSpc>
                          <a:spcPts val="1820"/>
                        </a:lnSpc>
                        <a:buNone/>
                      </a:pPr>
                      <a:r>
                        <a:rPr lang="en-US" sz="1300" dirty="0">
                          <a:solidFill>
                            <a:srgbClr val="E8ECF4"/>
                          </a:solidFill>
                          <a:latin typeface="IBM Plex Sans" pitchFamily="34" charset="0"/>
                          <a:ea typeface="IBM Plex Sans" pitchFamily="34" charset="-122"/>
                          <a:cs typeface="IBM Plex Sans" pitchFamily="34" charset="-120"/>
                        </a:rPr>
                        <a:t>≥ 80% warning</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40454F"/>
                      </a:solidFill>
                      <a:prstDash val="solid"/>
                      <a:round/>
                      <a:headEnd type="none" w="med" len="med"/>
                      <a:tailEnd type="none" w="med" len="med"/>
                    </a:lnL>
                    <a:lnR w="12700" cap="flat" cmpd="sng" algn="ctr">
                      <a:solidFill>
                        <a:srgbClr val="40454F"/>
                      </a:solidFill>
                      <a:prstDash val="solid"/>
                      <a:round/>
                      <a:headEnd type="none" w="med" len="med"/>
                      <a:tailEnd type="none" w="med" len="med"/>
                    </a:lnR>
                    <a:lnT w="12700" cap="flat" cmpd="sng" algn="ctr">
                      <a:solidFill>
                        <a:srgbClr val="40454F"/>
                      </a:solidFill>
                      <a:prstDash val="solid"/>
                      <a:round/>
                      <a:headEnd type="none" w="med" len="med"/>
                      <a:tailEnd type="none" w="med" len="med"/>
                    </a:lnT>
                    <a:lnB w="12700" cap="flat" cmpd="sng" algn="ctr">
                      <a:solidFill>
                        <a:srgbClr val="40454F"/>
                      </a:solidFill>
                      <a:prstDash val="solid"/>
                      <a:round/>
                      <a:headEnd type="none" w="med" len="med"/>
                      <a:tailEnd type="none" w="med" len="med"/>
                    </a:lnB>
                  </a:tcPr>
                </a:tc>
              </a:tr>
              <a:tr h="359321">
                <a:tc>
                  <a:txBody>
                    <a:bodyPr/>
                    <a:lstStyle/>
                    <a:p>
                      <a:pPr indent="0" marL="0">
                        <a:lnSpc>
                          <a:spcPts val="1820"/>
                        </a:lnSpc>
                        <a:buNone/>
                      </a:pPr>
                      <a:r>
                        <a:rPr lang="en-US" sz="1300" dirty="0">
                          <a:solidFill>
                            <a:srgbClr val="E8ECF4"/>
                          </a:solidFill>
                          <a:latin typeface="IBM Plex Sans" pitchFamily="34" charset="0"/>
                          <a:ea typeface="IBM Plex Sans" pitchFamily="34" charset="-122"/>
                          <a:cs typeface="IBM Plex Sans" pitchFamily="34" charset="-120"/>
                        </a:rPr>
                        <a:t>Forecast %</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40454F"/>
                      </a:solidFill>
                      <a:prstDash val="solid"/>
                      <a:round/>
                      <a:headEnd type="none" w="med" len="med"/>
                      <a:tailEnd type="none" w="med" len="med"/>
                    </a:lnL>
                    <a:lnR w="12700" cap="flat" cmpd="sng" algn="ctr">
                      <a:solidFill>
                        <a:srgbClr val="40454F"/>
                      </a:solidFill>
                      <a:prstDash val="solid"/>
                      <a:round/>
                      <a:headEnd type="none" w="med" len="med"/>
                      <a:tailEnd type="none" w="med" len="med"/>
                    </a:lnR>
                    <a:lnT w="12700" cap="flat" cmpd="sng" algn="ctr">
                      <a:solidFill>
                        <a:srgbClr val="40454F"/>
                      </a:solidFill>
                      <a:prstDash val="solid"/>
                      <a:round/>
                      <a:headEnd type="none" w="med" len="med"/>
                      <a:tailEnd type="none" w="med" len="med"/>
                    </a:lnT>
                    <a:lnB w="12700" cap="flat" cmpd="sng" algn="ctr">
                      <a:solidFill>
                        <a:srgbClr val="40454F"/>
                      </a:solidFill>
                      <a:prstDash val="solid"/>
                      <a:round/>
                      <a:headEnd type="none" w="med" len="med"/>
                      <a:tailEnd type="none" w="med" len="med"/>
                    </a:lnB>
                  </a:tcPr>
                </a:tc>
                <a:tc>
                  <a:txBody>
                    <a:bodyPr/>
                    <a:lstStyle/>
                    <a:p>
                      <a:pPr indent="0" marL="0">
                        <a:lnSpc>
                          <a:spcPts val="1820"/>
                        </a:lnSpc>
                        <a:buNone/>
                      </a:pPr>
                      <a:r>
                        <a:rPr lang="en-US" sz="1300" dirty="0">
                          <a:solidFill>
                            <a:srgbClr val="E8ECF4"/>
                          </a:solidFill>
                          <a:latin typeface="IBM Plex Sans" pitchFamily="34" charset="0"/>
                          <a:ea typeface="IBM Plex Sans" pitchFamily="34" charset="-122"/>
                          <a:cs typeface="IBM Plex Sans" pitchFamily="34" charset="-120"/>
                        </a:rPr>
                        <a:t>&gt; 100% critical</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40454F"/>
                      </a:solidFill>
                      <a:prstDash val="solid"/>
                      <a:round/>
                      <a:headEnd type="none" w="med" len="med"/>
                      <a:tailEnd type="none" w="med" len="med"/>
                    </a:lnL>
                    <a:lnR w="12700" cap="flat" cmpd="sng" algn="ctr">
                      <a:solidFill>
                        <a:srgbClr val="40454F"/>
                      </a:solidFill>
                      <a:prstDash val="solid"/>
                      <a:round/>
                      <a:headEnd type="none" w="med" len="med"/>
                      <a:tailEnd type="none" w="med" len="med"/>
                    </a:lnR>
                    <a:lnT w="12700" cap="flat" cmpd="sng" algn="ctr">
                      <a:solidFill>
                        <a:srgbClr val="40454F"/>
                      </a:solidFill>
                      <a:prstDash val="solid"/>
                      <a:round/>
                      <a:headEnd type="none" w="med" len="med"/>
                      <a:tailEnd type="none" w="med" len="med"/>
                    </a:lnT>
                    <a:lnB w="12700" cap="flat" cmpd="sng" algn="ctr">
                      <a:solidFill>
                        <a:srgbClr val="40454F"/>
                      </a:solidFill>
                      <a:prstDash val="solid"/>
                      <a:round/>
                      <a:headEnd type="none" w="med" len="med"/>
                      <a:tailEnd type="none" w="med" len="med"/>
                    </a:lnB>
                  </a:tcPr>
                </a:tc>
              </a:tr>
              <a:tr h="359321">
                <a:tc>
                  <a:txBody>
                    <a:bodyPr/>
                    <a:lstStyle/>
                    <a:p>
                      <a:pPr indent="0" marL="0">
                        <a:lnSpc>
                          <a:spcPts val="1820"/>
                        </a:lnSpc>
                        <a:buNone/>
                      </a:pPr>
                      <a:r>
                        <a:rPr lang="en-US" sz="1300" dirty="0">
                          <a:solidFill>
                            <a:srgbClr val="E8ECF4"/>
                          </a:solidFill>
                          <a:latin typeface="IBM Plex Sans" pitchFamily="34" charset="0"/>
                          <a:ea typeface="IBM Plex Sans" pitchFamily="34" charset="-122"/>
                          <a:cs typeface="IBM Plex Sans" pitchFamily="34" charset="-120"/>
                        </a:rPr>
                        <a:t>Cost anomaly %</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40454F"/>
                      </a:solidFill>
                      <a:prstDash val="solid"/>
                      <a:round/>
                      <a:headEnd type="none" w="med" len="med"/>
                      <a:tailEnd type="none" w="med" len="med"/>
                    </a:lnL>
                    <a:lnR w="12700" cap="flat" cmpd="sng" algn="ctr">
                      <a:solidFill>
                        <a:srgbClr val="40454F"/>
                      </a:solidFill>
                      <a:prstDash val="solid"/>
                      <a:round/>
                      <a:headEnd type="none" w="med" len="med"/>
                      <a:tailEnd type="none" w="med" len="med"/>
                    </a:lnR>
                    <a:lnT w="12700" cap="flat" cmpd="sng" algn="ctr">
                      <a:solidFill>
                        <a:srgbClr val="40454F"/>
                      </a:solidFill>
                      <a:prstDash val="solid"/>
                      <a:round/>
                      <a:headEnd type="none" w="med" len="med"/>
                      <a:tailEnd type="none" w="med" len="med"/>
                    </a:lnT>
                    <a:lnB w="12700" cap="flat" cmpd="sng" algn="ctr">
                      <a:solidFill>
                        <a:srgbClr val="40454F"/>
                      </a:solidFill>
                      <a:prstDash val="solid"/>
                      <a:round/>
                      <a:headEnd type="none" w="med" len="med"/>
                      <a:tailEnd type="none" w="med" len="med"/>
                    </a:lnB>
                  </a:tcPr>
                </a:tc>
                <a:tc>
                  <a:txBody>
                    <a:bodyPr/>
                    <a:lstStyle/>
                    <a:p>
                      <a:pPr indent="0" marL="0">
                        <a:lnSpc>
                          <a:spcPts val="1820"/>
                        </a:lnSpc>
                        <a:buNone/>
                      </a:pPr>
                      <a:r>
                        <a:rPr lang="en-US" sz="1300" dirty="0">
                          <a:solidFill>
                            <a:srgbClr val="E8ECF4"/>
                          </a:solidFill>
                          <a:latin typeface="IBM Plex Sans" pitchFamily="34" charset="0"/>
                          <a:ea typeface="IBM Plex Sans" pitchFamily="34" charset="-122"/>
                          <a:cs typeface="IBM Plex Sans" pitchFamily="34" charset="-120"/>
                        </a:rPr>
                        <a:t>&gt; 40% critical</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40454F"/>
                      </a:solidFill>
                      <a:prstDash val="solid"/>
                      <a:round/>
                      <a:headEnd type="none" w="med" len="med"/>
                      <a:tailEnd type="none" w="med" len="med"/>
                    </a:lnL>
                    <a:lnR w="12700" cap="flat" cmpd="sng" algn="ctr">
                      <a:solidFill>
                        <a:srgbClr val="40454F"/>
                      </a:solidFill>
                      <a:prstDash val="solid"/>
                      <a:round/>
                      <a:headEnd type="none" w="med" len="med"/>
                      <a:tailEnd type="none" w="med" len="med"/>
                    </a:lnR>
                    <a:lnT w="12700" cap="flat" cmpd="sng" algn="ctr">
                      <a:solidFill>
                        <a:srgbClr val="40454F"/>
                      </a:solidFill>
                      <a:prstDash val="solid"/>
                      <a:round/>
                      <a:headEnd type="none" w="med" len="med"/>
                      <a:tailEnd type="none" w="med" len="med"/>
                    </a:lnT>
                    <a:lnB w="12700" cap="flat" cmpd="sng" algn="ctr">
                      <a:solidFill>
                        <a:srgbClr val="40454F"/>
                      </a:solidFill>
                      <a:prstDash val="solid"/>
                      <a:round/>
                      <a:headEnd type="none" w="med" len="med"/>
                      <a:tailEnd type="none" w="med" len="med"/>
                    </a:lnB>
                  </a:tcPr>
                </a:tc>
              </a:tr>
              <a:tr h="359321">
                <a:tc>
                  <a:txBody>
                    <a:bodyPr/>
                    <a:lstStyle/>
                    <a:p>
                      <a:pPr indent="0" marL="0">
                        <a:lnSpc>
                          <a:spcPts val="1820"/>
                        </a:lnSpc>
                        <a:buNone/>
                      </a:pPr>
                      <a:r>
                        <a:rPr lang="en-US" sz="1300" dirty="0">
                          <a:solidFill>
                            <a:srgbClr val="E8ECF4"/>
                          </a:solidFill>
                          <a:latin typeface="IBM Plex Sans" pitchFamily="34" charset="0"/>
                          <a:ea typeface="IBM Plex Sans" pitchFamily="34" charset="-122"/>
                          <a:cs typeface="IBM Plex Sans" pitchFamily="34" charset="-120"/>
                        </a:rPr>
                        <a:t>CPU / memory</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40454F"/>
                      </a:solidFill>
                      <a:prstDash val="solid"/>
                      <a:round/>
                      <a:headEnd type="none" w="med" len="med"/>
                      <a:tailEnd type="none" w="med" len="med"/>
                    </a:lnL>
                    <a:lnR w="12700" cap="flat" cmpd="sng" algn="ctr">
                      <a:solidFill>
                        <a:srgbClr val="40454F"/>
                      </a:solidFill>
                      <a:prstDash val="solid"/>
                      <a:round/>
                      <a:headEnd type="none" w="med" len="med"/>
                      <a:tailEnd type="none" w="med" len="med"/>
                    </a:lnR>
                    <a:lnT w="12700" cap="flat" cmpd="sng" algn="ctr">
                      <a:solidFill>
                        <a:srgbClr val="40454F"/>
                      </a:solidFill>
                      <a:prstDash val="solid"/>
                      <a:round/>
                      <a:headEnd type="none" w="med" len="med"/>
                      <a:tailEnd type="none" w="med" len="med"/>
                    </a:lnT>
                    <a:lnB w="12700" cap="flat" cmpd="sng" algn="ctr">
                      <a:solidFill>
                        <a:srgbClr val="40454F"/>
                      </a:solidFill>
                      <a:prstDash val="solid"/>
                      <a:round/>
                      <a:headEnd type="none" w="med" len="med"/>
                      <a:tailEnd type="none" w="med" len="med"/>
                    </a:lnB>
                  </a:tcPr>
                </a:tc>
                <a:tc>
                  <a:txBody>
                    <a:bodyPr/>
                    <a:lstStyle/>
                    <a:p>
                      <a:pPr indent="0" marL="0">
                        <a:lnSpc>
                          <a:spcPts val="1820"/>
                        </a:lnSpc>
                        <a:buNone/>
                      </a:pPr>
                      <a:r>
                        <a:rPr lang="en-US" sz="1300" dirty="0">
                          <a:solidFill>
                            <a:srgbClr val="E8ECF4"/>
                          </a:solidFill>
                          <a:latin typeface="IBM Plex Sans" pitchFamily="34" charset="0"/>
                          <a:ea typeface="IBM Plex Sans" pitchFamily="34" charset="-122"/>
                          <a:cs typeface="IBM Plex Sans" pitchFamily="34" charset="-120"/>
                        </a:rPr>
                        <a:t>Prod CPU &gt; 80%</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40454F"/>
                      </a:solidFill>
                      <a:prstDash val="solid"/>
                      <a:round/>
                      <a:headEnd type="none" w="med" len="med"/>
                      <a:tailEnd type="none" w="med" len="med"/>
                    </a:lnL>
                    <a:lnR w="12700" cap="flat" cmpd="sng" algn="ctr">
                      <a:solidFill>
                        <a:srgbClr val="40454F"/>
                      </a:solidFill>
                      <a:prstDash val="solid"/>
                      <a:round/>
                      <a:headEnd type="none" w="med" len="med"/>
                      <a:tailEnd type="none" w="med" len="med"/>
                    </a:lnR>
                    <a:lnT w="12700" cap="flat" cmpd="sng" algn="ctr">
                      <a:solidFill>
                        <a:srgbClr val="40454F"/>
                      </a:solidFill>
                      <a:prstDash val="solid"/>
                      <a:round/>
                      <a:headEnd type="none" w="med" len="med"/>
                      <a:tailEnd type="none" w="med" len="med"/>
                    </a:lnT>
                    <a:lnB w="12700" cap="flat" cmpd="sng" algn="ctr">
                      <a:solidFill>
                        <a:srgbClr val="40454F"/>
                      </a:solidFill>
                      <a:prstDash val="solid"/>
                      <a:round/>
                      <a:headEnd type="none" w="med" len="med"/>
                      <a:tailEnd type="none" w="med" len="med"/>
                    </a:lnB>
                  </a:tcPr>
                </a:tc>
              </a:tr>
              <a:tr h="359321">
                <a:tc>
                  <a:txBody>
                    <a:bodyPr/>
                    <a:lstStyle/>
                    <a:p>
                      <a:pPr indent="0" marL="0">
                        <a:lnSpc>
                          <a:spcPts val="1820"/>
                        </a:lnSpc>
                        <a:buNone/>
                      </a:pPr>
                      <a:r>
                        <a:rPr lang="en-US" sz="1300" dirty="0">
                          <a:solidFill>
                            <a:srgbClr val="E8ECF4"/>
                          </a:solidFill>
                          <a:latin typeface="IBM Plex Sans" pitchFamily="34" charset="0"/>
                          <a:ea typeface="IBM Plex Sans" pitchFamily="34" charset="-122"/>
                          <a:cs typeface="IBM Plex Sans" pitchFamily="34" charset="-120"/>
                        </a:rPr>
                        <a:t>Idle resources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40454F"/>
                      </a:solidFill>
                      <a:prstDash val="solid"/>
                      <a:round/>
                      <a:headEnd type="none" w="med" len="med"/>
                      <a:tailEnd type="none" w="med" len="med"/>
                    </a:lnL>
                    <a:lnR w="12700" cap="flat" cmpd="sng" algn="ctr">
                      <a:solidFill>
                        <a:srgbClr val="40454F"/>
                      </a:solidFill>
                      <a:prstDash val="solid"/>
                      <a:round/>
                      <a:headEnd type="none" w="med" len="med"/>
                      <a:tailEnd type="none" w="med" len="med"/>
                    </a:lnR>
                    <a:lnT w="12700" cap="flat" cmpd="sng" algn="ctr">
                      <a:solidFill>
                        <a:srgbClr val="40454F"/>
                      </a:solidFill>
                      <a:prstDash val="solid"/>
                      <a:round/>
                      <a:headEnd type="none" w="med" len="med"/>
                      <a:tailEnd type="none" w="med" len="med"/>
                    </a:lnT>
                    <a:lnB w="12700" cap="flat" cmpd="sng" algn="ctr">
                      <a:solidFill>
                        <a:srgbClr val="40454F"/>
                      </a:solidFill>
                      <a:prstDash val="solid"/>
                      <a:round/>
                      <a:headEnd type="none" w="med" len="med"/>
                      <a:tailEnd type="none" w="med" len="med"/>
                    </a:lnB>
                  </a:tcPr>
                </a:tc>
                <a:tc>
                  <a:txBody>
                    <a:bodyPr/>
                    <a:lstStyle/>
                    <a:p>
                      <a:pPr indent="0" marL="0">
                        <a:lnSpc>
                          <a:spcPts val="1820"/>
                        </a:lnSpc>
                        <a:buNone/>
                      </a:pPr>
                      <a:r>
                        <a:rPr lang="en-US" sz="1300" dirty="0">
                          <a:solidFill>
                            <a:srgbClr val="E8ECF4"/>
                          </a:solidFill>
                          <a:latin typeface="IBM Plex Sans" pitchFamily="34" charset="0"/>
                          <a:ea typeface="IBM Plex Sans" pitchFamily="34" charset="-122"/>
                          <a:cs typeface="IBM Plex Sans" pitchFamily="34" charset="-120"/>
                        </a:rPr>
                        <a:t>count &gt; 0</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40454F"/>
                      </a:solidFill>
                      <a:prstDash val="solid"/>
                      <a:round/>
                      <a:headEnd type="none" w="med" len="med"/>
                      <a:tailEnd type="none" w="med" len="med"/>
                    </a:lnL>
                    <a:lnR w="12700" cap="flat" cmpd="sng" algn="ctr">
                      <a:solidFill>
                        <a:srgbClr val="40454F"/>
                      </a:solidFill>
                      <a:prstDash val="solid"/>
                      <a:round/>
                      <a:headEnd type="none" w="med" len="med"/>
                      <a:tailEnd type="none" w="med" len="med"/>
                    </a:lnR>
                    <a:lnT w="12700" cap="flat" cmpd="sng" algn="ctr">
                      <a:solidFill>
                        <a:srgbClr val="40454F"/>
                      </a:solidFill>
                      <a:prstDash val="solid"/>
                      <a:round/>
                      <a:headEnd type="none" w="med" len="med"/>
                      <a:tailEnd type="none" w="med" len="med"/>
                    </a:lnT>
                    <a:lnB w="12700" cap="flat" cmpd="sng" algn="ctr">
                      <a:solidFill>
                        <a:srgbClr val="40454F"/>
                      </a:solidFill>
                      <a:prstDash val="solid"/>
                      <a:round/>
                      <a:headEnd type="none" w="med" len="med"/>
                      <a:tailEnd type="none" w="med" len="med"/>
                    </a:lnB>
                  </a:tcPr>
                </a:tc>
              </a:tr>
            </a:tbl>
          </a:graphicData>
        </a:graphic>
      </p:graphicFrame>
      <p:pic>
        <p:nvPicPr>
          <p:cNvPr id="5" name="Image 0" descr="Alerts screen listing rules with state, condition, current value, severity and channel">    </p:cNvPr>
          <p:cNvPicPr>
            <a:picLocks noChangeAspect="1"/>
          </p:cNvPicPr>
          <p:nvPr/>
        </p:nvPicPr>
        <p:blipFill>
          <a:blip r:embed="rId4"/>
          <a:stretch>
            <a:fillRect/>
          </a:stretch>
        </p:blipFill>
        <p:spPr>
          <a:xfrm>
            <a:off x="4933950" y="919427"/>
            <a:ext cx="6438900" cy="4739746"/>
          </a:xfrm>
          <a:prstGeom prst="rect">
            <a:avLst/>
          </a:prstGeom>
        </p:spPr>
      </p:pic>
      <p:sp>
        <p:nvSpPr>
          <p:cNvPr id="6" name="Shape 2"/>
          <p:cNvSpPr/>
          <p:nvPr/>
        </p:nvSpPr>
        <p:spPr>
          <a:xfrm>
            <a:off x="4930775" y="815975"/>
            <a:ext cx="6445250" cy="4946650"/>
          </a:xfrm>
          <a:prstGeom prst="roundRect">
            <a:avLst>
              <a:gd name="adj" fmla="val 1990"/>
            </a:avLst>
          </a:prstGeom>
          <a:noFill/>
          <a:ln w="6350">
            <a:solidFill>
              <a:srgbClr val="243047"/>
            </a:solidFill>
            <a:prstDash val="solid"/>
          </a:ln>
        </p:spPr>
        <p:txBody>
          <a:bodyPr/>
          <a:p/>
        </p:txBody>
      </p:sp>
      <p:sp>
        <p:nvSpPr>
          <p:cNvPr id="7" name="Text 3"/>
          <p:cNvSpPr/>
          <p:nvPr/>
        </p:nvSpPr>
        <p:spPr>
          <a:xfrm>
            <a:off x="812800" y="62890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8"/>
                </a:solidFill>
                <a:latin typeface="IBM Plex Sans" pitchFamily="34" charset="0"/>
                <a:ea typeface="IBM Plex Sans" pitchFamily="34" charset="-122"/>
                <a:cs typeface="IBM Plex Sans" pitchFamily="34" charset="-120"/>
              </a:rPr>
              <a:t>CloudLens · Capstone viva · 12</a:t>
            </a:r>
            <a:endParaRPr lang="en-US" sz="1200" dirty="0">
              <a:latin typeface="IBM Plex Sans" charset="0"/>
              <a:ea typeface="IBM Plex Sans" charset="0"/>
              <a:cs typeface="IBM Plex Sans"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1D5FD6"/>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DCE7FB"/>
                </a:solidFill>
                <a:latin typeface="JetBrains Mono" pitchFamily="49" charset="0"/>
                <a:ea typeface="JetBrains Mono" pitchFamily="49" charset="-122"/>
                <a:cs typeface="JetBrains Mono" pitchFamily="49" charset="-120"/>
              </a:rPr>
              <a:t>COST OPTIMISATION</a:t>
            </a:r>
            <a:endParaRPr lang="en-US" sz="1200" dirty="0">
              <a:latin typeface="JetBrains Mono" charset="0"/>
              <a:ea typeface="JetBrains Mono" charset="0"/>
              <a:cs typeface="JetBrains Mono" charset="0"/>
            </a:endParaRPr>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4F7FD"/>
                </a:solidFill>
                <a:latin typeface="IBM Plex Sans" pitchFamily="34" charset="0"/>
                <a:ea typeface="IBM Plex Sans" pitchFamily="34" charset="-122"/>
                <a:cs typeface="IBM Plex Sans" pitchFamily="34" charset="-120"/>
              </a:rPr>
              <a:t>Monitoring that pays for itself</a:t>
            </a:r>
            <a:endParaRPr lang="en-US" sz="3600" dirty="0">
              <a:latin typeface="IBM Plex Sans" charset="0"/>
              <a:ea typeface="IBM Plex Sans" charset="0"/>
              <a:cs typeface="IBM Plex Sans" charset="0"/>
            </a:endParaRPr>
          </a:p>
        </p:txBody>
      </p:sp>
      <p:sp>
        <p:nvSpPr>
          <p:cNvPr id="4" name="Shape 2"/>
          <p:cNvSpPr/>
          <p:nvPr/>
        </p:nvSpPr>
        <p:spPr>
          <a:xfrm>
            <a:off x="812800" y="1935411"/>
            <a:ext cx="3386634" cy="2046585"/>
          </a:xfrm>
          <a:prstGeom prst="roundRect">
            <a:avLst>
              <a:gd name="adj" fmla="val 6205"/>
            </a:avLst>
          </a:prstGeom>
          <a:solidFill>
            <a:srgbClr val="174CAE"/>
          </a:solidFill>
          <a:ln/>
        </p:spPr>
        <p:txBody>
          <a:bodyPr/>
          <a:p/>
        </p:txBody>
      </p:sp>
      <p:sp>
        <p:nvSpPr>
          <p:cNvPr id="5" name="Text 3"/>
          <p:cNvSpPr/>
          <p:nvPr/>
        </p:nvSpPr>
        <p:spPr>
          <a:xfrm>
            <a:off x="1092200" y="2214811"/>
            <a:ext cx="2912669" cy="665460"/>
          </a:xfrm>
          <a:prstGeom prst="rect">
            <a:avLst/>
          </a:prstGeom>
          <a:noFill/>
          <a:ln/>
        </p:spPr>
        <p:txBody>
          <a:bodyPr wrap="square" lIns="0" tIns="0" rIns="0" bIns="0" rtlCol="0" anchor="t">
            <a:normAutofit/>
          </a:bodyPr>
          <a:lstStyle/>
          <a:p>
            <a:pPr algn="l" indent="0" marL="0">
              <a:lnSpc>
                <a:spcPts val="5040"/>
              </a:lnSpc>
              <a:buNone/>
            </a:pPr>
            <a:r>
              <a:rPr lang="en-US" sz="4800" b="1" dirty="0">
                <a:solidFill>
                  <a:srgbClr val="F4F7FD"/>
                </a:solidFill>
                <a:latin typeface="JetBrains Mono" pitchFamily="49" charset="0"/>
                <a:ea typeface="JetBrains Mono" pitchFamily="49" charset="-122"/>
                <a:cs typeface="JetBrains Mono" pitchFamily="49" charset="-120"/>
              </a:rPr>
              <a:t>$9.2K</a:t>
            </a:r>
            <a:endParaRPr lang="en-US" sz="4800" dirty="0">
              <a:latin typeface="JetBrains Mono" charset="0"/>
              <a:ea typeface="JetBrains Mono" charset="0"/>
              <a:cs typeface="JetBrains Mono" charset="0"/>
            </a:endParaRPr>
          </a:p>
        </p:txBody>
      </p:sp>
      <p:sp>
        <p:nvSpPr>
          <p:cNvPr id="6" name="Text 4"/>
          <p:cNvSpPr/>
          <p:nvPr/>
        </p:nvSpPr>
        <p:spPr>
          <a:xfrm>
            <a:off x="1092200" y="2931071"/>
            <a:ext cx="2912669"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DCE7FB"/>
                </a:solidFill>
                <a:latin typeface="IBM Plex Sans" pitchFamily="34" charset="0"/>
                <a:ea typeface="IBM Plex Sans" pitchFamily="34" charset="-122"/>
                <a:cs typeface="IBM Plex Sans" pitchFamily="34" charset="-120"/>
              </a:rPr>
              <a:t>monthly savings found on demo data (about 8.5% of spend)</a:t>
            </a:r>
            <a:endParaRPr lang="en-US" sz="1500" dirty="0">
              <a:latin typeface="IBM Plex Sans" charset="0"/>
              <a:ea typeface="IBM Plex Sans" charset="0"/>
              <a:cs typeface="IBM Plex Sans" charset="0"/>
            </a:endParaRPr>
          </a:p>
        </p:txBody>
      </p:sp>
      <p:sp>
        <p:nvSpPr>
          <p:cNvPr id="7" name="Shape 5"/>
          <p:cNvSpPr/>
          <p:nvPr/>
        </p:nvSpPr>
        <p:spPr>
          <a:xfrm>
            <a:off x="4402634" y="1935411"/>
            <a:ext cx="3386683" cy="2046585"/>
          </a:xfrm>
          <a:prstGeom prst="roundRect">
            <a:avLst>
              <a:gd name="adj" fmla="val 6205"/>
            </a:avLst>
          </a:prstGeom>
          <a:solidFill>
            <a:srgbClr val="174CAE"/>
          </a:solidFill>
          <a:ln/>
        </p:spPr>
        <p:txBody>
          <a:bodyPr/>
          <a:p/>
        </p:txBody>
      </p:sp>
      <p:sp>
        <p:nvSpPr>
          <p:cNvPr id="8" name="Text 6"/>
          <p:cNvSpPr/>
          <p:nvPr/>
        </p:nvSpPr>
        <p:spPr>
          <a:xfrm>
            <a:off x="4682034" y="2214811"/>
            <a:ext cx="2912720" cy="665460"/>
          </a:xfrm>
          <a:prstGeom prst="rect">
            <a:avLst/>
          </a:prstGeom>
          <a:noFill/>
          <a:ln/>
        </p:spPr>
        <p:txBody>
          <a:bodyPr wrap="square" lIns="0" tIns="0" rIns="0" bIns="0" rtlCol="0" anchor="t">
            <a:normAutofit/>
          </a:bodyPr>
          <a:lstStyle/>
          <a:p>
            <a:pPr algn="l" indent="0" marL="0">
              <a:lnSpc>
                <a:spcPts val="5040"/>
              </a:lnSpc>
              <a:buNone/>
            </a:pPr>
            <a:r>
              <a:rPr lang="en-US" sz="4800" b="1" dirty="0">
                <a:solidFill>
                  <a:srgbClr val="F4F7FD"/>
                </a:solidFill>
                <a:latin typeface="JetBrains Mono" pitchFamily="49" charset="0"/>
                <a:ea typeface="JetBrains Mono" pitchFamily="49" charset="-122"/>
                <a:cs typeface="JetBrains Mono" pitchFamily="49" charset="-120"/>
              </a:rPr>
              <a:t>~$1.50</a:t>
            </a:r>
            <a:endParaRPr lang="en-US" sz="4800" dirty="0">
              <a:latin typeface="JetBrains Mono" charset="0"/>
              <a:ea typeface="JetBrains Mono" charset="0"/>
              <a:cs typeface="JetBrains Mono" charset="0"/>
            </a:endParaRPr>
          </a:p>
        </p:txBody>
      </p:sp>
      <p:sp>
        <p:nvSpPr>
          <p:cNvPr id="9" name="Text 7"/>
          <p:cNvSpPr/>
          <p:nvPr/>
        </p:nvSpPr>
        <p:spPr>
          <a:xfrm>
            <a:off x="4682034" y="2931071"/>
            <a:ext cx="2912720" cy="79692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DCE7FB"/>
                </a:solidFill>
                <a:latin typeface="IBM Plex Sans" pitchFamily="34" charset="0"/>
                <a:ea typeface="IBM Plex Sans" pitchFamily="34" charset="-122"/>
                <a:cs typeface="IBM Plex Sans" pitchFamily="34" charset="-120"/>
              </a:rPr>
              <a:t>per month per AWS account in Cost Explorer calls: 3-day lookback, today refreshed every 6 h</a:t>
            </a:r>
            <a:endParaRPr lang="en-US" sz="1500" dirty="0">
              <a:latin typeface="IBM Plex Sans" charset="0"/>
              <a:ea typeface="IBM Plex Sans" charset="0"/>
              <a:cs typeface="IBM Plex Sans" charset="0"/>
            </a:endParaRPr>
          </a:p>
        </p:txBody>
      </p:sp>
      <p:sp>
        <p:nvSpPr>
          <p:cNvPr id="10" name="Shape 8"/>
          <p:cNvSpPr/>
          <p:nvPr/>
        </p:nvSpPr>
        <p:spPr>
          <a:xfrm>
            <a:off x="7992517" y="1935411"/>
            <a:ext cx="3386634" cy="2046585"/>
          </a:xfrm>
          <a:prstGeom prst="roundRect">
            <a:avLst>
              <a:gd name="adj" fmla="val 6205"/>
            </a:avLst>
          </a:prstGeom>
          <a:solidFill>
            <a:srgbClr val="174CAE"/>
          </a:solidFill>
          <a:ln/>
        </p:spPr>
        <p:txBody>
          <a:bodyPr/>
          <a:p/>
        </p:txBody>
      </p:sp>
      <p:sp>
        <p:nvSpPr>
          <p:cNvPr id="11" name="Text 9"/>
          <p:cNvSpPr/>
          <p:nvPr/>
        </p:nvSpPr>
        <p:spPr>
          <a:xfrm>
            <a:off x="8271917" y="2214811"/>
            <a:ext cx="2912669" cy="665460"/>
          </a:xfrm>
          <a:prstGeom prst="rect">
            <a:avLst/>
          </a:prstGeom>
          <a:noFill/>
          <a:ln/>
        </p:spPr>
        <p:txBody>
          <a:bodyPr wrap="square" lIns="0" tIns="0" rIns="0" bIns="0" rtlCol="0" anchor="t">
            <a:normAutofit/>
          </a:bodyPr>
          <a:lstStyle/>
          <a:p>
            <a:pPr algn="l" indent="0" marL="0">
              <a:lnSpc>
                <a:spcPts val="5040"/>
              </a:lnSpc>
              <a:buNone/>
            </a:pPr>
            <a:r>
              <a:rPr lang="en-US" sz="4800" b="1" dirty="0">
                <a:solidFill>
                  <a:srgbClr val="F4F7FD"/>
                </a:solidFill>
                <a:latin typeface="JetBrains Mono" pitchFamily="49" charset="0"/>
                <a:ea typeface="JetBrains Mono" pitchFamily="49" charset="-122"/>
                <a:cs typeface="JetBrains Mono" pitchFamily="49" charset="-120"/>
              </a:rPr>
              <a:t>~$21</a:t>
            </a:r>
            <a:endParaRPr lang="en-US" sz="4800" dirty="0">
              <a:latin typeface="JetBrains Mono" charset="0"/>
              <a:ea typeface="JetBrains Mono" charset="0"/>
              <a:cs typeface="JetBrains Mono" charset="0"/>
            </a:endParaRPr>
          </a:p>
        </p:txBody>
      </p:sp>
      <p:sp>
        <p:nvSpPr>
          <p:cNvPr id="12" name="Text 10"/>
          <p:cNvSpPr/>
          <p:nvPr/>
        </p:nvSpPr>
        <p:spPr>
          <a:xfrm>
            <a:off x="8271917" y="2931071"/>
            <a:ext cx="2912669"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DCE7FB"/>
                </a:solidFill>
                <a:latin typeface="IBM Plex Sans" pitchFamily="34" charset="0"/>
                <a:ea typeface="IBM Plex Sans" pitchFamily="34" charset="-122"/>
                <a:cs typeface="IBM Plex Sans" pitchFamily="34" charset="-120"/>
              </a:rPr>
              <a:t>per month to run the whole stack on one t3.small</a:t>
            </a:r>
            <a:endParaRPr lang="en-US" sz="1500" dirty="0">
              <a:latin typeface="IBM Plex Sans" charset="0"/>
              <a:ea typeface="IBM Plex Sans" charset="0"/>
              <a:cs typeface="IBM Plex Sans" charset="0"/>
            </a:endParaRPr>
          </a:p>
        </p:txBody>
      </p:sp>
      <p:sp>
        <p:nvSpPr>
          <p:cNvPr id="13" name="Text 11"/>
          <p:cNvSpPr/>
          <p:nvPr/>
        </p:nvSpPr>
        <p:spPr>
          <a:xfrm>
            <a:off x="812800" y="4286796"/>
            <a:ext cx="10203180"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F4F7FD"/>
                </a:solidFill>
                <a:latin typeface="IBM Plex Sans" pitchFamily="34" charset="0"/>
                <a:ea typeface="IBM Plex Sans" pitchFamily="34" charset="-122"/>
                <a:cs typeface="IBM Plex Sans" pitchFamily="34" charset="-120"/>
              </a:rPr>
              <a:t>Recommendations: stop idle, rightsize, off-hours schedules, storage tiering. Plus budget forecasts, anomaly alerts, retention policies and partition-filtered BigQuery queries.</a:t>
            </a:r>
            <a:endParaRPr lang="en-US" sz="1600" dirty="0">
              <a:latin typeface="IBM Plex Sans" charset="0"/>
              <a:ea typeface="IBM Plex Sans" charset="0"/>
              <a:cs typeface="IBM Plex Sans" charset="0"/>
            </a:endParaRPr>
          </a:p>
        </p:txBody>
      </p:sp>
      <p:sp>
        <p:nvSpPr>
          <p:cNvPr id="14" name="Text 1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CE7FB"/>
                </a:solidFill>
                <a:latin typeface="IBM Plex Sans" pitchFamily="34" charset="0"/>
                <a:ea typeface="IBM Plex Sans" pitchFamily="34" charset="-122"/>
                <a:cs typeface="IBM Plex Sans" pitchFamily="34" charset="-120"/>
              </a:rPr>
              <a:t>CloudLens · Capstone viva · 13</a:t>
            </a:r>
            <a:endParaRPr lang="en-US" sz="1200" dirty="0">
              <a:latin typeface="IBM Plex Sans" charset="0"/>
              <a:ea typeface="IBM Plex Sans" charset="0"/>
              <a:cs typeface="IBM Plex Sans"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1D5FD6"/>
                </a:solidFill>
                <a:latin typeface="JetBrains Mono" pitchFamily="49" charset="0"/>
                <a:ea typeface="JetBrains Mono" pitchFamily="49" charset="-122"/>
                <a:cs typeface="JetBrains Mono" pitchFamily="49" charset="-120"/>
              </a:rPr>
              <a:t>TESTING</a:t>
            </a:r>
            <a:endParaRPr lang="en-US" sz="1200" dirty="0">
              <a:latin typeface="JetBrains Mono" charset="0"/>
              <a:ea typeface="JetBrains Mono" charset="0"/>
              <a:cs typeface="JetBrains Mono" charset="0"/>
            </a:endParaRPr>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F172A"/>
                </a:solidFill>
                <a:latin typeface="IBM Plex Sans" pitchFamily="34" charset="0"/>
                <a:ea typeface="IBM Plex Sans" pitchFamily="34" charset="-122"/>
                <a:cs typeface="IBM Plex Sans" pitchFamily="34" charset="-120"/>
              </a:rPr>
              <a:t>Verified at every layer</a:t>
            </a:r>
            <a:endParaRPr lang="en-US" sz="3600" dirty="0">
              <a:latin typeface="IBM Plex Sans" charset="0"/>
              <a:ea typeface="IBM Plex Sans" charset="0"/>
              <a:cs typeface="IBM Plex Sans" charset="0"/>
            </a:endParaRPr>
          </a:p>
        </p:txBody>
      </p:sp>
      <p:sp>
        <p:nvSpPr>
          <p:cNvPr id="4" name="Shape 2"/>
          <p:cNvSpPr/>
          <p:nvPr/>
        </p:nvSpPr>
        <p:spPr>
          <a:xfrm>
            <a:off x="815975" y="1913186"/>
            <a:ext cx="2501900" cy="1723330"/>
          </a:xfrm>
          <a:prstGeom prst="roundRect">
            <a:avLst>
              <a:gd name="adj" fmla="val 7185"/>
            </a:avLst>
          </a:prstGeom>
          <a:solidFill>
            <a:srgbClr val="FFFFFF"/>
          </a:solidFill>
          <a:ln w="6350">
            <a:solidFill>
              <a:srgbClr val="DCE2EB"/>
            </a:solidFill>
            <a:prstDash val="solid"/>
          </a:ln>
        </p:spPr>
        <p:txBody>
          <a:bodyPr/>
          <a:p/>
        </p:txBody>
      </p:sp>
      <p:sp>
        <p:nvSpPr>
          <p:cNvPr id="5" name="Text 3"/>
          <p:cNvSpPr/>
          <p:nvPr/>
        </p:nvSpPr>
        <p:spPr>
          <a:xfrm>
            <a:off x="1047750" y="2144961"/>
            <a:ext cx="2099501" cy="736600"/>
          </a:xfrm>
          <a:prstGeom prst="rect">
            <a:avLst/>
          </a:prstGeom>
          <a:noFill/>
          <a:ln/>
        </p:spPr>
        <p:txBody>
          <a:bodyPr wrap="square" lIns="0" tIns="0" rIns="0" bIns="0" rtlCol="0" anchor="t">
            <a:normAutofit/>
          </a:bodyPr>
          <a:lstStyle/>
          <a:p>
            <a:pPr algn="l" indent="0" marL="0">
              <a:lnSpc>
                <a:spcPts val="5600"/>
              </a:lnSpc>
              <a:buNone/>
            </a:pPr>
            <a:r>
              <a:rPr lang="en-US" sz="4000" b="1" dirty="0">
                <a:solidFill>
                  <a:srgbClr val="1D5FD6"/>
                </a:solidFill>
                <a:latin typeface="JetBrains Mono" pitchFamily="49" charset="0"/>
                <a:ea typeface="JetBrains Mono" pitchFamily="49" charset="-122"/>
                <a:cs typeface="JetBrains Mono" pitchFamily="49" charset="-120"/>
              </a:rPr>
              <a:t>144</a:t>
            </a:r>
            <a:endParaRPr lang="en-US" sz="4000" dirty="0">
              <a:latin typeface="JetBrains Mono" charset="0"/>
              <a:ea typeface="JetBrains Mono" charset="0"/>
              <a:cs typeface="JetBrains Mono" charset="0"/>
            </a:endParaRPr>
          </a:p>
        </p:txBody>
      </p:sp>
      <p:sp>
        <p:nvSpPr>
          <p:cNvPr id="6" name="Text 4"/>
          <p:cNvSpPr/>
          <p:nvPr/>
        </p:nvSpPr>
        <p:spPr>
          <a:xfrm>
            <a:off x="1047750" y="2906961"/>
            <a:ext cx="2099501"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468"/>
                </a:solidFill>
                <a:latin typeface="IBM Plex Sans" pitchFamily="34" charset="0"/>
                <a:ea typeface="IBM Plex Sans" pitchFamily="34" charset="-122"/>
                <a:cs typeface="IBM Plex Sans" pitchFamily="34" charset="-120"/>
              </a:rPr>
              <a:t>backend tests pass on SQLite and PostgreSQL</a:t>
            </a:r>
            <a:endParaRPr lang="en-US" sz="1400" dirty="0">
              <a:latin typeface="IBM Plex Sans" charset="0"/>
              <a:ea typeface="IBM Plex Sans" charset="0"/>
              <a:cs typeface="IBM Plex Sans" charset="0"/>
            </a:endParaRPr>
          </a:p>
        </p:txBody>
      </p:sp>
      <p:sp>
        <p:nvSpPr>
          <p:cNvPr id="7" name="Shape 5"/>
          <p:cNvSpPr/>
          <p:nvPr/>
        </p:nvSpPr>
        <p:spPr>
          <a:xfrm>
            <a:off x="3502025" y="1913186"/>
            <a:ext cx="2501900" cy="1723330"/>
          </a:xfrm>
          <a:prstGeom prst="roundRect">
            <a:avLst>
              <a:gd name="adj" fmla="val 7185"/>
            </a:avLst>
          </a:prstGeom>
          <a:solidFill>
            <a:srgbClr val="FFFFFF"/>
          </a:solidFill>
          <a:ln w="6350">
            <a:solidFill>
              <a:srgbClr val="DCE2EB"/>
            </a:solidFill>
            <a:prstDash val="solid"/>
          </a:ln>
        </p:spPr>
        <p:txBody>
          <a:bodyPr/>
          <a:p/>
        </p:txBody>
      </p:sp>
      <p:sp>
        <p:nvSpPr>
          <p:cNvPr id="8" name="Text 6"/>
          <p:cNvSpPr/>
          <p:nvPr/>
        </p:nvSpPr>
        <p:spPr>
          <a:xfrm>
            <a:off x="3733800" y="2144961"/>
            <a:ext cx="2099501" cy="736600"/>
          </a:xfrm>
          <a:prstGeom prst="rect">
            <a:avLst/>
          </a:prstGeom>
          <a:noFill/>
          <a:ln/>
        </p:spPr>
        <p:txBody>
          <a:bodyPr wrap="square" lIns="0" tIns="0" rIns="0" bIns="0" rtlCol="0" anchor="t">
            <a:normAutofit/>
          </a:bodyPr>
          <a:lstStyle/>
          <a:p>
            <a:pPr algn="l" indent="0" marL="0">
              <a:lnSpc>
                <a:spcPts val="5600"/>
              </a:lnSpc>
              <a:buNone/>
            </a:pPr>
            <a:r>
              <a:rPr lang="en-US" sz="4000" b="1" dirty="0">
                <a:solidFill>
                  <a:srgbClr val="1D5FD6"/>
                </a:solidFill>
                <a:latin typeface="JetBrains Mono" pitchFamily="49" charset="0"/>
                <a:ea typeface="JetBrains Mono" pitchFamily="49" charset="-122"/>
                <a:cs typeface="JetBrains Mono" pitchFamily="49" charset="-120"/>
              </a:rPr>
              <a:t>85%</a:t>
            </a:r>
            <a:endParaRPr lang="en-US" sz="4000" dirty="0">
              <a:latin typeface="JetBrains Mono" charset="0"/>
              <a:ea typeface="JetBrains Mono" charset="0"/>
              <a:cs typeface="JetBrains Mono" charset="0"/>
            </a:endParaRPr>
          </a:p>
        </p:txBody>
      </p:sp>
      <p:sp>
        <p:nvSpPr>
          <p:cNvPr id="9" name="Text 7"/>
          <p:cNvSpPr/>
          <p:nvPr/>
        </p:nvSpPr>
        <p:spPr>
          <a:xfrm>
            <a:off x="3733800" y="2906961"/>
            <a:ext cx="2099501"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468"/>
                </a:solidFill>
                <a:latin typeface="IBM Plex Sans" pitchFamily="34" charset="0"/>
                <a:ea typeface="IBM Plex Sans" pitchFamily="34" charset="-122"/>
                <a:cs typeface="IBM Plex Sans" pitchFamily="34" charset="-120"/>
              </a:rPr>
              <a:t>line coverage, analytics 97%</a:t>
            </a:r>
            <a:endParaRPr lang="en-US" sz="1400" dirty="0">
              <a:latin typeface="IBM Plex Sans" charset="0"/>
              <a:ea typeface="IBM Plex Sans" charset="0"/>
              <a:cs typeface="IBM Plex Sans" charset="0"/>
            </a:endParaRPr>
          </a:p>
        </p:txBody>
      </p:sp>
      <p:sp>
        <p:nvSpPr>
          <p:cNvPr id="10" name="Shape 8"/>
          <p:cNvSpPr/>
          <p:nvPr/>
        </p:nvSpPr>
        <p:spPr>
          <a:xfrm>
            <a:off x="6188075" y="1913186"/>
            <a:ext cx="2501900" cy="1723330"/>
          </a:xfrm>
          <a:prstGeom prst="roundRect">
            <a:avLst>
              <a:gd name="adj" fmla="val 7185"/>
            </a:avLst>
          </a:prstGeom>
          <a:solidFill>
            <a:srgbClr val="FFFFFF"/>
          </a:solidFill>
          <a:ln w="6350">
            <a:solidFill>
              <a:srgbClr val="DCE2EB"/>
            </a:solidFill>
            <a:prstDash val="solid"/>
          </a:ln>
        </p:spPr>
        <p:txBody>
          <a:bodyPr/>
          <a:p/>
        </p:txBody>
      </p:sp>
      <p:sp>
        <p:nvSpPr>
          <p:cNvPr id="11" name="Text 9"/>
          <p:cNvSpPr/>
          <p:nvPr/>
        </p:nvSpPr>
        <p:spPr>
          <a:xfrm>
            <a:off x="6419850" y="2144961"/>
            <a:ext cx="2099501" cy="736600"/>
          </a:xfrm>
          <a:prstGeom prst="rect">
            <a:avLst/>
          </a:prstGeom>
          <a:noFill/>
          <a:ln/>
        </p:spPr>
        <p:txBody>
          <a:bodyPr wrap="square" lIns="0" tIns="0" rIns="0" bIns="0" rtlCol="0" anchor="t">
            <a:normAutofit/>
          </a:bodyPr>
          <a:lstStyle/>
          <a:p>
            <a:pPr algn="l" indent="0" marL="0">
              <a:lnSpc>
                <a:spcPts val="5600"/>
              </a:lnSpc>
              <a:buNone/>
            </a:pPr>
            <a:r>
              <a:rPr lang="en-US" sz="4000" b="1" dirty="0">
                <a:solidFill>
                  <a:srgbClr val="1D5FD6"/>
                </a:solidFill>
                <a:latin typeface="JetBrains Mono" pitchFamily="49" charset="0"/>
                <a:ea typeface="JetBrains Mono" pitchFamily="49" charset="-122"/>
                <a:cs typeface="JetBrains Mono" pitchFamily="49" charset="-120"/>
              </a:rPr>
              <a:t>44</a:t>
            </a:r>
            <a:endParaRPr lang="en-US" sz="4000" dirty="0">
              <a:latin typeface="JetBrains Mono" charset="0"/>
              <a:ea typeface="JetBrains Mono" charset="0"/>
              <a:cs typeface="JetBrains Mono" charset="0"/>
            </a:endParaRPr>
          </a:p>
        </p:txBody>
      </p:sp>
      <p:sp>
        <p:nvSpPr>
          <p:cNvPr id="12" name="Text 10"/>
          <p:cNvSpPr/>
          <p:nvPr/>
        </p:nvSpPr>
        <p:spPr>
          <a:xfrm>
            <a:off x="6419850" y="2906961"/>
            <a:ext cx="2099501"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468"/>
                </a:solidFill>
                <a:latin typeface="IBM Plex Sans" pitchFamily="34" charset="0"/>
                <a:ea typeface="IBM Plex Sans" pitchFamily="34" charset="-122"/>
                <a:cs typeface="IBM Plex Sans" pitchFamily="34" charset="-120"/>
              </a:rPr>
              <a:t>frontend unit tests, incl. date picker and config form</a:t>
            </a:r>
            <a:endParaRPr lang="en-US" sz="1400" dirty="0">
              <a:latin typeface="IBM Plex Sans" charset="0"/>
              <a:ea typeface="IBM Plex Sans" charset="0"/>
              <a:cs typeface="IBM Plex Sans" charset="0"/>
            </a:endParaRPr>
          </a:p>
        </p:txBody>
      </p:sp>
      <p:sp>
        <p:nvSpPr>
          <p:cNvPr id="13" name="Shape 11"/>
          <p:cNvSpPr/>
          <p:nvPr/>
        </p:nvSpPr>
        <p:spPr>
          <a:xfrm>
            <a:off x="8874125" y="1913186"/>
            <a:ext cx="2501900" cy="1723330"/>
          </a:xfrm>
          <a:prstGeom prst="roundRect">
            <a:avLst>
              <a:gd name="adj" fmla="val 7185"/>
            </a:avLst>
          </a:prstGeom>
          <a:solidFill>
            <a:srgbClr val="FFFFFF"/>
          </a:solidFill>
          <a:ln w="6350">
            <a:solidFill>
              <a:srgbClr val="DCE2EB"/>
            </a:solidFill>
            <a:prstDash val="solid"/>
          </a:ln>
        </p:spPr>
        <p:txBody>
          <a:bodyPr/>
          <a:p/>
        </p:txBody>
      </p:sp>
      <p:sp>
        <p:nvSpPr>
          <p:cNvPr id="14" name="Text 12"/>
          <p:cNvSpPr/>
          <p:nvPr/>
        </p:nvSpPr>
        <p:spPr>
          <a:xfrm>
            <a:off x="9105900" y="2144961"/>
            <a:ext cx="2099501" cy="736600"/>
          </a:xfrm>
          <a:prstGeom prst="rect">
            <a:avLst/>
          </a:prstGeom>
          <a:noFill/>
          <a:ln/>
        </p:spPr>
        <p:txBody>
          <a:bodyPr wrap="square" lIns="0" tIns="0" rIns="0" bIns="0" rtlCol="0" anchor="t">
            <a:normAutofit/>
          </a:bodyPr>
          <a:lstStyle/>
          <a:p>
            <a:pPr algn="l" indent="0" marL="0">
              <a:lnSpc>
                <a:spcPts val="5600"/>
              </a:lnSpc>
              <a:buNone/>
            </a:pPr>
            <a:r>
              <a:rPr lang="en-US" sz="4000" b="1" dirty="0">
                <a:solidFill>
                  <a:srgbClr val="1D5FD6"/>
                </a:solidFill>
                <a:latin typeface="JetBrains Mono" pitchFamily="49" charset="0"/>
                <a:ea typeface="JetBrains Mono" pitchFamily="49" charset="-122"/>
                <a:cs typeface="JetBrains Mono" pitchFamily="49" charset="-120"/>
              </a:rPr>
              <a:t>8</a:t>
            </a:r>
            <a:endParaRPr lang="en-US" sz="4000" dirty="0">
              <a:latin typeface="JetBrains Mono" charset="0"/>
              <a:ea typeface="JetBrains Mono" charset="0"/>
              <a:cs typeface="JetBrains Mono" charset="0"/>
            </a:endParaRPr>
          </a:p>
        </p:txBody>
      </p:sp>
      <p:sp>
        <p:nvSpPr>
          <p:cNvPr id="15" name="Text 13"/>
          <p:cNvSpPr/>
          <p:nvPr/>
        </p:nvSpPr>
        <p:spPr>
          <a:xfrm>
            <a:off x="9105900" y="2906961"/>
            <a:ext cx="2099501"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468"/>
                </a:solidFill>
                <a:latin typeface="IBM Plex Sans" pitchFamily="34" charset="0"/>
                <a:ea typeface="IBM Plex Sans" pitchFamily="34" charset="-122"/>
                <a:cs typeface="IBM Plex Sans" pitchFamily="34" charset="-120"/>
              </a:rPr>
              <a:t>Slack + Teams messages in the end-to-end run</a:t>
            </a:r>
            <a:endParaRPr lang="en-US" sz="1400" dirty="0">
              <a:latin typeface="IBM Plex Sans" charset="0"/>
              <a:ea typeface="IBM Plex Sans" charset="0"/>
              <a:cs typeface="IBM Plex Sans" charset="0"/>
            </a:endParaRPr>
          </a:p>
        </p:txBody>
      </p:sp>
      <p:sp>
        <p:nvSpPr>
          <p:cNvPr id="16" name="Text 14"/>
          <p:cNvSpPr/>
          <p:nvPr/>
        </p:nvSpPr>
        <p:spPr>
          <a:xfrm>
            <a:off x="883920" y="3919091"/>
            <a:ext cx="10804652" cy="1168400"/>
          </a:xfrm>
          <a:prstGeom prst="rect">
            <a:avLst/>
          </a:prstGeom>
          <a:noFill/>
          <a:ln/>
        </p:spPr>
        <p:txBody>
          <a:bodyPr wrap="square" lIns="0" tIns="0" rIns="0" bIns="0" rtlCol="0" anchor="t">
            <a:normAutofit/>
          </a:bodyPr>
          <a:lstStyle/>
          <a:p>
            <a:pPr algn="l" marL="182880" indent="-182880">
              <a:lnSpc>
                <a:spcPts val="2250"/>
              </a:lnSpc>
              <a:buSzPct val="100000"/>
              <a:buChar char="•"/>
            </a:pPr>
            <a:r>
              <a:rPr lang="en-US" sz="1500" dirty="0">
                <a:solidFill>
                  <a:srgbClr val="0F172A"/>
                </a:solidFill>
                <a:latin typeface="IBM Plex Sans" pitchFamily="34" charset="0"/>
                <a:ea typeface="IBM Plex Sans" pitchFamily="34" charset="-122"/>
                <a:cs typeface="IBM Plex Sans" pitchFamily="34" charset="-120"/>
              </a:rPr>
              <a:t>Breakdowns always sum to the period total; re-syncs never change row counts</a:t>
            </a:r>
            <a:endParaRPr lang="en-US" sz="1500" dirty="0">
              <a:latin typeface="IBM Plex Sans" charset="0"/>
              <a:ea typeface="IBM Plex Sans" charset="0"/>
              <a:cs typeface="IBM Plex Sans" charset="0"/>
            </a:endParaRPr>
          </a:p>
          <a:p>
            <a:pPr algn="l" marL="182880" indent="-182880">
              <a:lnSpc>
                <a:spcPts val="2250"/>
              </a:lnSpc>
              <a:buSzPct val="100000"/>
              <a:buChar char="•"/>
            </a:pPr>
            <a:r>
              <a:rPr lang="en-US" sz="1500" dirty="0">
                <a:solidFill>
                  <a:srgbClr val="0F172A"/>
                </a:solidFill>
                <a:latin typeface="IBM Plex Sans" pitchFamily="34" charset="0"/>
                <a:ea typeface="IBM Plex Sans" pitchFamily="34" charset="-122"/>
                <a:cs typeface="IBM Plex Sans" pitchFamily="34" charset="-120"/>
              </a:rPr>
              <a:t>Future, reversed and &gt; 731-day ranges rejected (HTTP 422)</a:t>
            </a:r>
            <a:endParaRPr lang="en-US" sz="1500" dirty="0">
              <a:latin typeface="IBM Plex Sans" charset="0"/>
              <a:ea typeface="IBM Plex Sans" charset="0"/>
              <a:cs typeface="IBM Plex Sans" charset="0"/>
            </a:endParaRPr>
          </a:p>
          <a:p>
            <a:pPr algn="l" marL="182880" indent="-182880">
              <a:lnSpc>
                <a:spcPts val="2250"/>
              </a:lnSpc>
              <a:buSzPct val="100000"/>
              <a:buChar char="•"/>
            </a:pPr>
            <a:r>
              <a:rPr lang="en-US" sz="1500" dirty="0">
                <a:solidFill>
                  <a:srgbClr val="0F172A"/>
                </a:solidFill>
                <a:latin typeface="IBM Plex Sans" pitchFamily="34" charset="0"/>
                <a:ea typeface="IBM Plex Sans" pitchFamily="34" charset="-122"/>
                <a:cs typeface="IBM Plex Sans" pitchFamily="34" charset="-120"/>
              </a:rPr>
              <a:t>Real Prometheus + Alertmanager: fire, deliver, resolve</a:t>
            </a:r>
            <a:endParaRPr lang="en-US" sz="1500" dirty="0">
              <a:latin typeface="IBM Plex Sans" charset="0"/>
              <a:ea typeface="IBM Plex Sans" charset="0"/>
              <a:cs typeface="IBM Plex Sans" charset="0"/>
            </a:endParaRPr>
          </a:p>
          <a:p>
            <a:pPr algn="l" marL="182880" indent="-182880">
              <a:lnSpc>
                <a:spcPts val="2250"/>
              </a:lnSpc>
              <a:buSzPct val="100000"/>
              <a:buChar char="•"/>
            </a:pPr>
            <a:r>
              <a:rPr lang="en-US" sz="1500" dirty="0">
                <a:solidFill>
                  <a:srgbClr val="0F172A"/>
                </a:solidFill>
                <a:latin typeface="IBM Plex Sans" pitchFamily="34" charset="0"/>
                <a:ea typeface="IBM Plex Sans" pitchFamily="34" charset="-122"/>
                <a:cs typeface="IBM Plex Sans" pitchFamily="34" charset="-120"/>
              </a:rPr>
              <a:t>Every screen in a real browser: 131 checks pass</a:t>
            </a:r>
            <a:endParaRPr lang="en-US" sz="1500" dirty="0">
              <a:latin typeface="IBM Plex Sans" charset="0"/>
              <a:ea typeface="IBM Plex Sans" charset="0"/>
              <a:cs typeface="IBM Plex Sans" charset="0"/>
            </a:endParaRPr>
          </a:p>
        </p:txBody>
      </p:sp>
      <p:sp>
        <p:nvSpPr>
          <p:cNvPr id="17" name="Text 1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468"/>
                </a:solidFill>
                <a:latin typeface="IBM Plex Sans" pitchFamily="34" charset="0"/>
                <a:ea typeface="IBM Plex Sans" pitchFamily="34" charset="-122"/>
                <a:cs typeface="IBM Plex Sans" pitchFamily="34" charset="-120"/>
              </a:rPr>
              <a:t>CloudLens · Capstone viva · 14</a:t>
            </a:r>
            <a:endParaRPr lang="en-US" sz="1200" dirty="0">
              <a:latin typeface="IBM Plex Sans" charset="0"/>
              <a:ea typeface="IBM Plex Sans" charset="0"/>
              <a:cs typeface="IBM Plex Sans" charset="0"/>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1D5FD6"/>
                </a:solidFill>
                <a:latin typeface="JetBrains Mono" pitchFamily="49" charset="0"/>
                <a:ea typeface="JetBrains Mono" pitchFamily="49" charset="-122"/>
                <a:cs typeface="JetBrains Mono" pitchFamily="49" charset="-120"/>
              </a:rPr>
              <a:t>DEPLOYMENT</a:t>
            </a:r>
            <a:endParaRPr lang="en-US" sz="1200" dirty="0">
              <a:latin typeface="JetBrains Mono" charset="0"/>
              <a:ea typeface="JetBrains Mono" charset="0"/>
              <a:cs typeface="JetBrains Mono" charset="0"/>
            </a:endParaRPr>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F172A"/>
                </a:solidFill>
                <a:latin typeface="IBM Plex Sans" pitchFamily="34" charset="0"/>
                <a:ea typeface="IBM Plex Sans" pitchFamily="34" charset="-122"/>
                <a:cs typeface="IBM Plex Sans" pitchFamily="34" charset="-120"/>
              </a:rPr>
              <a:t>Laptop to EC2 staging in three commands</a:t>
            </a:r>
            <a:endParaRPr lang="en-US" sz="3600" dirty="0">
              <a:latin typeface="IBM Plex Sans" charset="0"/>
              <a:ea typeface="IBM Plex Sans" charset="0"/>
              <a:cs typeface="IBM Plex Sans" charset="0"/>
            </a:endParaRPr>
          </a:p>
        </p:txBody>
      </p:sp>
      <p:sp>
        <p:nvSpPr>
          <p:cNvPr id="4" name="Shape 2"/>
          <p:cNvSpPr/>
          <p:nvPr/>
        </p:nvSpPr>
        <p:spPr>
          <a:xfrm>
            <a:off x="812800" y="1910011"/>
            <a:ext cx="5156200" cy="1826220"/>
          </a:xfrm>
          <a:prstGeom prst="roundRect">
            <a:avLst>
              <a:gd name="adj" fmla="val 6954"/>
            </a:avLst>
          </a:prstGeom>
          <a:solidFill>
            <a:srgbClr val="0F172A"/>
          </a:solidFill>
          <a:ln/>
        </p:spPr>
        <p:txBody>
          <a:bodyPr/>
          <a:p/>
        </p:txBody>
      </p:sp>
      <p:sp>
        <p:nvSpPr>
          <p:cNvPr id="5" name="Text 3"/>
          <p:cNvSpPr/>
          <p:nvPr/>
        </p:nvSpPr>
        <p:spPr>
          <a:xfrm>
            <a:off x="1092200" y="2189411"/>
            <a:ext cx="4735322"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A9B4C8"/>
                </a:solidFill>
                <a:latin typeface="JetBrains Mono" pitchFamily="49" charset="0"/>
                <a:ea typeface="JetBrains Mono" pitchFamily="49" charset="-122"/>
                <a:cs typeface="JetBrains Mono" pitchFamily="49" charset="-120"/>
              </a:rPr>
              <a:t>$ cp .env.example .env.staging</a:t>
            </a:r>
            <a:endParaRPr lang="en-US" sz="1300" dirty="0">
              <a:latin typeface="JetBrains Mono" charset="0"/>
              <a:ea typeface="JetBrains Mono" charset="0"/>
              <a:cs typeface="JetBrains Mono" charset="0"/>
            </a:endParaRPr>
          </a:p>
        </p:txBody>
      </p:sp>
      <p:sp>
        <p:nvSpPr>
          <p:cNvPr id="6" name="Text 4"/>
          <p:cNvSpPr/>
          <p:nvPr/>
        </p:nvSpPr>
        <p:spPr>
          <a:xfrm>
            <a:off x="1092200" y="2534841"/>
            <a:ext cx="4735322"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E8ECF4"/>
                </a:solidFill>
                <a:latin typeface="JetBrains Mono" pitchFamily="49" charset="0"/>
                <a:ea typeface="JetBrains Mono" pitchFamily="49" charset="-122"/>
                <a:cs typeface="JetBrains Mono" pitchFamily="49" charset="-120"/>
              </a:rPr>
              <a:t>$ KEY_NAME=my-key ./deploy/aws/create-ec2.sh</a:t>
            </a:r>
            <a:endParaRPr lang="en-US" sz="1300" dirty="0">
              <a:latin typeface="JetBrains Mono" charset="0"/>
              <a:ea typeface="JetBrains Mono" charset="0"/>
              <a:cs typeface="JetBrains Mono" charset="0"/>
            </a:endParaRPr>
          </a:p>
        </p:txBody>
      </p:sp>
      <p:sp>
        <p:nvSpPr>
          <p:cNvPr id="7" name="Text 5"/>
          <p:cNvSpPr/>
          <p:nvPr/>
        </p:nvSpPr>
        <p:spPr>
          <a:xfrm>
            <a:off x="1092200" y="2880271"/>
            <a:ext cx="4735322"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E8ECF4"/>
                </a:solidFill>
                <a:latin typeface="JetBrains Mono" pitchFamily="49" charset="0"/>
                <a:ea typeface="JetBrains Mono" pitchFamily="49" charset="-122"/>
                <a:cs typeface="JetBrains Mono" pitchFamily="49" charset="-120"/>
              </a:rPr>
              <a:t>$ EC2_HOST=&lt;ip&gt; ./deploy/aws/deploy.sh</a:t>
            </a:r>
            <a:endParaRPr lang="en-US" sz="1300" dirty="0">
              <a:latin typeface="JetBrains Mono" charset="0"/>
              <a:ea typeface="JetBrains Mono" charset="0"/>
              <a:cs typeface="JetBrains Mono" charset="0"/>
            </a:endParaRPr>
          </a:p>
        </p:txBody>
      </p:sp>
      <p:sp>
        <p:nvSpPr>
          <p:cNvPr id="8" name="Text 6"/>
          <p:cNvSpPr/>
          <p:nvPr/>
        </p:nvSpPr>
        <p:spPr>
          <a:xfrm>
            <a:off x="1092200" y="3225701"/>
            <a:ext cx="4735322"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4D399"/>
                </a:solidFill>
                <a:latin typeface="JetBrains Mono" pitchFamily="49" charset="0"/>
                <a:ea typeface="JetBrains Mono" pitchFamily="49" charset="-122"/>
                <a:cs typeface="JetBrains Mono" pitchFamily="49" charset="-120"/>
              </a:rPr>
              <a:t>Healthy. Open http://&lt;ip&gt;/</a:t>
            </a:r>
            <a:endParaRPr lang="en-US" sz="1300" dirty="0">
              <a:latin typeface="JetBrains Mono" charset="0"/>
              <a:ea typeface="JetBrains Mono" charset="0"/>
              <a:cs typeface="JetBrains Mono" charset="0"/>
            </a:endParaRPr>
          </a:p>
        </p:txBody>
      </p:sp>
      <p:sp>
        <p:nvSpPr>
          <p:cNvPr id="9" name="Text 7"/>
          <p:cNvSpPr/>
          <p:nvPr/>
        </p:nvSpPr>
        <p:spPr>
          <a:xfrm>
            <a:off x="6294120" y="1910011"/>
            <a:ext cx="5232146" cy="1851620"/>
          </a:xfrm>
          <a:prstGeom prst="rect">
            <a:avLst/>
          </a:prstGeom>
          <a:noFill/>
          <a:ln/>
        </p:spPr>
        <p:txBody>
          <a:bodyPr wrap="square" lIns="0" tIns="0" rIns="0" bIns="0" rtlCol="0" anchor="t">
            <a:normAutofit/>
          </a:bodyPr>
          <a:lstStyle/>
          <a:p>
            <a:pPr algn="l" marL="182880" indent="-182880">
              <a:lnSpc>
                <a:spcPts val="2250"/>
              </a:lnSpc>
              <a:buSzPct val="100000"/>
              <a:buChar char="•"/>
            </a:pPr>
            <a:r>
              <a:rPr lang="en-US" sz="1500" dirty="0">
                <a:solidFill>
                  <a:srgbClr val="0F172A"/>
                </a:solidFill>
                <a:latin typeface="IBM Plex Sans" pitchFamily="34" charset="0"/>
                <a:ea typeface="IBM Plex Sans" pitchFamily="34" charset="-122"/>
                <a:cs typeface="IBM Plex Sans" pitchFamily="34" charset="-120"/>
              </a:rPr>
              <a:t>t3.small, IMDSv2, 20 GB gp3, swap</a:t>
            </a:r>
            <a:endParaRPr lang="en-US" sz="1500" dirty="0">
              <a:latin typeface="IBM Plex Sans" charset="0"/>
              <a:ea typeface="IBM Plex Sans" charset="0"/>
              <a:cs typeface="IBM Plex Sans" charset="0"/>
            </a:endParaRPr>
          </a:p>
          <a:p>
            <a:pPr algn="l" marL="182880" indent="-182880">
              <a:lnSpc>
                <a:spcPts val="2250"/>
              </a:lnSpc>
              <a:buSzPct val="100000"/>
              <a:buChar char="•"/>
            </a:pPr>
            <a:r>
              <a:rPr lang="en-US" sz="1500" dirty="0">
                <a:solidFill>
                  <a:srgbClr val="0F172A"/>
                </a:solidFill>
                <a:latin typeface="IBM Plex Sans" pitchFamily="34" charset="0"/>
                <a:ea typeface="IBM Plex Sans" pitchFamily="34" charset="-122"/>
                <a:cs typeface="IBM Plex Sans" pitchFamily="34" charset="-120"/>
              </a:rPr>
              <a:t>IAM instance role, read-only policy</a:t>
            </a:r>
            <a:endParaRPr lang="en-US" sz="1500" dirty="0">
              <a:latin typeface="IBM Plex Sans" charset="0"/>
              <a:ea typeface="IBM Plex Sans" charset="0"/>
              <a:cs typeface="IBM Plex Sans" charset="0"/>
            </a:endParaRPr>
          </a:p>
          <a:p>
            <a:pPr algn="l" marL="182880" indent="-182880">
              <a:lnSpc>
                <a:spcPts val="2250"/>
              </a:lnSpc>
              <a:buSzPct val="100000"/>
              <a:buChar char="•"/>
            </a:pPr>
            <a:r>
              <a:rPr lang="en-US" sz="1500" dirty="0">
                <a:solidFill>
                  <a:srgbClr val="0F172A"/>
                </a:solidFill>
                <a:latin typeface="IBM Plex Sans" pitchFamily="34" charset="0"/>
                <a:ea typeface="IBM Plex Sans" pitchFamily="34" charset="-122"/>
                <a:cs typeface="IBM Plex Sans" pitchFamily="34" charset="-120"/>
              </a:rPr>
              <a:t>Only port 80 public; SSH from your IP</a:t>
            </a:r>
            <a:endParaRPr lang="en-US" sz="1500" dirty="0">
              <a:latin typeface="IBM Plex Sans" charset="0"/>
              <a:ea typeface="IBM Plex Sans" charset="0"/>
              <a:cs typeface="IBM Plex Sans" charset="0"/>
            </a:endParaRPr>
          </a:p>
          <a:p>
            <a:pPr algn="l" marL="182880" indent="-182880">
              <a:lnSpc>
                <a:spcPts val="2250"/>
              </a:lnSpc>
              <a:buSzPct val="100000"/>
              <a:buChar char="•"/>
            </a:pPr>
            <a:r>
              <a:rPr lang="en-US" sz="1500" dirty="0">
                <a:solidFill>
                  <a:srgbClr val="0F172A"/>
                </a:solidFill>
                <a:latin typeface="IBM Plex Sans" pitchFamily="34" charset="0"/>
                <a:ea typeface="IBM Plex Sans" pitchFamily="34" charset="-122"/>
                <a:cs typeface="IBM Plex Sans" pitchFamily="34" charset="-120"/>
              </a:rPr>
              <a:t>Non-root containers, health checks, log rotation</a:t>
            </a:r>
            <a:endParaRPr lang="en-US" sz="1500" dirty="0">
              <a:latin typeface="IBM Plex Sans" charset="0"/>
              <a:ea typeface="IBM Plex Sans" charset="0"/>
              <a:cs typeface="IBM Plex Sans" charset="0"/>
            </a:endParaRPr>
          </a:p>
          <a:p>
            <a:pPr algn="l" marL="182880" indent="-182880">
              <a:lnSpc>
                <a:spcPts val="2250"/>
              </a:lnSpc>
              <a:buSzPct val="100000"/>
              <a:buChar char="•"/>
            </a:pPr>
            <a:r>
              <a:rPr lang="en-US" sz="1500" dirty="0">
                <a:solidFill>
                  <a:srgbClr val="0F172A"/>
                </a:solidFill>
                <a:latin typeface="IBM Plex Sans" pitchFamily="34" charset="0"/>
                <a:ea typeface="IBM Plex Sans" pitchFamily="34" charset="-122"/>
                <a:cs typeface="IBM Plex Sans" pitchFamily="34" charset="-120"/>
              </a:rPr>
              <a:t>Backups, hardening checklist</a:t>
            </a:r>
            <a:endParaRPr lang="en-US" sz="1500" dirty="0">
              <a:latin typeface="IBM Plex Sans" charset="0"/>
              <a:ea typeface="IBM Plex Sans" charset="0"/>
              <a:cs typeface="IBM Plex Sans" charset="0"/>
            </a:endParaRPr>
          </a:p>
        </p:txBody>
      </p:sp>
      <p:sp>
        <p:nvSpPr>
          <p:cNvPr id="10" name="Text 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468"/>
                </a:solidFill>
                <a:latin typeface="IBM Plex Sans" pitchFamily="34" charset="0"/>
                <a:ea typeface="IBM Plex Sans" pitchFamily="34" charset="-122"/>
                <a:cs typeface="IBM Plex Sans" pitchFamily="34" charset="-120"/>
              </a:rPr>
              <a:t>CloudLens · Capstone viva · 15</a:t>
            </a:r>
            <a:endParaRPr lang="en-US" sz="1200" dirty="0">
              <a:latin typeface="IBM Plex Sans" charset="0"/>
              <a:ea typeface="IBM Plex Sans" charset="0"/>
              <a:cs typeface="IBM Plex Sans"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5B9BFF"/>
                </a:solidFill>
                <a:latin typeface="JetBrains Mono" pitchFamily="49" charset="0"/>
                <a:ea typeface="JetBrains Mono" pitchFamily="49" charset="-122"/>
                <a:cs typeface="JetBrains Mono" pitchFamily="49" charset="-120"/>
              </a:rPr>
              <a:t>LIVE DEMO</a:t>
            </a:r>
            <a:endParaRPr lang="en-US" sz="1200" dirty="0">
              <a:latin typeface="JetBrains Mono" charset="0"/>
              <a:ea typeface="JetBrains Mono" charset="0"/>
              <a:cs typeface="JetBrains Mono" charset="0"/>
            </a:endParaRPr>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E8ECF4"/>
                </a:solidFill>
                <a:latin typeface="IBM Plex Sans" pitchFamily="34" charset="0"/>
                <a:ea typeface="IBM Plex Sans" pitchFamily="34" charset="-122"/>
                <a:cs typeface="IBM Plex Sans" pitchFamily="34" charset="-120"/>
              </a:rPr>
              <a:t>Five minutes, end to end</a:t>
            </a:r>
            <a:endParaRPr lang="en-US" sz="3600" dirty="0">
              <a:latin typeface="IBM Plex Sans" charset="0"/>
              <a:ea typeface="IBM Plex Sans" charset="0"/>
              <a:cs typeface="IBM Plex Sans" charset="0"/>
            </a:endParaRPr>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922711"/>
          <a:ext cx="10553700" cy="3088088"/>
        </p:xfrm>
        <a:graphic>
          <a:graphicData uri="http://schemas.openxmlformats.org/drawingml/2006/table">
            <a:tbl>
              <a:tblPr/>
              <a:tblGrid>
                <a:gridCol w="844296"/>
                <a:gridCol w="4221480"/>
                <a:gridCol w="5487924"/>
              </a:tblGrid>
              <a:tr h="386011">
                <a:tc>
                  <a:txBody>
                    <a:bodyPr/>
                    <a:lstStyle/>
                    <a:p>
                      <a:pPr indent="0" marL="0">
                        <a:lnSpc>
                          <a:spcPts val="1960"/>
                        </a:lnSpc>
                        <a:buNone/>
                      </a:pPr>
                      <a:r>
                        <a:rPr lang="en-US" sz="1400" b="1" dirty="0">
                          <a:solidFill>
                            <a:srgbClr val="E8ECF4"/>
                          </a:solidFill>
                          <a:latin typeface="IBM Plex Sans" pitchFamily="34" charset="0"/>
                          <a:ea typeface="IBM Plex Sans" pitchFamily="34" charset="-122"/>
                          <a:cs typeface="IBM Plex Sans" pitchFamily="34" charset="-120"/>
                        </a:rPr>
                        <a: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40454F"/>
                      </a:solidFill>
                      <a:prstDash val="solid"/>
                      <a:round/>
                      <a:headEnd type="none" w="med" len="med"/>
                      <a:tailEnd type="none" w="med" len="med"/>
                    </a:lnL>
                    <a:lnR w="12700" cap="flat" cmpd="sng" algn="ctr">
                      <a:solidFill>
                        <a:srgbClr val="4E535C"/>
                      </a:solidFill>
                      <a:prstDash val="solid"/>
                      <a:round/>
                      <a:headEnd type="none" w="med" len="med"/>
                      <a:tailEnd type="none" w="med" len="med"/>
                    </a:lnR>
                    <a:lnT w="12700" cap="flat" cmpd="sng" algn="ctr">
                      <a:solidFill>
                        <a:srgbClr val="40454F"/>
                      </a:solidFill>
                      <a:prstDash val="solid"/>
                      <a:round/>
                      <a:headEnd type="none" w="med" len="med"/>
                      <a:tailEnd type="none" w="med" len="med"/>
                    </a:lnT>
                    <a:lnB w="12700" cap="flat" cmpd="sng" algn="ctr">
                      <a:solidFill>
                        <a:srgbClr val="4E535C"/>
                      </a:solidFill>
                      <a:prstDash val="solid"/>
                      <a:round/>
                      <a:headEnd type="none" w="med" len="med"/>
                      <a:tailEnd type="none" w="med" len="med"/>
                    </a:lnB>
                    <a:solidFill>
                      <a:srgbClr val="1E2431"/>
                    </a:solidFill>
                  </a:tcPr>
                </a:tc>
                <a:tc>
                  <a:txBody>
                    <a:bodyPr/>
                    <a:lstStyle/>
                    <a:p>
                      <a:pPr indent="0" marL="0">
                        <a:lnSpc>
                          <a:spcPts val="1960"/>
                        </a:lnSpc>
                        <a:buNone/>
                      </a:pPr>
                      <a:r>
                        <a:rPr lang="en-US" sz="1400" b="1" dirty="0">
                          <a:solidFill>
                            <a:srgbClr val="E8ECF4"/>
                          </a:solidFill>
                          <a:latin typeface="IBM Plex Sans" pitchFamily="34" charset="0"/>
                          <a:ea typeface="IBM Plex Sans" pitchFamily="34" charset="-122"/>
                          <a:cs typeface="IBM Plex Sans" pitchFamily="34" charset="-120"/>
                        </a:rPr>
                        <a:t>Show</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4E535C"/>
                      </a:solidFill>
                      <a:prstDash val="solid"/>
                      <a:round/>
                      <a:headEnd type="none" w="med" len="med"/>
                      <a:tailEnd type="none" w="med" len="med"/>
                    </a:lnL>
                    <a:lnR w="12700" cap="flat" cmpd="sng" algn="ctr">
                      <a:solidFill>
                        <a:srgbClr val="4E535C"/>
                      </a:solidFill>
                      <a:prstDash val="solid"/>
                      <a:round/>
                      <a:headEnd type="none" w="med" len="med"/>
                      <a:tailEnd type="none" w="med" len="med"/>
                    </a:lnR>
                    <a:lnT w="12700" cap="flat" cmpd="sng" algn="ctr">
                      <a:solidFill>
                        <a:srgbClr val="40454F"/>
                      </a:solidFill>
                      <a:prstDash val="solid"/>
                      <a:round/>
                      <a:headEnd type="none" w="med" len="med"/>
                      <a:tailEnd type="none" w="med" len="med"/>
                    </a:lnT>
                    <a:lnB w="12700" cap="flat" cmpd="sng" algn="ctr">
                      <a:solidFill>
                        <a:srgbClr val="4E535C"/>
                      </a:solidFill>
                      <a:prstDash val="solid"/>
                      <a:round/>
                      <a:headEnd type="none" w="med" len="med"/>
                      <a:tailEnd type="none" w="med" len="med"/>
                    </a:lnB>
                    <a:solidFill>
                      <a:srgbClr val="1E2431"/>
                    </a:solidFill>
                  </a:tcPr>
                </a:tc>
                <a:tc>
                  <a:txBody>
                    <a:bodyPr/>
                    <a:lstStyle/>
                    <a:p>
                      <a:pPr indent="0" marL="0">
                        <a:lnSpc>
                          <a:spcPts val="1960"/>
                        </a:lnSpc>
                        <a:buNone/>
                      </a:pPr>
                      <a:r>
                        <a:rPr lang="en-US" sz="1400" b="1" dirty="0">
                          <a:solidFill>
                            <a:srgbClr val="E8ECF4"/>
                          </a:solidFill>
                          <a:latin typeface="IBM Plex Sans" pitchFamily="34" charset="0"/>
                          <a:ea typeface="IBM Plex Sans" pitchFamily="34" charset="-122"/>
                          <a:cs typeface="IBM Plex Sans" pitchFamily="34" charset="-120"/>
                        </a:rPr>
                        <a:t>Point to make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4E535C"/>
                      </a:solidFill>
                      <a:prstDash val="solid"/>
                      <a:round/>
                      <a:headEnd type="none" w="med" len="med"/>
                      <a:tailEnd type="none" w="med" len="med"/>
                    </a:lnL>
                    <a:lnR w="12700" cap="flat" cmpd="sng" algn="ctr">
                      <a:solidFill>
                        <a:srgbClr val="4E535C"/>
                      </a:solidFill>
                      <a:prstDash val="solid"/>
                      <a:round/>
                      <a:headEnd type="none" w="med" len="med"/>
                      <a:tailEnd type="none" w="med" len="med"/>
                    </a:lnR>
                    <a:lnT w="12700" cap="flat" cmpd="sng" algn="ctr">
                      <a:solidFill>
                        <a:srgbClr val="40454F"/>
                      </a:solidFill>
                      <a:prstDash val="solid"/>
                      <a:round/>
                      <a:headEnd type="none" w="med" len="med"/>
                      <a:tailEnd type="none" w="med" len="med"/>
                    </a:lnT>
                    <a:lnB w="12700" cap="flat" cmpd="sng" algn="ctr">
                      <a:solidFill>
                        <a:srgbClr val="4E535C"/>
                      </a:solidFill>
                      <a:prstDash val="solid"/>
                      <a:round/>
                      <a:headEnd type="none" w="med" len="med"/>
                      <a:tailEnd type="none" w="med" len="med"/>
                    </a:lnB>
                    <a:solidFill>
                      <a:srgbClr val="1E2431"/>
                    </a:solidFill>
                  </a:tcPr>
                </a:tc>
              </a:tr>
              <a:tr h="386011">
                <a:tc>
                  <a:txBody>
                    <a:bodyPr/>
                    <a:lstStyle/>
                    <a:p>
                      <a:pPr indent="0" marL="0">
                        <a:lnSpc>
                          <a:spcPts val="1960"/>
                        </a:lnSpc>
                        <a:buNone/>
                      </a:pPr>
                      <a:r>
                        <a:rPr lang="en-US" sz="1400" dirty="0">
                          <a:solidFill>
                            <a:srgbClr val="E8ECF4"/>
                          </a:solidFill>
                          <a:latin typeface="IBM Plex Sans" pitchFamily="34" charset="0"/>
                          <a:ea typeface="IBM Plex Sans" pitchFamily="34" charset="-122"/>
                          <a:cs typeface="IBM Plex Sans" pitchFamily="34" charset="-120"/>
                        </a:rPr>
                        <a:t>1</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40454F"/>
                      </a:solidFill>
                      <a:prstDash val="solid"/>
                      <a:round/>
                      <a:headEnd type="none" w="med" len="med"/>
                      <a:tailEnd type="none" w="med" len="med"/>
                    </a:lnL>
                    <a:lnR w="12700" cap="flat" cmpd="sng" algn="ctr">
                      <a:solidFill>
                        <a:srgbClr val="40454F"/>
                      </a:solidFill>
                      <a:prstDash val="solid"/>
                      <a:round/>
                      <a:headEnd type="none" w="med" len="med"/>
                      <a:tailEnd type="none" w="med" len="med"/>
                    </a:lnR>
                    <a:lnT w="12700" cap="flat" cmpd="sng" algn="ctr">
                      <a:solidFill>
                        <a:srgbClr val="4E535C"/>
                      </a:solidFill>
                      <a:prstDash val="solid"/>
                      <a:round/>
                      <a:headEnd type="none" w="med" len="med"/>
                      <a:tailEnd type="none" w="med" len="med"/>
                    </a:lnT>
                    <a:lnB w="12700" cap="flat" cmpd="sng" algn="ctr">
                      <a:solidFill>
                        <a:srgbClr val="40454F"/>
                      </a:solidFill>
                      <a:prstDash val="solid"/>
                      <a:round/>
                      <a:headEnd type="none" w="med" len="med"/>
                      <a:tailEnd type="none" w="med" len="med"/>
                    </a:lnB>
                  </a:tcPr>
                </a:tc>
                <a:tc>
                  <a:txBody>
                    <a:bodyPr/>
                    <a:lstStyle/>
                    <a:p>
                      <a:pPr indent="0" marL="0">
                        <a:lnSpc>
                          <a:spcPts val="1960"/>
                        </a:lnSpc>
                        <a:buNone/>
                      </a:pPr>
                      <a:r>
                        <a:rPr lang="en-US" sz="1400" dirty="0">
                          <a:solidFill>
                            <a:srgbClr val="E8ECF4"/>
                          </a:solidFill>
                          <a:latin typeface="IBM Plex Sans" pitchFamily="34" charset="0"/>
                          <a:ea typeface="IBM Plex Sans" pitchFamily="34" charset="-122"/>
                          <a:cs typeface="IBM Plex Sans" pitchFamily="34" charset="-120"/>
                        </a:rPr>
                        <a:t>Dashboard, filter AWS → Production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40454F"/>
                      </a:solidFill>
                      <a:prstDash val="solid"/>
                      <a:round/>
                      <a:headEnd type="none" w="med" len="med"/>
                      <a:tailEnd type="none" w="med" len="med"/>
                    </a:lnL>
                    <a:lnR w="12700" cap="flat" cmpd="sng" algn="ctr">
                      <a:solidFill>
                        <a:srgbClr val="40454F"/>
                      </a:solidFill>
                      <a:prstDash val="solid"/>
                      <a:round/>
                      <a:headEnd type="none" w="med" len="med"/>
                      <a:tailEnd type="none" w="med" len="med"/>
                    </a:lnR>
                    <a:lnT w="12700" cap="flat" cmpd="sng" algn="ctr">
                      <a:solidFill>
                        <a:srgbClr val="4E535C"/>
                      </a:solidFill>
                      <a:prstDash val="solid"/>
                      <a:round/>
                      <a:headEnd type="none" w="med" len="med"/>
                      <a:tailEnd type="none" w="med" len="med"/>
                    </a:lnT>
                    <a:lnB w="12700" cap="flat" cmpd="sng" algn="ctr">
                      <a:solidFill>
                        <a:srgbClr val="40454F"/>
                      </a:solidFill>
                      <a:prstDash val="solid"/>
                      <a:round/>
                      <a:headEnd type="none" w="med" len="med"/>
                      <a:tailEnd type="none" w="med" len="med"/>
                    </a:lnB>
                  </a:tcPr>
                </a:tc>
                <a:tc>
                  <a:txBody>
                    <a:bodyPr/>
                    <a:lstStyle/>
                    <a:p>
                      <a:pPr indent="0" marL="0">
                        <a:lnSpc>
                          <a:spcPts val="1960"/>
                        </a:lnSpc>
                        <a:buNone/>
                      </a:pPr>
                      <a:r>
                        <a:rPr lang="en-US" sz="1400" dirty="0">
                          <a:solidFill>
                            <a:srgbClr val="E8ECF4"/>
                          </a:solidFill>
                          <a:latin typeface="IBM Plex Sans" pitchFamily="34" charset="0"/>
                          <a:ea typeface="IBM Plex Sans" pitchFamily="34" charset="-122"/>
                          <a:cs typeface="IBM Plex Sans" pitchFamily="34" charset="-120"/>
                        </a:rPr>
                        <a:t>One view, every widget follows the filter</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40454F"/>
                      </a:solidFill>
                      <a:prstDash val="solid"/>
                      <a:round/>
                      <a:headEnd type="none" w="med" len="med"/>
                      <a:tailEnd type="none" w="med" len="med"/>
                    </a:lnL>
                    <a:lnR w="12700" cap="flat" cmpd="sng" algn="ctr">
                      <a:solidFill>
                        <a:srgbClr val="40454F"/>
                      </a:solidFill>
                      <a:prstDash val="solid"/>
                      <a:round/>
                      <a:headEnd type="none" w="med" len="med"/>
                      <a:tailEnd type="none" w="med" len="med"/>
                    </a:lnR>
                    <a:lnT w="12700" cap="flat" cmpd="sng" algn="ctr">
                      <a:solidFill>
                        <a:srgbClr val="4E535C"/>
                      </a:solidFill>
                      <a:prstDash val="solid"/>
                      <a:round/>
                      <a:headEnd type="none" w="med" len="med"/>
                      <a:tailEnd type="none" w="med" len="med"/>
                    </a:lnT>
                    <a:lnB w="12700" cap="flat" cmpd="sng" algn="ctr">
                      <a:solidFill>
                        <a:srgbClr val="40454F"/>
                      </a:solidFill>
                      <a:prstDash val="solid"/>
                      <a:round/>
                      <a:headEnd type="none" w="med" len="med"/>
                      <a:tailEnd type="none" w="med" len="med"/>
                    </a:lnB>
                  </a:tcPr>
                </a:tc>
              </a:tr>
              <a:tr h="386011">
                <a:tc>
                  <a:txBody>
                    <a:bodyPr/>
                    <a:lstStyle/>
                    <a:p>
                      <a:pPr indent="0" marL="0">
                        <a:lnSpc>
                          <a:spcPts val="1960"/>
                        </a:lnSpc>
                        <a:buNone/>
                      </a:pPr>
                      <a:r>
                        <a:rPr lang="en-US" sz="1400" dirty="0">
                          <a:solidFill>
                            <a:srgbClr val="E8ECF4"/>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40454F"/>
                      </a:solidFill>
                      <a:prstDash val="solid"/>
                      <a:round/>
                      <a:headEnd type="none" w="med" len="med"/>
                      <a:tailEnd type="none" w="med" len="med"/>
                    </a:lnL>
                    <a:lnR w="12700" cap="flat" cmpd="sng" algn="ctr">
                      <a:solidFill>
                        <a:srgbClr val="40454F"/>
                      </a:solidFill>
                      <a:prstDash val="solid"/>
                      <a:round/>
                      <a:headEnd type="none" w="med" len="med"/>
                      <a:tailEnd type="none" w="med" len="med"/>
                    </a:lnR>
                    <a:lnT w="12700" cap="flat" cmpd="sng" algn="ctr">
                      <a:solidFill>
                        <a:srgbClr val="40454F"/>
                      </a:solidFill>
                      <a:prstDash val="solid"/>
                      <a:round/>
                      <a:headEnd type="none" w="med" len="med"/>
                      <a:tailEnd type="none" w="med" len="med"/>
                    </a:lnT>
                    <a:lnB w="12700" cap="flat" cmpd="sng" algn="ctr">
                      <a:solidFill>
                        <a:srgbClr val="40454F"/>
                      </a:solidFill>
                      <a:prstDash val="solid"/>
                      <a:round/>
                      <a:headEnd type="none" w="med" len="med"/>
                      <a:tailEnd type="none" w="med" len="med"/>
                    </a:lnB>
                  </a:tcPr>
                </a:tc>
                <a:tc>
                  <a:txBody>
                    <a:bodyPr/>
                    <a:lstStyle/>
                    <a:p>
                      <a:pPr indent="0" marL="0">
                        <a:lnSpc>
                          <a:spcPts val="1960"/>
                        </a:lnSpc>
                        <a:buNone/>
                      </a:pPr>
                      <a:r>
                        <a:rPr lang="en-US" sz="1400" dirty="0">
                          <a:solidFill>
                            <a:srgbClr val="E8ECF4"/>
                          </a:solidFill>
                          <a:latin typeface="IBM Plex Sans" pitchFamily="34" charset="0"/>
                          <a:ea typeface="IBM Plex Sans" pitchFamily="34" charset="-122"/>
                          <a:cs typeface="IBM Plex Sans" pitchFamily="34" charset="-120"/>
                        </a:rPr>
                        <a:t>Settings: choose INR and Light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40454F"/>
                      </a:solidFill>
                      <a:prstDash val="solid"/>
                      <a:round/>
                      <a:headEnd type="none" w="med" len="med"/>
                      <a:tailEnd type="none" w="med" len="med"/>
                    </a:lnL>
                    <a:lnR w="12700" cap="flat" cmpd="sng" algn="ctr">
                      <a:solidFill>
                        <a:srgbClr val="40454F"/>
                      </a:solidFill>
                      <a:prstDash val="solid"/>
                      <a:round/>
                      <a:headEnd type="none" w="med" len="med"/>
                      <a:tailEnd type="none" w="med" len="med"/>
                    </a:lnR>
                    <a:lnT w="12700" cap="flat" cmpd="sng" algn="ctr">
                      <a:solidFill>
                        <a:srgbClr val="40454F"/>
                      </a:solidFill>
                      <a:prstDash val="solid"/>
                      <a:round/>
                      <a:headEnd type="none" w="med" len="med"/>
                      <a:tailEnd type="none" w="med" len="med"/>
                    </a:lnT>
                    <a:lnB w="12700" cap="flat" cmpd="sng" algn="ctr">
                      <a:solidFill>
                        <a:srgbClr val="40454F"/>
                      </a:solidFill>
                      <a:prstDash val="solid"/>
                      <a:round/>
                      <a:headEnd type="none" w="med" len="med"/>
                      <a:tailEnd type="none" w="med" len="med"/>
                    </a:lnB>
                  </a:tcPr>
                </a:tc>
                <a:tc>
                  <a:txBody>
                    <a:bodyPr/>
                    <a:lstStyle/>
                    <a:p>
                      <a:pPr indent="0" marL="0">
                        <a:lnSpc>
                          <a:spcPts val="1960"/>
                        </a:lnSpc>
                        <a:buNone/>
                      </a:pPr>
                      <a:r>
                        <a:rPr lang="en-US" sz="1400" dirty="0">
                          <a:solidFill>
                            <a:srgbClr val="E8ECF4"/>
                          </a:solidFill>
                          <a:latin typeface="IBM Plex Sans" pitchFamily="34" charset="0"/>
                          <a:ea typeface="IBM Plex Sans" pitchFamily="34" charset="-122"/>
                          <a:cs typeface="IBM Plex Sans" pitchFamily="34" charset="-120"/>
                        </a:rPr>
                        <a:t>Lakh / crore units; theme persists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40454F"/>
                      </a:solidFill>
                      <a:prstDash val="solid"/>
                      <a:round/>
                      <a:headEnd type="none" w="med" len="med"/>
                      <a:tailEnd type="none" w="med" len="med"/>
                    </a:lnL>
                    <a:lnR w="12700" cap="flat" cmpd="sng" algn="ctr">
                      <a:solidFill>
                        <a:srgbClr val="40454F"/>
                      </a:solidFill>
                      <a:prstDash val="solid"/>
                      <a:round/>
                      <a:headEnd type="none" w="med" len="med"/>
                      <a:tailEnd type="none" w="med" len="med"/>
                    </a:lnR>
                    <a:lnT w="12700" cap="flat" cmpd="sng" algn="ctr">
                      <a:solidFill>
                        <a:srgbClr val="40454F"/>
                      </a:solidFill>
                      <a:prstDash val="solid"/>
                      <a:round/>
                      <a:headEnd type="none" w="med" len="med"/>
                      <a:tailEnd type="none" w="med" len="med"/>
                    </a:lnT>
                    <a:lnB w="12700" cap="flat" cmpd="sng" algn="ctr">
                      <a:solidFill>
                        <a:srgbClr val="40454F"/>
                      </a:solidFill>
                      <a:prstDash val="solid"/>
                      <a:round/>
                      <a:headEnd type="none" w="med" len="med"/>
                      <a:tailEnd type="none" w="med" len="med"/>
                    </a:lnB>
                  </a:tcPr>
                </a:tc>
              </a:tr>
              <a:tr h="386011">
                <a:tc>
                  <a:txBody>
                    <a:bodyPr/>
                    <a:lstStyle/>
                    <a:p>
                      <a:pPr indent="0" marL="0">
                        <a:lnSpc>
                          <a:spcPts val="1960"/>
                        </a:lnSpc>
                        <a:buNone/>
                      </a:pPr>
                      <a:r>
                        <a:rPr lang="en-US" sz="1400" dirty="0">
                          <a:solidFill>
                            <a:srgbClr val="E8ECF4"/>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40454F"/>
                      </a:solidFill>
                      <a:prstDash val="solid"/>
                      <a:round/>
                      <a:headEnd type="none" w="med" len="med"/>
                      <a:tailEnd type="none" w="med" len="med"/>
                    </a:lnL>
                    <a:lnR w="12700" cap="flat" cmpd="sng" algn="ctr">
                      <a:solidFill>
                        <a:srgbClr val="40454F"/>
                      </a:solidFill>
                      <a:prstDash val="solid"/>
                      <a:round/>
                      <a:headEnd type="none" w="med" len="med"/>
                      <a:tailEnd type="none" w="med" len="med"/>
                    </a:lnR>
                    <a:lnT w="12700" cap="flat" cmpd="sng" algn="ctr">
                      <a:solidFill>
                        <a:srgbClr val="40454F"/>
                      </a:solidFill>
                      <a:prstDash val="solid"/>
                      <a:round/>
                      <a:headEnd type="none" w="med" len="med"/>
                      <a:tailEnd type="none" w="med" len="med"/>
                    </a:lnT>
                    <a:lnB w="12700" cap="flat" cmpd="sng" algn="ctr">
                      <a:solidFill>
                        <a:srgbClr val="40454F"/>
                      </a:solidFill>
                      <a:prstDash val="solid"/>
                      <a:round/>
                      <a:headEnd type="none" w="med" len="med"/>
                      <a:tailEnd type="none" w="med" len="med"/>
                    </a:lnB>
                  </a:tcPr>
                </a:tc>
                <a:tc>
                  <a:txBody>
                    <a:bodyPr/>
                    <a:lstStyle/>
                    <a:p>
                      <a:pPr indent="0" marL="0">
                        <a:lnSpc>
                          <a:spcPts val="1960"/>
                        </a:lnSpc>
                        <a:buNone/>
                      </a:pPr>
                      <a:r>
                        <a:rPr lang="en-US" sz="1400" dirty="0">
                          <a:solidFill>
                            <a:srgbClr val="E8ECF4"/>
                          </a:solidFill>
                          <a:latin typeface="IBM Plex Sans" pitchFamily="34" charset="0"/>
                          <a:ea typeface="IBM Plex Sans" pitchFamily="34" charset="-122"/>
                          <a:cs typeface="IBM Plex Sans" pitchFamily="34" charset="-120"/>
                        </a:rPr>
                        <a:t>Click a resource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40454F"/>
                      </a:solidFill>
                      <a:prstDash val="solid"/>
                      <a:round/>
                      <a:headEnd type="none" w="med" len="med"/>
                      <a:tailEnd type="none" w="med" len="med"/>
                    </a:lnL>
                    <a:lnR w="12700" cap="flat" cmpd="sng" algn="ctr">
                      <a:solidFill>
                        <a:srgbClr val="40454F"/>
                      </a:solidFill>
                      <a:prstDash val="solid"/>
                      <a:round/>
                      <a:headEnd type="none" w="med" len="med"/>
                      <a:tailEnd type="none" w="med" len="med"/>
                    </a:lnR>
                    <a:lnT w="12700" cap="flat" cmpd="sng" algn="ctr">
                      <a:solidFill>
                        <a:srgbClr val="40454F"/>
                      </a:solidFill>
                      <a:prstDash val="solid"/>
                      <a:round/>
                      <a:headEnd type="none" w="med" len="med"/>
                      <a:tailEnd type="none" w="med" len="med"/>
                    </a:lnT>
                    <a:lnB w="12700" cap="flat" cmpd="sng" algn="ctr">
                      <a:solidFill>
                        <a:srgbClr val="40454F"/>
                      </a:solidFill>
                      <a:prstDash val="solid"/>
                      <a:round/>
                      <a:headEnd type="none" w="med" len="med"/>
                      <a:tailEnd type="none" w="med" len="med"/>
                    </a:lnB>
                  </a:tcPr>
                </a:tc>
                <a:tc>
                  <a:txBody>
                    <a:bodyPr/>
                    <a:lstStyle/>
                    <a:p>
                      <a:pPr indent="0" marL="0">
                        <a:lnSpc>
                          <a:spcPts val="1960"/>
                        </a:lnSpc>
                        <a:buNone/>
                      </a:pPr>
                      <a:r>
                        <a:rPr lang="en-US" sz="1400" dirty="0">
                          <a:solidFill>
                            <a:srgbClr val="E8ECF4"/>
                          </a:solidFill>
                          <a:latin typeface="IBM Plex Sans" pitchFamily="34" charset="0"/>
                          <a:ea typeface="IBM Plex Sans" pitchFamily="34" charset="-122"/>
                          <a:cs typeface="IBM Plex Sans" pitchFamily="34" charset="-120"/>
                        </a:rPr>
                        <a:t>Drill-down: cost bars, CPU, recommendation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40454F"/>
                      </a:solidFill>
                      <a:prstDash val="solid"/>
                      <a:round/>
                      <a:headEnd type="none" w="med" len="med"/>
                      <a:tailEnd type="none" w="med" len="med"/>
                    </a:lnL>
                    <a:lnR w="12700" cap="flat" cmpd="sng" algn="ctr">
                      <a:solidFill>
                        <a:srgbClr val="40454F"/>
                      </a:solidFill>
                      <a:prstDash val="solid"/>
                      <a:round/>
                      <a:headEnd type="none" w="med" len="med"/>
                      <a:tailEnd type="none" w="med" len="med"/>
                    </a:lnR>
                    <a:lnT w="12700" cap="flat" cmpd="sng" algn="ctr">
                      <a:solidFill>
                        <a:srgbClr val="40454F"/>
                      </a:solidFill>
                      <a:prstDash val="solid"/>
                      <a:round/>
                      <a:headEnd type="none" w="med" len="med"/>
                      <a:tailEnd type="none" w="med" len="med"/>
                    </a:lnT>
                    <a:lnB w="12700" cap="flat" cmpd="sng" algn="ctr">
                      <a:solidFill>
                        <a:srgbClr val="40454F"/>
                      </a:solidFill>
                      <a:prstDash val="solid"/>
                      <a:round/>
                      <a:headEnd type="none" w="med" len="med"/>
                      <a:tailEnd type="none" w="med" len="med"/>
                    </a:lnB>
                  </a:tcPr>
                </a:tc>
              </a:tr>
              <a:tr h="386011">
                <a:tc>
                  <a:txBody>
                    <a:bodyPr/>
                    <a:lstStyle/>
                    <a:p>
                      <a:pPr indent="0" marL="0">
                        <a:lnSpc>
                          <a:spcPts val="1960"/>
                        </a:lnSpc>
                        <a:buNone/>
                      </a:pPr>
                      <a:r>
                        <a:rPr lang="en-US" sz="1400" dirty="0">
                          <a:solidFill>
                            <a:srgbClr val="E8ECF4"/>
                          </a:solidFill>
                          <a:latin typeface="IBM Plex Sans" pitchFamily="34" charset="0"/>
                          <a:ea typeface="IBM Plex Sans" pitchFamily="34" charset="-122"/>
                          <a:cs typeface="IBM Plex Sans" pitchFamily="34" charset="-120"/>
                        </a:rPr>
                        <a:t>4</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40454F"/>
                      </a:solidFill>
                      <a:prstDash val="solid"/>
                      <a:round/>
                      <a:headEnd type="none" w="med" len="med"/>
                      <a:tailEnd type="none" w="med" len="med"/>
                    </a:lnL>
                    <a:lnR w="12700" cap="flat" cmpd="sng" algn="ctr">
                      <a:solidFill>
                        <a:srgbClr val="40454F"/>
                      </a:solidFill>
                      <a:prstDash val="solid"/>
                      <a:round/>
                      <a:headEnd type="none" w="med" len="med"/>
                      <a:tailEnd type="none" w="med" len="med"/>
                    </a:lnR>
                    <a:lnT w="12700" cap="flat" cmpd="sng" algn="ctr">
                      <a:solidFill>
                        <a:srgbClr val="40454F"/>
                      </a:solidFill>
                      <a:prstDash val="solid"/>
                      <a:round/>
                      <a:headEnd type="none" w="med" len="med"/>
                      <a:tailEnd type="none" w="med" len="med"/>
                    </a:lnT>
                    <a:lnB w="12700" cap="flat" cmpd="sng" algn="ctr">
                      <a:solidFill>
                        <a:srgbClr val="40454F"/>
                      </a:solidFill>
                      <a:prstDash val="solid"/>
                      <a:round/>
                      <a:headEnd type="none" w="med" len="med"/>
                      <a:tailEnd type="none" w="med" len="med"/>
                    </a:lnB>
                  </a:tcPr>
                </a:tc>
                <a:tc>
                  <a:txBody>
                    <a:bodyPr/>
                    <a:lstStyle/>
                    <a:p>
                      <a:pPr indent="0" marL="0">
                        <a:lnSpc>
                          <a:spcPts val="1960"/>
                        </a:lnSpc>
                        <a:buNone/>
                      </a:pPr>
                      <a:r>
                        <a:rPr lang="en-US" sz="1400" dirty="0">
                          <a:solidFill>
                            <a:srgbClr val="E8ECF4"/>
                          </a:solidFill>
                          <a:latin typeface="IBM Plex Sans" pitchFamily="34" charset="0"/>
                          <a:ea typeface="IBM Plex Sans" pitchFamily="34" charset="-122"/>
                          <a:cs typeface="IBM Plex Sans" pitchFamily="34" charset="-120"/>
                        </a:rPr>
                        <a:t>Date picker → Last 6 months; type a future date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40454F"/>
                      </a:solidFill>
                      <a:prstDash val="solid"/>
                      <a:round/>
                      <a:headEnd type="none" w="med" len="med"/>
                      <a:tailEnd type="none" w="med" len="med"/>
                    </a:lnL>
                    <a:lnR w="12700" cap="flat" cmpd="sng" algn="ctr">
                      <a:solidFill>
                        <a:srgbClr val="40454F"/>
                      </a:solidFill>
                      <a:prstDash val="solid"/>
                      <a:round/>
                      <a:headEnd type="none" w="med" len="med"/>
                      <a:tailEnd type="none" w="med" len="med"/>
                    </a:lnR>
                    <a:lnT w="12700" cap="flat" cmpd="sng" algn="ctr">
                      <a:solidFill>
                        <a:srgbClr val="40454F"/>
                      </a:solidFill>
                      <a:prstDash val="solid"/>
                      <a:round/>
                      <a:headEnd type="none" w="med" len="med"/>
                      <a:tailEnd type="none" w="med" len="med"/>
                    </a:lnT>
                    <a:lnB w="12700" cap="flat" cmpd="sng" algn="ctr">
                      <a:solidFill>
                        <a:srgbClr val="40454F"/>
                      </a:solidFill>
                      <a:prstDash val="solid"/>
                      <a:round/>
                      <a:headEnd type="none" w="med" len="med"/>
                      <a:tailEnd type="none" w="med" len="med"/>
                    </a:lnB>
                  </a:tcPr>
                </a:tc>
                <a:tc>
                  <a:txBody>
                    <a:bodyPr/>
                    <a:lstStyle/>
                    <a:p>
                      <a:pPr indent="0" marL="0">
                        <a:lnSpc>
                          <a:spcPts val="1960"/>
                        </a:lnSpc>
                        <a:buNone/>
                      </a:pPr>
                      <a:r>
                        <a:rPr lang="en-US" sz="1400" dirty="0">
                          <a:solidFill>
                            <a:srgbClr val="E8ECF4"/>
                          </a:solidFill>
                          <a:latin typeface="IBM Plex Sans" pitchFamily="34" charset="0"/>
                          <a:ea typeface="IBM Plex Sans" pitchFamily="34" charset="-122"/>
                          <a:cs typeface="IBM Plex Sans" pitchFamily="34" charset="-120"/>
                        </a:rPr>
                        <a:t>Presets from today; validation blocks future / reversed ranges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40454F"/>
                      </a:solidFill>
                      <a:prstDash val="solid"/>
                      <a:round/>
                      <a:headEnd type="none" w="med" len="med"/>
                      <a:tailEnd type="none" w="med" len="med"/>
                    </a:lnL>
                    <a:lnR w="12700" cap="flat" cmpd="sng" algn="ctr">
                      <a:solidFill>
                        <a:srgbClr val="40454F"/>
                      </a:solidFill>
                      <a:prstDash val="solid"/>
                      <a:round/>
                      <a:headEnd type="none" w="med" len="med"/>
                      <a:tailEnd type="none" w="med" len="med"/>
                    </a:lnR>
                    <a:lnT w="12700" cap="flat" cmpd="sng" algn="ctr">
                      <a:solidFill>
                        <a:srgbClr val="40454F"/>
                      </a:solidFill>
                      <a:prstDash val="solid"/>
                      <a:round/>
                      <a:headEnd type="none" w="med" len="med"/>
                      <a:tailEnd type="none" w="med" len="med"/>
                    </a:lnT>
                    <a:lnB w="12700" cap="flat" cmpd="sng" algn="ctr">
                      <a:solidFill>
                        <a:srgbClr val="40454F"/>
                      </a:solidFill>
                      <a:prstDash val="solid"/>
                      <a:round/>
                      <a:headEnd type="none" w="med" len="med"/>
                      <a:tailEnd type="none" w="med" len="med"/>
                    </a:lnB>
                  </a:tcPr>
                </a:tc>
              </a:tr>
              <a:tr h="386011">
                <a:tc>
                  <a:txBody>
                    <a:bodyPr/>
                    <a:lstStyle/>
                    <a:p>
                      <a:pPr indent="0" marL="0">
                        <a:lnSpc>
                          <a:spcPts val="1960"/>
                        </a:lnSpc>
                        <a:buNone/>
                      </a:pPr>
                      <a:r>
                        <a:rPr lang="en-US" sz="1400" dirty="0">
                          <a:solidFill>
                            <a:srgbClr val="E8ECF4"/>
                          </a:solidFill>
                          <a:latin typeface="IBM Plex Sans" pitchFamily="34" charset="0"/>
                          <a:ea typeface="IBM Plex Sans" pitchFamily="34" charset="-122"/>
                          <a:cs typeface="IBM Plex Sans" pitchFamily="34" charset="-120"/>
                        </a:rPr>
                        <a:t>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40454F"/>
                      </a:solidFill>
                      <a:prstDash val="solid"/>
                      <a:round/>
                      <a:headEnd type="none" w="med" len="med"/>
                      <a:tailEnd type="none" w="med" len="med"/>
                    </a:lnL>
                    <a:lnR w="12700" cap="flat" cmpd="sng" algn="ctr">
                      <a:solidFill>
                        <a:srgbClr val="40454F"/>
                      </a:solidFill>
                      <a:prstDash val="solid"/>
                      <a:round/>
                      <a:headEnd type="none" w="med" len="med"/>
                      <a:tailEnd type="none" w="med" len="med"/>
                    </a:lnR>
                    <a:lnT w="12700" cap="flat" cmpd="sng" algn="ctr">
                      <a:solidFill>
                        <a:srgbClr val="40454F"/>
                      </a:solidFill>
                      <a:prstDash val="solid"/>
                      <a:round/>
                      <a:headEnd type="none" w="med" len="med"/>
                      <a:tailEnd type="none" w="med" len="med"/>
                    </a:lnT>
                    <a:lnB w="12700" cap="flat" cmpd="sng" algn="ctr">
                      <a:solidFill>
                        <a:srgbClr val="40454F"/>
                      </a:solidFill>
                      <a:prstDash val="solid"/>
                      <a:round/>
                      <a:headEnd type="none" w="med" len="med"/>
                      <a:tailEnd type="none" w="med" len="med"/>
                    </a:lnB>
                  </a:tcPr>
                </a:tc>
                <a:tc>
                  <a:txBody>
                    <a:bodyPr/>
                    <a:lstStyle/>
                    <a:p>
                      <a:pPr indent="0" marL="0">
                        <a:lnSpc>
                          <a:spcPts val="1960"/>
                        </a:lnSpc>
                        <a:buNone/>
                      </a:pPr>
                      <a:r>
                        <a:rPr lang="en-US" sz="1400" dirty="0">
                          <a:solidFill>
                            <a:srgbClr val="E8ECF4"/>
                          </a:solidFill>
                          <a:latin typeface="IBM Plex Sans" pitchFamily="34" charset="0"/>
                          <a:ea typeface="IBM Plex Sans" pitchFamily="34" charset="-122"/>
                          <a:cs typeface="IBM Plex Sans" pitchFamily="34" charset="-120"/>
                        </a:rPr>
                        <a:t>Inject an AWS spike, wait ~90 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40454F"/>
                      </a:solidFill>
                      <a:prstDash val="solid"/>
                      <a:round/>
                      <a:headEnd type="none" w="med" len="med"/>
                      <a:tailEnd type="none" w="med" len="med"/>
                    </a:lnL>
                    <a:lnR w="12700" cap="flat" cmpd="sng" algn="ctr">
                      <a:solidFill>
                        <a:srgbClr val="40454F"/>
                      </a:solidFill>
                      <a:prstDash val="solid"/>
                      <a:round/>
                      <a:headEnd type="none" w="med" len="med"/>
                      <a:tailEnd type="none" w="med" len="med"/>
                    </a:lnR>
                    <a:lnT w="12700" cap="flat" cmpd="sng" algn="ctr">
                      <a:solidFill>
                        <a:srgbClr val="40454F"/>
                      </a:solidFill>
                      <a:prstDash val="solid"/>
                      <a:round/>
                      <a:headEnd type="none" w="med" len="med"/>
                      <a:tailEnd type="none" w="med" len="med"/>
                    </a:lnT>
                    <a:lnB w="12700" cap="flat" cmpd="sng" algn="ctr">
                      <a:solidFill>
                        <a:srgbClr val="40454F"/>
                      </a:solidFill>
                      <a:prstDash val="solid"/>
                      <a:round/>
                      <a:headEnd type="none" w="med" len="med"/>
                      <a:tailEnd type="none" w="med" len="med"/>
                    </a:lnB>
                  </a:tcPr>
                </a:tc>
                <a:tc>
                  <a:txBody>
                    <a:bodyPr/>
                    <a:lstStyle/>
                    <a:p>
                      <a:pPr indent="0" marL="0">
                        <a:lnSpc>
                          <a:spcPts val="1960"/>
                        </a:lnSpc>
                        <a:buNone/>
                      </a:pPr>
                      <a:r>
                        <a:rPr lang="en-US" sz="1400" dirty="0">
                          <a:solidFill>
                            <a:srgbClr val="E8ECF4"/>
                          </a:solidFill>
                          <a:latin typeface="IBM Plex Sans" pitchFamily="34" charset="0"/>
                          <a:ea typeface="IBM Plex Sans" pitchFamily="34" charset="-122"/>
                          <a:cs typeface="IBM Plex Sans" pitchFamily="34" charset="-120"/>
                        </a:rPr>
                        <a:t>Prometheus fires; Slack + Teams in mock inbox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40454F"/>
                      </a:solidFill>
                      <a:prstDash val="solid"/>
                      <a:round/>
                      <a:headEnd type="none" w="med" len="med"/>
                      <a:tailEnd type="none" w="med" len="med"/>
                    </a:lnL>
                    <a:lnR w="12700" cap="flat" cmpd="sng" algn="ctr">
                      <a:solidFill>
                        <a:srgbClr val="40454F"/>
                      </a:solidFill>
                      <a:prstDash val="solid"/>
                      <a:round/>
                      <a:headEnd type="none" w="med" len="med"/>
                      <a:tailEnd type="none" w="med" len="med"/>
                    </a:lnR>
                    <a:lnT w="12700" cap="flat" cmpd="sng" algn="ctr">
                      <a:solidFill>
                        <a:srgbClr val="40454F"/>
                      </a:solidFill>
                      <a:prstDash val="solid"/>
                      <a:round/>
                      <a:headEnd type="none" w="med" len="med"/>
                      <a:tailEnd type="none" w="med" len="med"/>
                    </a:lnT>
                    <a:lnB w="12700" cap="flat" cmpd="sng" algn="ctr">
                      <a:solidFill>
                        <a:srgbClr val="40454F"/>
                      </a:solidFill>
                      <a:prstDash val="solid"/>
                      <a:round/>
                      <a:headEnd type="none" w="med" len="med"/>
                      <a:tailEnd type="none" w="med" len="med"/>
                    </a:lnB>
                  </a:tcPr>
                </a:tc>
              </a:tr>
              <a:tr h="386011">
                <a:tc>
                  <a:txBody>
                    <a:bodyPr/>
                    <a:lstStyle/>
                    <a:p>
                      <a:pPr indent="0" marL="0">
                        <a:lnSpc>
                          <a:spcPts val="1960"/>
                        </a:lnSpc>
                        <a:buNone/>
                      </a:pPr>
                      <a:r>
                        <a:rPr lang="en-US" sz="1400" dirty="0">
                          <a:solidFill>
                            <a:srgbClr val="E8ECF4"/>
                          </a:solidFill>
                          <a:latin typeface="IBM Plex Sans" pitchFamily="34" charset="0"/>
                          <a:ea typeface="IBM Plex Sans" pitchFamily="34" charset="-122"/>
                          <a:cs typeface="IBM Plex Sans" pitchFamily="34" charset="-120"/>
                        </a:rPr>
                        <a:t>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40454F"/>
                      </a:solidFill>
                      <a:prstDash val="solid"/>
                      <a:round/>
                      <a:headEnd type="none" w="med" len="med"/>
                      <a:tailEnd type="none" w="med" len="med"/>
                    </a:lnL>
                    <a:lnR w="12700" cap="flat" cmpd="sng" algn="ctr">
                      <a:solidFill>
                        <a:srgbClr val="40454F"/>
                      </a:solidFill>
                      <a:prstDash val="solid"/>
                      <a:round/>
                      <a:headEnd type="none" w="med" len="med"/>
                      <a:tailEnd type="none" w="med" len="med"/>
                    </a:lnR>
                    <a:lnT w="12700" cap="flat" cmpd="sng" algn="ctr">
                      <a:solidFill>
                        <a:srgbClr val="40454F"/>
                      </a:solidFill>
                      <a:prstDash val="solid"/>
                      <a:round/>
                      <a:headEnd type="none" w="med" len="med"/>
                      <a:tailEnd type="none" w="med" len="med"/>
                    </a:lnT>
                    <a:lnB w="12700" cap="flat" cmpd="sng" algn="ctr">
                      <a:solidFill>
                        <a:srgbClr val="40454F"/>
                      </a:solidFill>
                      <a:prstDash val="solid"/>
                      <a:round/>
                      <a:headEnd type="none" w="med" len="med"/>
                      <a:tailEnd type="none" w="med" len="med"/>
                    </a:lnB>
                  </a:tcPr>
                </a:tc>
                <a:tc>
                  <a:txBody>
                    <a:bodyPr/>
                    <a:lstStyle/>
                    <a:p>
                      <a:pPr indent="0" marL="0">
                        <a:lnSpc>
                          <a:spcPts val="1960"/>
                        </a:lnSpc>
                        <a:buNone/>
                      </a:pPr>
                      <a:r>
                        <a:rPr lang="en-US" sz="1400" dirty="0">
                          <a:solidFill>
                            <a:srgbClr val="E8ECF4"/>
                          </a:solidFill>
                          <a:latin typeface="IBM Plex Sans" pitchFamily="34" charset="0"/>
                          <a:ea typeface="IBM Plex Sans" pitchFamily="34" charset="-122"/>
                          <a:cs typeface="IBM Plex Sans" pitchFamily="34" charset="-120"/>
                        </a:rPr>
                        <a:t>Cloud Accounts: choose Live for AWS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40454F"/>
                      </a:solidFill>
                      <a:prstDash val="solid"/>
                      <a:round/>
                      <a:headEnd type="none" w="med" len="med"/>
                      <a:tailEnd type="none" w="med" len="med"/>
                    </a:lnL>
                    <a:lnR w="12700" cap="flat" cmpd="sng" algn="ctr">
                      <a:solidFill>
                        <a:srgbClr val="40454F"/>
                      </a:solidFill>
                      <a:prstDash val="solid"/>
                      <a:round/>
                      <a:headEnd type="none" w="med" len="med"/>
                      <a:tailEnd type="none" w="med" len="med"/>
                    </a:lnR>
                    <a:lnT w="12700" cap="flat" cmpd="sng" algn="ctr">
                      <a:solidFill>
                        <a:srgbClr val="40454F"/>
                      </a:solidFill>
                      <a:prstDash val="solid"/>
                      <a:round/>
                      <a:headEnd type="none" w="med" len="med"/>
                      <a:tailEnd type="none" w="med" len="med"/>
                    </a:lnT>
                    <a:lnB w="12700" cap="flat" cmpd="sng" algn="ctr">
                      <a:solidFill>
                        <a:srgbClr val="40454F"/>
                      </a:solidFill>
                      <a:prstDash val="solid"/>
                      <a:round/>
                      <a:headEnd type="none" w="med" len="med"/>
                      <a:tailEnd type="none" w="med" len="med"/>
                    </a:lnB>
                  </a:tcPr>
                </a:tc>
                <a:tc>
                  <a:txBody>
                    <a:bodyPr/>
                    <a:lstStyle/>
                    <a:p>
                      <a:pPr indent="0" marL="0">
                        <a:lnSpc>
                          <a:spcPts val="1960"/>
                        </a:lnSpc>
                        <a:buNone/>
                      </a:pPr>
                      <a:r>
                        <a:rPr lang="en-US" sz="1400" dirty="0">
                          <a:solidFill>
                            <a:srgbClr val="E8ECF4"/>
                          </a:solidFill>
                          <a:latin typeface="IBM Plex Sans" pitchFamily="34" charset="0"/>
                          <a:ea typeface="IBM Plex Sans" pitchFamily="34" charset="-122"/>
                          <a:cs typeface="IBM Plex Sans" pitchFamily="34" charset="-120"/>
                        </a:rPr>
                        <a:t>Form asks for an environment; Save stays off until the test passes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40454F"/>
                      </a:solidFill>
                      <a:prstDash val="solid"/>
                      <a:round/>
                      <a:headEnd type="none" w="med" len="med"/>
                      <a:tailEnd type="none" w="med" len="med"/>
                    </a:lnL>
                    <a:lnR w="12700" cap="flat" cmpd="sng" algn="ctr">
                      <a:solidFill>
                        <a:srgbClr val="40454F"/>
                      </a:solidFill>
                      <a:prstDash val="solid"/>
                      <a:round/>
                      <a:headEnd type="none" w="med" len="med"/>
                      <a:tailEnd type="none" w="med" len="med"/>
                    </a:lnR>
                    <a:lnT w="12700" cap="flat" cmpd="sng" algn="ctr">
                      <a:solidFill>
                        <a:srgbClr val="40454F"/>
                      </a:solidFill>
                      <a:prstDash val="solid"/>
                      <a:round/>
                      <a:headEnd type="none" w="med" len="med"/>
                      <a:tailEnd type="none" w="med" len="med"/>
                    </a:lnT>
                    <a:lnB w="12700" cap="flat" cmpd="sng" algn="ctr">
                      <a:solidFill>
                        <a:srgbClr val="40454F"/>
                      </a:solidFill>
                      <a:prstDash val="solid"/>
                      <a:round/>
                      <a:headEnd type="none" w="med" len="med"/>
                      <a:tailEnd type="none" w="med" len="med"/>
                    </a:lnB>
                  </a:tcPr>
                </a:tc>
              </a:tr>
              <a:tr h="386011">
                <a:tc>
                  <a:txBody>
                    <a:bodyPr/>
                    <a:lstStyle/>
                    <a:p>
                      <a:pPr indent="0" marL="0">
                        <a:lnSpc>
                          <a:spcPts val="1960"/>
                        </a:lnSpc>
                        <a:buNone/>
                      </a:pPr>
                      <a:r>
                        <a:rPr lang="en-US" sz="1400" dirty="0">
                          <a:solidFill>
                            <a:srgbClr val="E8ECF4"/>
                          </a:solidFill>
                          <a:latin typeface="IBM Plex Sans" pitchFamily="34" charset="0"/>
                          <a:ea typeface="IBM Plex Sans" pitchFamily="34" charset="-122"/>
                          <a:cs typeface="IBM Plex Sans" pitchFamily="34" charset="-120"/>
                        </a:rPr>
                        <a:t>7</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40454F"/>
                      </a:solidFill>
                      <a:prstDash val="solid"/>
                      <a:round/>
                      <a:headEnd type="none" w="med" len="med"/>
                      <a:tailEnd type="none" w="med" len="med"/>
                    </a:lnL>
                    <a:lnR w="12700" cap="flat" cmpd="sng" algn="ctr">
                      <a:solidFill>
                        <a:srgbClr val="40454F"/>
                      </a:solidFill>
                      <a:prstDash val="solid"/>
                      <a:round/>
                      <a:headEnd type="none" w="med" len="med"/>
                      <a:tailEnd type="none" w="med" len="med"/>
                    </a:lnR>
                    <a:lnT w="12700" cap="flat" cmpd="sng" algn="ctr">
                      <a:solidFill>
                        <a:srgbClr val="40454F"/>
                      </a:solidFill>
                      <a:prstDash val="solid"/>
                      <a:round/>
                      <a:headEnd type="none" w="med" len="med"/>
                      <a:tailEnd type="none" w="med" len="med"/>
                    </a:lnT>
                    <a:lnB w="12700" cap="flat" cmpd="sng" algn="ctr">
                      <a:solidFill>
                        <a:srgbClr val="40454F"/>
                      </a:solidFill>
                      <a:prstDash val="solid"/>
                      <a:round/>
                      <a:headEnd type="none" w="med" len="med"/>
                      <a:tailEnd type="none" w="med" len="med"/>
                    </a:lnB>
                  </a:tcPr>
                </a:tc>
                <a:tc>
                  <a:txBody>
                    <a:bodyPr/>
                    <a:lstStyle/>
                    <a:p>
                      <a:pPr indent="0" marL="0">
                        <a:lnSpc>
                          <a:spcPts val="1960"/>
                        </a:lnSpc>
                        <a:buNone/>
                      </a:pPr>
                      <a:r>
                        <a:rPr lang="en-US" sz="1400" dirty="0">
                          <a:solidFill>
                            <a:srgbClr val="E8ECF4"/>
                          </a:solidFill>
                          <a:latin typeface="IBM Plex Sans" pitchFamily="34" charset="0"/>
                          <a:ea typeface="IBM Plex Sans" pitchFamily="34" charset="-122"/>
                          <a:cs typeface="IBM Plex Sans" pitchFamily="34" charset="-120"/>
                        </a:rPr>
                        <a:t>Sign in as viewer</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40454F"/>
                      </a:solidFill>
                      <a:prstDash val="solid"/>
                      <a:round/>
                      <a:headEnd type="none" w="med" len="med"/>
                      <a:tailEnd type="none" w="med" len="med"/>
                    </a:lnL>
                    <a:lnR w="12700" cap="flat" cmpd="sng" algn="ctr">
                      <a:solidFill>
                        <a:srgbClr val="40454F"/>
                      </a:solidFill>
                      <a:prstDash val="solid"/>
                      <a:round/>
                      <a:headEnd type="none" w="med" len="med"/>
                      <a:tailEnd type="none" w="med" len="med"/>
                    </a:lnR>
                    <a:lnT w="12700" cap="flat" cmpd="sng" algn="ctr">
                      <a:solidFill>
                        <a:srgbClr val="40454F"/>
                      </a:solidFill>
                      <a:prstDash val="solid"/>
                      <a:round/>
                      <a:headEnd type="none" w="med" len="med"/>
                      <a:tailEnd type="none" w="med" len="med"/>
                    </a:lnT>
                    <a:lnB w="12700" cap="flat" cmpd="sng" algn="ctr">
                      <a:solidFill>
                        <a:srgbClr val="40454F"/>
                      </a:solidFill>
                      <a:prstDash val="solid"/>
                      <a:round/>
                      <a:headEnd type="none" w="med" len="med"/>
                      <a:tailEnd type="none" w="med" len="med"/>
                    </a:lnB>
                  </a:tcPr>
                </a:tc>
                <a:tc>
                  <a:txBody>
                    <a:bodyPr/>
                    <a:lstStyle/>
                    <a:p>
                      <a:pPr indent="0" marL="0">
                        <a:lnSpc>
                          <a:spcPts val="1960"/>
                        </a:lnSpc>
                        <a:buNone/>
                      </a:pPr>
                      <a:r>
                        <a:rPr lang="en-US" sz="1400" dirty="0">
                          <a:solidFill>
                            <a:srgbClr val="E8ECF4"/>
                          </a:solidFill>
                          <a:latin typeface="IBM Plex Sans" pitchFamily="34" charset="0"/>
                          <a:ea typeface="IBM Plex Sans" pitchFamily="34" charset="-122"/>
                          <a:cs typeface="IBM Plex Sans" pitchFamily="34" charset="-120"/>
                        </a:rPr>
                        <a:t>Admin actions hidden and blocked by the API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40454F"/>
                      </a:solidFill>
                      <a:prstDash val="solid"/>
                      <a:round/>
                      <a:headEnd type="none" w="med" len="med"/>
                      <a:tailEnd type="none" w="med" len="med"/>
                    </a:lnL>
                    <a:lnR w="12700" cap="flat" cmpd="sng" algn="ctr">
                      <a:solidFill>
                        <a:srgbClr val="40454F"/>
                      </a:solidFill>
                      <a:prstDash val="solid"/>
                      <a:round/>
                      <a:headEnd type="none" w="med" len="med"/>
                      <a:tailEnd type="none" w="med" len="med"/>
                    </a:lnR>
                    <a:lnT w="12700" cap="flat" cmpd="sng" algn="ctr">
                      <a:solidFill>
                        <a:srgbClr val="40454F"/>
                      </a:solidFill>
                      <a:prstDash val="solid"/>
                      <a:round/>
                      <a:headEnd type="none" w="med" len="med"/>
                      <a:tailEnd type="none" w="med" len="med"/>
                    </a:lnT>
                    <a:lnB w="12700" cap="flat" cmpd="sng" algn="ctr">
                      <a:solidFill>
                        <a:srgbClr val="40454F"/>
                      </a:solidFill>
                      <a:prstDash val="solid"/>
                      <a:round/>
                      <a:headEnd type="none" w="med" len="med"/>
                      <a:tailEnd type="none" w="med" len="med"/>
                    </a:lnB>
                  </a:tcPr>
                </a:tc>
              </a:tr>
            </a:tbl>
          </a:graphicData>
        </a:graphic>
      </p:graphicFrame>
      <p:sp>
        <p:nvSpPr>
          <p:cNvPr id="5" name="Text 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8"/>
                </a:solidFill>
                <a:latin typeface="IBM Plex Sans" pitchFamily="34" charset="0"/>
                <a:ea typeface="IBM Plex Sans" pitchFamily="34" charset="-122"/>
                <a:cs typeface="IBM Plex Sans" pitchFamily="34" charset="-120"/>
              </a:rPr>
              <a:t>CloudLens · Capstone viva · 16</a:t>
            </a:r>
            <a:endParaRPr lang="en-US" sz="1200" dirty="0">
              <a:latin typeface="IBM Plex Sans" charset="0"/>
              <a:ea typeface="IBM Plex Sans" charset="0"/>
              <a:cs typeface="IBM Plex Sans" charset="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1D5FD6"/>
                </a:solidFill>
                <a:latin typeface="JetBrains Mono" pitchFamily="49" charset="0"/>
                <a:ea typeface="JetBrains Mono" pitchFamily="49" charset="-122"/>
                <a:cs typeface="JetBrains Mono" pitchFamily="49" charset="-120"/>
              </a:rPr>
              <a:t>CONCLUSION</a:t>
            </a:r>
            <a:endParaRPr lang="en-US" sz="1200" dirty="0">
              <a:latin typeface="JetBrains Mono" charset="0"/>
              <a:ea typeface="JetBrains Mono" charset="0"/>
              <a:cs typeface="JetBrains Mono" charset="0"/>
            </a:endParaRPr>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F172A"/>
                </a:solidFill>
                <a:latin typeface="IBM Plex Sans" pitchFamily="34" charset="0"/>
                <a:ea typeface="IBM Plex Sans" pitchFamily="34" charset="-122"/>
                <a:cs typeface="IBM Plex Sans" pitchFamily="34" charset="-120"/>
              </a:rPr>
              <a:t>What we learned, and what’s next</a:t>
            </a:r>
            <a:endParaRPr lang="en-US" sz="3600" dirty="0">
              <a:latin typeface="IBM Plex Sans" charset="0"/>
              <a:ea typeface="IBM Plex Sans" charset="0"/>
              <a:cs typeface="IBM Plex Sans" charset="0"/>
            </a:endParaRPr>
          </a:p>
        </p:txBody>
      </p:sp>
      <p:sp>
        <p:nvSpPr>
          <p:cNvPr id="4" name="Shape 2"/>
          <p:cNvSpPr/>
          <p:nvPr/>
        </p:nvSpPr>
        <p:spPr>
          <a:xfrm>
            <a:off x="815975" y="1913186"/>
            <a:ext cx="5149850" cy="2597150"/>
          </a:xfrm>
          <a:prstGeom prst="roundRect">
            <a:avLst>
              <a:gd name="adj" fmla="val 4768"/>
            </a:avLst>
          </a:prstGeom>
          <a:solidFill>
            <a:srgbClr val="FFFFFF"/>
          </a:solidFill>
          <a:ln w="6350">
            <a:solidFill>
              <a:srgbClr val="DCE2EB"/>
            </a:solidFill>
            <a:prstDash val="solid"/>
          </a:ln>
        </p:spPr>
        <p:txBody>
          <a:bodyPr/>
          <a:p/>
        </p:txBody>
      </p:sp>
      <p:sp>
        <p:nvSpPr>
          <p:cNvPr id="5" name="Text 3"/>
          <p:cNvSpPr/>
          <p:nvPr/>
        </p:nvSpPr>
        <p:spPr>
          <a:xfrm>
            <a:off x="1098550" y="2195761"/>
            <a:ext cx="4722241"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72A"/>
                </a:solidFill>
                <a:latin typeface="IBM Plex Sans" pitchFamily="34" charset="0"/>
                <a:ea typeface="IBM Plex Sans" pitchFamily="34" charset="-122"/>
                <a:cs typeface="IBM Plex Sans" pitchFamily="34" charset="-120"/>
              </a:rPr>
              <a:t>Learnings</a:t>
            </a:r>
            <a:endParaRPr lang="en-US" sz="2000" dirty="0">
              <a:latin typeface="IBM Plex Sans" charset="0"/>
              <a:ea typeface="IBM Plex Sans" charset="0"/>
              <a:cs typeface="IBM Plex Sans" charset="0"/>
            </a:endParaRPr>
          </a:p>
        </p:txBody>
      </p:sp>
      <p:sp>
        <p:nvSpPr>
          <p:cNvPr id="6" name="Text 4"/>
          <p:cNvSpPr/>
          <p:nvPr/>
        </p:nvSpPr>
        <p:spPr>
          <a:xfrm>
            <a:off x="1176782" y="2627561"/>
            <a:ext cx="4636389" cy="1625600"/>
          </a:xfrm>
          <a:prstGeom prst="rect">
            <a:avLst/>
          </a:prstGeom>
          <a:noFill/>
          <a:ln/>
        </p:spPr>
        <p:txBody>
          <a:bodyPr wrap="square" lIns="0" tIns="0" rIns="0" bIns="0" rtlCol="0" anchor="t">
            <a:normAutofit/>
          </a:bodyPr>
          <a:lstStyle/>
          <a:p>
            <a:pPr algn="l" marL="175768" indent="-175768">
              <a:lnSpc>
                <a:spcPts val="2100"/>
              </a:lnSpc>
              <a:buSzPct val="100000"/>
              <a:buChar char="•"/>
            </a:pPr>
            <a:r>
              <a:rPr lang="en-US" sz="1400" dirty="0">
                <a:solidFill>
                  <a:srgbClr val="4A5468"/>
                </a:solidFill>
                <a:latin typeface="IBM Plex Sans" pitchFamily="34" charset="0"/>
                <a:ea typeface="IBM Plex Sans" pitchFamily="34" charset="-122"/>
                <a:cs typeface="IBM Plex Sans" pitchFamily="34" charset="-120"/>
              </a:rPr>
              <a:t>Each cloud exposes cost differently; a unified contract hides it</a:t>
            </a:r>
            <a:endParaRPr lang="en-US" sz="1400" dirty="0">
              <a:latin typeface="IBM Plex Sans" charset="0"/>
              <a:ea typeface="IBM Plex Sans" charset="0"/>
              <a:cs typeface="IBM Plex Sans" charset="0"/>
            </a:endParaRPr>
          </a:p>
          <a:p>
            <a:pPr algn="l" marL="175768" indent="-175768">
              <a:lnSpc>
                <a:spcPts val="2100"/>
              </a:lnSpc>
              <a:buSzPct val="100000"/>
              <a:buChar char="•"/>
            </a:pPr>
            <a:r>
              <a:rPr lang="en-US" sz="1400" dirty="0">
                <a:solidFill>
                  <a:srgbClr val="4A5468"/>
                </a:solidFill>
                <a:latin typeface="IBM Plex Sans" pitchFamily="34" charset="0"/>
                <a:ea typeface="IBM Plex Sans" pitchFamily="34" charset="-122"/>
                <a:cs typeface="IBM Plex Sans" pitchFamily="34" charset="-120"/>
              </a:rPr>
              <a:t>Idempotent upserts make scheduled jobs safe to re-run</a:t>
            </a:r>
            <a:endParaRPr lang="en-US" sz="1400" dirty="0">
              <a:latin typeface="IBM Plex Sans" charset="0"/>
              <a:ea typeface="IBM Plex Sans" charset="0"/>
              <a:cs typeface="IBM Plex Sans" charset="0"/>
            </a:endParaRPr>
          </a:p>
          <a:p>
            <a:pPr algn="l" marL="175768" indent="-175768">
              <a:lnSpc>
                <a:spcPts val="2100"/>
              </a:lnSpc>
              <a:buSzPct val="100000"/>
              <a:buChar char="•"/>
            </a:pPr>
            <a:r>
              <a:rPr lang="en-US" sz="1400" dirty="0">
                <a:solidFill>
                  <a:srgbClr val="4A5468"/>
                </a:solidFill>
                <a:latin typeface="IBM Plex Sans" pitchFamily="34" charset="0"/>
                <a:ea typeface="IBM Plex Sans" pitchFamily="34" charset="-122"/>
                <a:cs typeface="IBM Plex Sans" pitchFamily="34" charset="-120"/>
              </a:rPr>
              <a:t>Paid APIs need cost-aware design and call accounting</a:t>
            </a:r>
            <a:endParaRPr lang="en-US" sz="1400" dirty="0">
              <a:latin typeface="IBM Plex Sans" charset="0"/>
              <a:ea typeface="IBM Plex Sans" charset="0"/>
              <a:cs typeface="IBM Plex Sans" charset="0"/>
            </a:endParaRPr>
          </a:p>
          <a:p>
            <a:pPr algn="l" marL="175768" indent="-175768">
              <a:lnSpc>
                <a:spcPts val="2100"/>
              </a:lnSpc>
              <a:buSzPct val="100000"/>
              <a:buChar char="•"/>
            </a:pPr>
            <a:r>
              <a:rPr lang="en-US" sz="1400" dirty="0">
                <a:solidFill>
                  <a:srgbClr val="4A5468"/>
                </a:solidFill>
                <a:latin typeface="IBM Plex Sans" pitchFamily="34" charset="0"/>
                <a:ea typeface="IBM Plex Sans" pitchFamily="34" charset="-122"/>
                <a:cs typeface="IBM Plex Sans" pitchFamily="34" charset="-120"/>
              </a:rPr>
              <a:t>Keep users in the UI, keep alert delivery standard</a:t>
            </a:r>
            <a:endParaRPr lang="en-US" sz="1400" dirty="0">
              <a:latin typeface="IBM Plex Sans" charset="0"/>
              <a:ea typeface="IBM Plex Sans" charset="0"/>
              <a:cs typeface="IBM Plex Sans" charset="0"/>
            </a:endParaRPr>
          </a:p>
        </p:txBody>
      </p:sp>
      <p:sp>
        <p:nvSpPr>
          <p:cNvPr id="7" name="Shape 5"/>
          <p:cNvSpPr/>
          <p:nvPr/>
        </p:nvSpPr>
        <p:spPr>
          <a:xfrm>
            <a:off x="6226175" y="1913186"/>
            <a:ext cx="5149850" cy="2597150"/>
          </a:xfrm>
          <a:prstGeom prst="roundRect">
            <a:avLst>
              <a:gd name="adj" fmla="val 4768"/>
            </a:avLst>
          </a:prstGeom>
          <a:solidFill>
            <a:srgbClr val="FFFFFF"/>
          </a:solidFill>
          <a:ln w="6350">
            <a:solidFill>
              <a:srgbClr val="DCE2EB"/>
            </a:solidFill>
            <a:prstDash val="solid"/>
          </a:ln>
        </p:spPr>
        <p:txBody>
          <a:bodyPr/>
          <a:p/>
        </p:txBody>
      </p:sp>
      <p:sp>
        <p:nvSpPr>
          <p:cNvPr id="8" name="Text 6"/>
          <p:cNvSpPr/>
          <p:nvPr/>
        </p:nvSpPr>
        <p:spPr>
          <a:xfrm>
            <a:off x="6508750" y="2195761"/>
            <a:ext cx="4722241"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72A"/>
                </a:solidFill>
                <a:latin typeface="IBM Plex Sans" pitchFamily="34" charset="0"/>
                <a:ea typeface="IBM Plex Sans" pitchFamily="34" charset="-122"/>
                <a:cs typeface="IBM Plex Sans" pitchFamily="34" charset="-120"/>
              </a:rPr>
              <a:t>Future scope</a:t>
            </a:r>
            <a:endParaRPr lang="en-US" sz="2000" dirty="0">
              <a:latin typeface="IBM Plex Sans" charset="0"/>
              <a:ea typeface="IBM Plex Sans" charset="0"/>
              <a:cs typeface="IBM Plex Sans" charset="0"/>
            </a:endParaRPr>
          </a:p>
        </p:txBody>
      </p:sp>
      <p:sp>
        <p:nvSpPr>
          <p:cNvPr id="9" name="Text 7"/>
          <p:cNvSpPr/>
          <p:nvPr/>
        </p:nvSpPr>
        <p:spPr>
          <a:xfrm>
            <a:off x="6586982" y="2627561"/>
            <a:ext cx="4636389" cy="1092200"/>
          </a:xfrm>
          <a:prstGeom prst="rect">
            <a:avLst/>
          </a:prstGeom>
          <a:noFill/>
          <a:ln/>
        </p:spPr>
        <p:txBody>
          <a:bodyPr wrap="square" lIns="0" tIns="0" rIns="0" bIns="0" rtlCol="0" anchor="t">
            <a:normAutofit/>
          </a:bodyPr>
          <a:lstStyle/>
          <a:p>
            <a:pPr algn="l" marL="175768" indent="-175768">
              <a:lnSpc>
                <a:spcPts val="2100"/>
              </a:lnSpc>
              <a:buSzPct val="100000"/>
              <a:buChar char="•"/>
            </a:pPr>
            <a:r>
              <a:rPr lang="en-US" sz="1400" dirty="0">
                <a:solidFill>
                  <a:srgbClr val="4A5468"/>
                </a:solidFill>
                <a:latin typeface="IBM Plex Sans" pitchFamily="34" charset="0"/>
                <a:ea typeface="IBM Plex Sans" pitchFamily="34" charset="-122"/>
                <a:cs typeface="IBM Plex Sans" pitchFamily="34" charset="-120"/>
              </a:rPr>
              <a:t>Alembic migrations, HTTPS, live exchange rate</a:t>
            </a:r>
            <a:endParaRPr lang="en-US" sz="1400" dirty="0">
              <a:latin typeface="IBM Plex Sans" charset="0"/>
              <a:ea typeface="IBM Plex Sans" charset="0"/>
              <a:cs typeface="IBM Plex Sans" charset="0"/>
            </a:endParaRPr>
          </a:p>
          <a:p>
            <a:pPr algn="l" marL="175768" indent="-175768">
              <a:lnSpc>
                <a:spcPts val="2100"/>
              </a:lnSpc>
              <a:buSzPct val="100000"/>
              <a:buChar char="•"/>
            </a:pPr>
            <a:r>
              <a:rPr lang="en-US" sz="1400" dirty="0">
                <a:solidFill>
                  <a:srgbClr val="4A5468"/>
                </a:solidFill>
                <a:latin typeface="IBM Plex Sans" pitchFamily="34" charset="0"/>
                <a:ea typeface="IBM Plex Sans" pitchFamily="34" charset="-122"/>
                <a:cs typeface="IBM Plex Sans" pitchFamily="34" charset="-120"/>
              </a:rPr>
              <a:t>Separate worker; TimescaleDB for metrics</a:t>
            </a:r>
            <a:endParaRPr lang="en-US" sz="1400" dirty="0">
              <a:latin typeface="IBM Plex Sans" charset="0"/>
              <a:ea typeface="IBM Plex Sans" charset="0"/>
              <a:cs typeface="IBM Plex Sans" charset="0"/>
            </a:endParaRPr>
          </a:p>
          <a:p>
            <a:pPr algn="l" marL="175768" indent="-175768">
              <a:lnSpc>
                <a:spcPts val="2100"/>
              </a:lnSpc>
              <a:buSzPct val="100000"/>
              <a:buChar char="•"/>
            </a:pPr>
            <a:r>
              <a:rPr lang="en-US" sz="1400" dirty="0">
                <a:solidFill>
                  <a:srgbClr val="4A5468"/>
                </a:solidFill>
                <a:latin typeface="IBM Plex Sans" pitchFamily="34" charset="0"/>
                <a:ea typeface="IBM Plex Sans" pitchFamily="34" charset="-122"/>
                <a:cs typeface="IBM Plex Sans" pitchFamily="34" charset="-120"/>
              </a:rPr>
              <a:t>ML forecasting, per-service anomalies</a:t>
            </a:r>
            <a:endParaRPr lang="en-US" sz="1400" dirty="0">
              <a:latin typeface="IBM Plex Sans" charset="0"/>
              <a:ea typeface="IBM Plex Sans" charset="0"/>
              <a:cs typeface="IBM Plex Sans" charset="0"/>
            </a:endParaRPr>
          </a:p>
          <a:p>
            <a:pPr algn="l" marL="175768" indent="-175768">
              <a:lnSpc>
                <a:spcPts val="2100"/>
              </a:lnSpc>
              <a:buSzPct val="100000"/>
              <a:buChar char="•"/>
            </a:pPr>
            <a:r>
              <a:rPr lang="en-US" sz="1400" dirty="0">
                <a:solidFill>
                  <a:srgbClr val="4A5468"/>
                </a:solidFill>
                <a:latin typeface="IBM Plex Sans" pitchFamily="34" charset="0"/>
                <a:ea typeface="IBM Plex Sans" pitchFamily="34" charset="-122"/>
                <a:cs typeface="IBM Plex Sans" pitchFamily="34" charset="-120"/>
              </a:rPr>
              <a:t>SSO, audit log, scheduled email reports</a:t>
            </a:r>
            <a:endParaRPr lang="en-US" sz="1400" dirty="0">
              <a:latin typeface="IBM Plex Sans" charset="0"/>
              <a:ea typeface="IBM Plex Sans" charset="0"/>
              <a:cs typeface="IBM Plex Sans" charset="0"/>
            </a:endParaRPr>
          </a:p>
        </p:txBody>
      </p:sp>
      <p:sp>
        <p:nvSpPr>
          <p:cNvPr id="10" name="Text 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468"/>
                </a:solidFill>
                <a:latin typeface="IBM Plex Sans" pitchFamily="34" charset="0"/>
                <a:ea typeface="IBM Plex Sans" pitchFamily="34" charset="-122"/>
                <a:cs typeface="IBM Plex Sans" pitchFamily="34" charset="-120"/>
              </a:rPr>
              <a:t>CloudLens · Capstone viva · 17</a:t>
            </a:r>
            <a:endParaRPr lang="en-US" sz="1200" dirty="0">
              <a:latin typeface="IBM Plex Sans" charset="0"/>
              <a:ea typeface="IBM Plex Sans" charset="0"/>
              <a:cs typeface="IBM Plex Sans" charset="0"/>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0B1220"/>
        </a:solidFill>
      </p:bgPr>
    </p:bg>
    <p:spTree>
      <p:nvGrpSpPr>
        <p:cNvPr id="1" name=""/>
        <p:cNvGrpSpPr/>
        <p:nvPr/>
      </p:nvGrpSpPr>
      <p:grpSpPr>
        <a:xfrm>
          <a:off x="0" y="0"/>
          <a:ext cx="0" cy="0"/>
          <a:chOff x="0" y="0"/>
          <a:chExt cx="0" cy="0"/>
        </a:xfrm>
      </p:grpSpPr>
      <p:sp>
        <p:nvSpPr>
          <p:cNvPr id="2" name="Text 0"/>
          <p:cNvSpPr/>
          <p:nvPr>
            <p:ph type="title"/>
          </p:nvPr>
        </p:nvSpPr>
        <p:spPr>
          <a:xfrm>
            <a:off x="812800" y="2338685"/>
            <a:ext cx="10883392" cy="977900"/>
          </a:xfrm>
          <a:prstGeom prst="rect">
            <a:avLst/>
          </a:prstGeom>
          <a:noFill/>
          <a:ln/>
        </p:spPr>
        <p:txBody>
          <a:bodyPr wrap="square" lIns="0" tIns="0" rIns="0" bIns="0" rtlCol="0" anchor="t">
            <a:normAutofit/>
          </a:bodyPr>
          <a:lstStyle/>
          <a:p>
            <a:pPr algn="l" indent="0" marL="0">
              <a:lnSpc>
                <a:spcPts val="7500"/>
              </a:lnSpc>
              <a:buNone/>
            </a:pPr>
            <a:r>
              <a:rPr lang="en-US" sz="7500" b="1" i="0" spc="-150" kern="0" dirty="0">
                <a:solidFill>
                  <a:srgbClr val="E8ECF4"/>
                </a:solidFill>
                <a:latin typeface="IBM Plex Sans" pitchFamily="34" charset="0"/>
                <a:ea typeface="IBM Plex Sans" pitchFamily="34" charset="-122"/>
                <a:cs typeface="IBM Plex Sans" pitchFamily="34" charset="-120"/>
              </a:rPr>
              <a:t>Thank you</a:t>
            </a:r>
            <a:endParaRPr lang="en-US" sz="7500" dirty="0">
              <a:latin typeface="IBM Plex Sans" charset="0"/>
              <a:ea typeface="IBM Plex Sans" charset="0"/>
              <a:cs typeface="IBM Plex Sans" charset="0"/>
            </a:endParaRPr>
          </a:p>
        </p:txBody>
      </p:sp>
      <p:sp>
        <p:nvSpPr>
          <p:cNvPr id="3" name="Text 1"/>
          <p:cNvSpPr/>
          <p:nvPr/>
        </p:nvSpPr>
        <p:spPr>
          <a:xfrm>
            <a:off x="812800" y="3519785"/>
            <a:ext cx="10883392" cy="438150"/>
          </a:xfrm>
          <a:prstGeom prst="rect">
            <a:avLst/>
          </a:prstGeom>
          <a:noFill/>
          <a:ln/>
        </p:spPr>
        <p:txBody>
          <a:bodyPr wrap="square" lIns="0" tIns="0" rIns="0" bIns="0" rtlCol="0" anchor="t">
            <a:normAutofit/>
          </a:bodyPr>
          <a:lstStyle/>
          <a:p>
            <a:pPr algn="l" indent="0" marL="0">
              <a:lnSpc>
                <a:spcPts val="3250"/>
              </a:lnSpc>
              <a:buNone/>
            </a:pPr>
            <a:r>
              <a:rPr lang="en-US" sz="2600" dirty="0">
                <a:solidFill>
                  <a:srgbClr val="C9D3E3"/>
                </a:solidFill>
                <a:latin typeface="IBM Plex Sans" pitchFamily="34" charset="0"/>
                <a:ea typeface="IBM Plex Sans" pitchFamily="34" charset="-122"/>
                <a:cs typeface="IBM Plex Sans" pitchFamily="34" charset="-120"/>
              </a:rPr>
              <a:t>Questions?</a:t>
            </a:r>
            <a:endParaRPr lang="en-US" sz="2600" dirty="0">
              <a:latin typeface="IBM Plex Sans" charset="0"/>
              <a:ea typeface="IBM Plex Sans" charset="0"/>
              <a:cs typeface="IBM Plex Sans" charset="0"/>
            </a:endParaRPr>
          </a:p>
        </p:txBody>
      </p:sp>
      <p:sp>
        <p:nvSpPr>
          <p:cNvPr id="4" name="Text 2"/>
          <p:cNvSpPr/>
          <p:nvPr/>
        </p:nvSpPr>
        <p:spPr>
          <a:xfrm>
            <a:off x="812800" y="4161135"/>
            <a:ext cx="5034211" cy="358130"/>
          </a:xfrm>
          <a:prstGeom prst="roundRect">
            <a:avLst>
              <a:gd name="adj" fmla="val 21277"/>
            </a:avLst>
          </a:prstGeom>
          <a:solidFill>
            <a:srgbClr val="1A2335"/>
          </a:solidFill>
          <a:ln/>
        </p:spPr>
        <p:txBody>
          <a:bodyPr wrap="none" lIns="0" tIns="0" rIns="0" bIns="0" rtlCol="0" anchor="ctr">
            <a:normAutofit/>
          </a:bodyPr>
          <a:lstStyle/>
          <a:p>
            <a:pPr algn="ctr" indent="0" marL="0">
              <a:lnSpc>
                <a:spcPts val="1820"/>
              </a:lnSpc>
              <a:buNone/>
            </a:pPr>
            <a:r>
              <a:rPr lang="en-US" sz="1300" dirty="0">
                <a:solidFill>
                  <a:srgbClr val="C9D3E3"/>
                </a:solidFill>
                <a:latin typeface="JetBrains Mono" pitchFamily="49" charset="0"/>
                <a:ea typeface="JetBrains Mono" pitchFamily="49" charset="-122"/>
                <a:cs typeface="JetBrains Mono" pitchFamily="49" charset="-120"/>
              </a:rPr>
              <a:t>docs/ · report · 15 module docs · 10 screen docs</a:t>
            </a:r>
            <a:endParaRPr lang="en-US" sz="1300" dirty="0">
              <a:latin typeface="JetBrains Mono" charset="0"/>
              <a:ea typeface="JetBrains Mono" charset="0"/>
              <a:cs typeface="JetBrains Mono" charset="0"/>
            </a:endParaRPr>
          </a:p>
        </p:txBody>
      </p:sp>
      <p:sp>
        <p:nvSpPr>
          <p:cNvPr id="5" name="Text 3"/>
          <p:cNvSpPr/>
          <p:nvPr/>
        </p:nvSpPr>
        <p:spPr>
          <a:xfrm>
            <a:off x="5948611" y="4161135"/>
            <a:ext cx="2854970" cy="358130"/>
          </a:xfrm>
          <a:prstGeom prst="roundRect">
            <a:avLst>
              <a:gd name="adj" fmla="val 21277"/>
            </a:avLst>
          </a:prstGeom>
          <a:solidFill>
            <a:srgbClr val="1A2335"/>
          </a:solidFill>
          <a:ln/>
        </p:spPr>
        <p:txBody>
          <a:bodyPr wrap="none" lIns="0" tIns="0" rIns="0" bIns="0" rtlCol="0" anchor="ctr">
            <a:normAutofit/>
          </a:bodyPr>
          <a:lstStyle/>
          <a:p>
            <a:pPr algn="ctr" indent="0" marL="0">
              <a:lnSpc>
                <a:spcPts val="1820"/>
              </a:lnSpc>
              <a:buNone/>
            </a:pPr>
            <a:r>
              <a:rPr lang="en-US" sz="1300" dirty="0">
                <a:solidFill>
                  <a:srgbClr val="C9D3E3"/>
                </a:solidFill>
                <a:latin typeface="JetBrains Mono" pitchFamily="49" charset="0"/>
                <a:ea typeface="JetBrains Mono" pitchFamily="49" charset="-122"/>
                <a:cs typeface="JetBrains Mono" pitchFamily="49" charset="-120"/>
              </a:rPr>
              <a:t>/docs → live API reference</a:t>
            </a:r>
            <a:endParaRPr lang="en-US" sz="1300" dirty="0">
              <a:latin typeface="JetBrains Mono" charset="0"/>
              <a:ea typeface="JetBrains Mono" charset="0"/>
              <a:cs typeface="JetBrains Mono" charset="0"/>
            </a:endParaRPr>
          </a:p>
        </p:txBody>
      </p:sp>
      <p:sp>
        <p:nvSpPr>
          <p:cNvPr id="6" name="Text 4"/>
          <p:cNvSpPr/>
          <p:nvPr/>
        </p:nvSpPr>
        <p:spPr>
          <a:xfrm>
            <a:off x="812800" y="622047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A9B4C8"/>
                </a:solidFill>
                <a:latin typeface="IBM Plex Sans" pitchFamily="34" charset="0"/>
                <a:ea typeface="IBM Plex Sans" pitchFamily="34" charset="-122"/>
                <a:cs typeface="IBM Plex Sans" pitchFamily="34" charset="-120"/>
              </a:rPr>
              <a:t>[Student name] · [Roll no.] · [Institute]</a:t>
            </a:r>
            <a:endParaRPr lang="en-US" sz="1300" dirty="0">
              <a:latin typeface="IBM Plex Sans" charset="0"/>
              <a:ea typeface="IBM Plex Sans" charset="0"/>
              <a:cs typeface="IBM Plex Sans" charset="0"/>
            </a:endParaRPr>
          </a:p>
        </p:txBody>
      </p:sp>
    </p:spTree>
  </p:cSld>
  <p:clrMapOvr>
    <a:masterClrMapping/>
  </p:clrMapOvr>
</p:sld>
</file>

<file path=ppt/theme/theme1.xml><?xml version="1.0" encoding="utf-8"?>
<a:theme xmlns:a="http://schemas.openxmlformats.org/drawingml/2006/main" name="CloudLens: DevOps Dashboard for Resource and Cost Monitoring">
  <a:themeElements>
    <a:clrScheme name="CloudLens: DevOps Dashboard for Resource and Cost Monitoring">
      <a:dk1>
        <a:srgbClr val="0F172A"/>
      </a:dk1>
      <a:lt1>
        <a:srgbClr val="F4F6FA"/>
      </a:lt1>
      <a:dk2>
        <a:srgbClr val="484F5E"/>
      </a:dk2>
      <a:lt2>
        <a:srgbClr val="DDE0E5"/>
      </a:lt2>
      <a:accent1>
        <a:srgbClr val="1D5FD6"/>
      </a:accent1>
      <a:accent2>
        <a:srgbClr val="5B9BFF"/>
      </a:accent2>
      <a:accent3>
        <a:srgbClr val="174CAE"/>
      </a:accent3>
      <a:accent4>
        <a:srgbClr val="34D399"/>
      </a:accent4>
      <a:accent5>
        <a:srgbClr val="F5A524"/>
      </a:accent5>
      <a:accent6>
        <a:srgbClr val="7DB2FF"/>
      </a:accent6>
      <a:hlink>
        <a:srgbClr val="0563C1"/>
      </a:hlink>
      <a:folHlink>
        <a:srgbClr val="954F72"/>
      </a:folHlink>
    </a:clrScheme>
    <a:fontScheme name="CloudLens: DevOps Dashboard for Resource and Cost Monitoring">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CloudLens: DevOps Dashboard for Resource and Cost Monitoring</dc:title>
  <dc:subject/>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JetBrains Mono
Copyright 2020 The JetBrains Mono Project Authors (https://github.com/JetBrains/JetBrainsMono)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dc:creator/>
  <cp:lastModifiedBy/>
  <cp:revision>1</cp:revision>
  <dcterms:created xsi:type="dcterms:W3CDTF">2026-10-31T11:37:01Z</dcterms:created>
  <dcterms:modified xsi:type="dcterms:W3CDTF">2026-10-31T11:37:01Z</dcterms:modified>
</cp:coreProperties>
</file>